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Cambria Bold" charset="1" panose="02040803050406030204"/>
      <p:regular r:id="rId19"/>
    </p:embeddedFont>
    <p:embeddedFont>
      <p:font typeface="Calibri (MS) Italics" charset="1" panose="020F05020202040A0204"/>
      <p:regular r:id="rId20"/>
    </p:embeddedFont>
    <p:embeddedFont>
      <p:font typeface="Calibri (MS)" charset="1" panose="020F0502020204030204"/>
      <p:regular r:id="rId21"/>
    </p:embeddedFont>
    <p:embeddedFont>
      <p:font typeface="Calibri (MS) Bold" charset="1" panose="020F0702030404030204"/>
      <p:regular r:id="rId22"/>
    </p:embeddedFont>
    <p:embeddedFont>
      <p:font typeface="Calibri (MS) Bold Italics" charset="1" panose="020F07020304040A0204"/>
      <p:regular r:id="rId23"/>
    </p:embeddedFont>
    <p:embeddedFont>
      <p:font typeface="Fira Sans Bold" charset="1" panose="020B08030500000200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2540"/>
        </a:solidFill>
      </p:bgPr>
    </p:bg>
    <p:spTree>
      <p:nvGrpSpPr>
        <p:cNvPr id="1" name=""/>
        <p:cNvGrpSpPr/>
        <p:nvPr/>
      </p:nvGrpSpPr>
      <p:grpSpPr>
        <a:xfrm>
          <a:off x="0" y="0"/>
          <a:ext cx="0" cy="0"/>
          <a:chOff x="0" y="0"/>
          <a:chExt cx="0" cy="0"/>
        </a:xfrm>
      </p:grpSpPr>
      <p:grpSp>
        <p:nvGrpSpPr>
          <p:cNvPr name="Group 2" id="2"/>
          <p:cNvGrpSpPr/>
          <p:nvPr/>
        </p:nvGrpSpPr>
        <p:grpSpPr>
          <a:xfrm rot="0">
            <a:off x="0" y="0"/>
            <a:ext cx="6309360" cy="10287000"/>
            <a:chOff x="0" y="0"/>
            <a:chExt cx="8412480" cy="13716000"/>
          </a:xfrm>
        </p:grpSpPr>
        <p:sp>
          <p:nvSpPr>
            <p:cNvPr name="Freeform 3" id="3"/>
            <p:cNvSpPr/>
            <p:nvPr/>
          </p:nvSpPr>
          <p:spPr>
            <a:xfrm flipH="false" flipV="false" rot="0">
              <a:off x="0" y="0"/>
              <a:ext cx="8412480" cy="13716000"/>
            </a:xfrm>
            <a:custGeom>
              <a:avLst/>
              <a:gdLst/>
              <a:ahLst/>
              <a:cxnLst/>
              <a:rect r="r" b="b" t="t" l="l"/>
              <a:pathLst>
                <a:path h="13716000" w="8412480">
                  <a:moveTo>
                    <a:pt x="0" y="0"/>
                  </a:moveTo>
                  <a:lnTo>
                    <a:pt x="8412480" y="0"/>
                  </a:lnTo>
                  <a:lnTo>
                    <a:pt x="8412480" y="13716000"/>
                  </a:lnTo>
                  <a:lnTo>
                    <a:pt x="0" y="13716000"/>
                  </a:lnTo>
                  <a:close/>
                </a:path>
              </a:pathLst>
            </a:custGeom>
            <a:solidFill>
              <a:srgbClr val="004C8F"/>
            </a:solidFill>
          </p:spPr>
        </p:sp>
      </p:grpSp>
      <p:grpSp>
        <p:nvGrpSpPr>
          <p:cNvPr name="Group 4" id="4"/>
          <p:cNvGrpSpPr/>
          <p:nvPr/>
        </p:nvGrpSpPr>
        <p:grpSpPr>
          <a:xfrm rot="0">
            <a:off x="-2057400" y="5897880"/>
            <a:ext cx="6309360" cy="6309360"/>
            <a:chOff x="0" y="0"/>
            <a:chExt cx="8412480" cy="8412480"/>
          </a:xfrm>
        </p:grpSpPr>
        <p:sp>
          <p:nvSpPr>
            <p:cNvPr name="Freeform 5" id="5"/>
            <p:cNvSpPr/>
            <p:nvPr/>
          </p:nvSpPr>
          <p:spPr>
            <a:xfrm flipH="false" flipV="false" rot="0">
              <a:off x="0" y="0"/>
              <a:ext cx="8412480" cy="8412480"/>
            </a:xfrm>
            <a:custGeom>
              <a:avLst/>
              <a:gdLst/>
              <a:ahLst/>
              <a:cxnLst/>
              <a:rect r="r" b="b" t="t" l="l"/>
              <a:pathLst>
                <a:path h="8412480" w="8412480">
                  <a:moveTo>
                    <a:pt x="0" y="4206240"/>
                  </a:moveTo>
                  <a:cubicBezTo>
                    <a:pt x="0" y="1883156"/>
                    <a:pt x="1883156" y="0"/>
                    <a:pt x="4206240" y="0"/>
                  </a:cubicBezTo>
                  <a:cubicBezTo>
                    <a:pt x="6529325" y="0"/>
                    <a:pt x="8412480" y="1883156"/>
                    <a:pt x="8412480" y="4206240"/>
                  </a:cubicBezTo>
                  <a:cubicBezTo>
                    <a:pt x="8412480" y="6529325"/>
                    <a:pt x="6529324" y="8412480"/>
                    <a:pt x="4206240" y="8412480"/>
                  </a:cubicBezTo>
                  <a:cubicBezTo>
                    <a:pt x="1883156" y="8412480"/>
                    <a:pt x="0" y="6529324"/>
                    <a:pt x="0" y="4206240"/>
                  </a:cubicBezTo>
                  <a:close/>
                </a:path>
              </a:pathLst>
            </a:custGeom>
            <a:solidFill>
              <a:srgbClr val="0A2540">
                <a:alpha val="20000"/>
              </a:srgbClr>
            </a:solidFill>
          </p:spPr>
        </p:sp>
      </p:grpSp>
      <p:grpSp>
        <p:nvGrpSpPr>
          <p:cNvPr name="Group 6" id="6"/>
          <p:cNvGrpSpPr/>
          <p:nvPr/>
        </p:nvGrpSpPr>
        <p:grpSpPr>
          <a:xfrm rot="0">
            <a:off x="2880360" y="-2057400"/>
            <a:ext cx="4389120" cy="4389120"/>
            <a:chOff x="0" y="0"/>
            <a:chExt cx="5852160" cy="5852160"/>
          </a:xfrm>
        </p:grpSpPr>
        <p:sp>
          <p:nvSpPr>
            <p:cNvPr name="Freeform 7" id="7"/>
            <p:cNvSpPr/>
            <p:nvPr/>
          </p:nvSpPr>
          <p:spPr>
            <a:xfrm flipH="false" flipV="false" rot="0">
              <a:off x="0" y="0"/>
              <a:ext cx="5852160" cy="5852160"/>
            </a:xfrm>
            <a:custGeom>
              <a:avLst/>
              <a:gdLst/>
              <a:ahLst/>
              <a:cxnLst/>
              <a:rect r="r" b="b" t="t" l="l"/>
              <a:pathLst>
                <a:path h="5852160" w="5852160">
                  <a:moveTo>
                    <a:pt x="0" y="2926080"/>
                  </a:moveTo>
                  <a:cubicBezTo>
                    <a:pt x="0" y="1310005"/>
                    <a:pt x="1310005" y="0"/>
                    <a:pt x="2926080" y="0"/>
                  </a:cubicBezTo>
                  <a:cubicBezTo>
                    <a:pt x="4542155" y="0"/>
                    <a:pt x="5852160" y="1310005"/>
                    <a:pt x="5852160" y="2926080"/>
                  </a:cubicBezTo>
                  <a:cubicBezTo>
                    <a:pt x="5852160" y="4542155"/>
                    <a:pt x="4542155" y="5852160"/>
                    <a:pt x="2926080" y="5852160"/>
                  </a:cubicBezTo>
                  <a:cubicBezTo>
                    <a:pt x="1310005" y="5852160"/>
                    <a:pt x="0" y="4542155"/>
                    <a:pt x="0" y="2926080"/>
                  </a:cubicBezTo>
                  <a:close/>
                </a:path>
              </a:pathLst>
            </a:custGeom>
            <a:solidFill>
              <a:srgbClr val="FFFFFF">
                <a:alpha val="1176"/>
              </a:srgbClr>
            </a:solidFill>
          </p:spPr>
        </p:sp>
      </p:grpSp>
      <p:grpSp>
        <p:nvGrpSpPr>
          <p:cNvPr name="Group 8" id="8"/>
          <p:cNvGrpSpPr/>
          <p:nvPr/>
        </p:nvGrpSpPr>
        <p:grpSpPr>
          <a:xfrm rot="0">
            <a:off x="960120" y="4114800"/>
            <a:ext cx="4663440" cy="2743200"/>
            <a:chOff x="0" y="0"/>
            <a:chExt cx="6217920" cy="3657600"/>
          </a:xfrm>
        </p:grpSpPr>
        <p:sp>
          <p:nvSpPr>
            <p:cNvPr name="Freeform 9" id="9"/>
            <p:cNvSpPr/>
            <p:nvPr/>
          </p:nvSpPr>
          <p:spPr>
            <a:xfrm flipH="false" flipV="false" rot="0">
              <a:off x="0" y="0"/>
              <a:ext cx="6217920" cy="3657600"/>
            </a:xfrm>
            <a:custGeom>
              <a:avLst/>
              <a:gdLst/>
              <a:ahLst/>
              <a:cxnLst/>
              <a:rect r="r" b="b" t="t" l="l"/>
              <a:pathLst>
                <a:path h="3657600" w="6217920">
                  <a:moveTo>
                    <a:pt x="0" y="0"/>
                  </a:moveTo>
                  <a:lnTo>
                    <a:pt x="6217920" y="0"/>
                  </a:lnTo>
                  <a:lnTo>
                    <a:pt x="6217920" y="3657600"/>
                  </a:lnTo>
                  <a:lnTo>
                    <a:pt x="0" y="3657600"/>
                  </a:lnTo>
                  <a:close/>
                </a:path>
              </a:pathLst>
            </a:custGeom>
            <a:blipFill>
              <a:blip r:embed="rId2">
                <a:alphaModFix amt="0"/>
              </a:blip>
              <a:stretch>
                <a:fillRect l="-25472" t="0" r="-25472" b="0"/>
              </a:stretch>
            </a:blipFill>
          </p:spPr>
        </p:sp>
        <p:sp>
          <p:nvSpPr>
            <p:cNvPr name="TextBox 10" id="10"/>
            <p:cNvSpPr txBox="true"/>
            <p:nvPr/>
          </p:nvSpPr>
          <p:spPr>
            <a:xfrm>
              <a:off x="0" y="19050"/>
              <a:ext cx="6217920" cy="3638550"/>
            </a:xfrm>
            <a:prstGeom prst="rect">
              <a:avLst/>
            </a:prstGeom>
          </p:spPr>
          <p:txBody>
            <a:bodyPr anchor="ctr" rtlCol="false" tIns="0" lIns="0" bIns="0" rIns="0"/>
            <a:lstStyle/>
            <a:p>
              <a:pPr algn="l">
                <a:lnSpc>
                  <a:spcPts val="5099"/>
                </a:lnSpc>
              </a:pPr>
              <a:r>
                <a:rPr lang="en-US" sz="4500" b="true">
                  <a:solidFill>
                    <a:srgbClr val="FFFFFF"/>
                  </a:solidFill>
                  <a:latin typeface="Cambria Bold"/>
                  <a:ea typeface="Cambria Bold"/>
                  <a:cs typeface="Cambria Bold"/>
                  <a:sym typeface="Cambria Bold"/>
                </a:rPr>
                <a:t>Business</a:t>
              </a:r>
            </a:p>
            <a:p>
              <a:pPr algn="l">
                <a:lnSpc>
                  <a:spcPts val="5099"/>
                </a:lnSpc>
              </a:pPr>
              <a:r>
                <a:rPr lang="en-US" sz="4500" b="true">
                  <a:solidFill>
                    <a:srgbClr val="FFFFFF"/>
                  </a:solidFill>
                  <a:latin typeface="Cambria Bold"/>
                  <a:ea typeface="Cambria Bold"/>
                  <a:cs typeface="Cambria Bold"/>
                  <a:sym typeface="Cambria Bold"/>
                </a:rPr>
                <a:t>AI/ML</a:t>
              </a:r>
            </a:p>
            <a:p>
              <a:pPr algn="l">
                <a:lnSpc>
                  <a:spcPts val="5099"/>
                </a:lnSpc>
              </a:pPr>
              <a:r>
                <a:rPr lang="en-US" sz="4500" b="true">
                  <a:solidFill>
                    <a:srgbClr val="FFFFFF"/>
                  </a:solidFill>
                  <a:latin typeface="Cambria Bold"/>
                  <a:ea typeface="Cambria Bold"/>
                  <a:cs typeface="Cambria Bold"/>
                  <a:sym typeface="Cambria Bold"/>
                </a:rPr>
                <a:t>Case Study</a:t>
              </a:r>
            </a:p>
          </p:txBody>
        </p:sp>
      </p:grpSp>
      <p:grpSp>
        <p:nvGrpSpPr>
          <p:cNvPr name="Group 11" id="11"/>
          <p:cNvGrpSpPr/>
          <p:nvPr/>
        </p:nvGrpSpPr>
        <p:grpSpPr>
          <a:xfrm rot="0">
            <a:off x="7269480" y="2606040"/>
            <a:ext cx="10012680" cy="2331720"/>
            <a:chOff x="0" y="0"/>
            <a:chExt cx="13350240" cy="3108960"/>
          </a:xfrm>
        </p:grpSpPr>
        <p:sp>
          <p:nvSpPr>
            <p:cNvPr name="Freeform 12" id="12"/>
            <p:cNvSpPr/>
            <p:nvPr/>
          </p:nvSpPr>
          <p:spPr>
            <a:xfrm flipH="false" flipV="false" rot="0">
              <a:off x="0" y="0"/>
              <a:ext cx="13350239" cy="3108960"/>
            </a:xfrm>
            <a:custGeom>
              <a:avLst/>
              <a:gdLst/>
              <a:ahLst/>
              <a:cxnLst/>
              <a:rect r="r" b="b" t="t" l="l"/>
              <a:pathLst>
                <a:path h="3108960" w="13350239">
                  <a:moveTo>
                    <a:pt x="0" y="0"/>
                  </a:moveTo>
                  <a:lnTo>
                    <a:pt x="13350239" y="0"/>
                  </a:lnTo>
                  <a:lnTo>
                    <a:pt x="13350239" y="3108960"/>
                  </a:lnTo>
                  <a:lnTo>
                    <a:pt x="0" y="3108960"/>
                  </a:lnTo>
                  <a:close/>
                </a:path>
              </a:pathLst>
            </a:custGeom>
            <a:blipFill>
              <a:blip r:embed="rId2">
                <a:alphaModFix amt="0"/>
              </a:blip>
              <a:stretch>
                <a:fillRect l="0" t="-33671" r="0" b="-33671"/>
              </a:stretch>
            </a:blipFill>
          </p:spPr>
        </p:sp>
        <p:sp>
          <p:nvSpPr>
            <p:cNvPr name="TextBox 13" id="13"/>
            <p:cNvSpPr txBox="true"/>
            <p:nvPr/>
          </p:nvSpPr>
          <p:spPr>
            <a:xfrm>
              <a:off x="0" y="-19050"/>
              <a:ext cx="13350240" cy="3128010"/>
            </a:xfrm>
            <a:prstGeom prst="rect">
              <a:avLst/>
            </a:prstGeom>
          </p:spPr>
          <p:txBody>
            <a:bodyPr anchor="ctr" rtlCol="false" tIns="0" lIns="0" bIns="0" rIns="0"/>
            <a:lstStyle/>
            <a:p>
              <a:pPr algn="l">
                <a:lnSpc>
                  <a:spcPts val="6299"/>
                </a:lnSpc>
              </a:pPr>
              <a:r>
                <a:rPr lang="en-US" sz="5100" b="true">
                  <a:solidFill>
                    <a:srgbClr val="FFFFFF"/>
                  </a:solidFill>
                  <a:latin typeface="Cambria Bold"/>
                  <a:ea typeface="Cambria Bold"/>
                  <a:cs typeface="Cambria Bold"/>
                  <a:sym typeface="Cambria Bold"/>
                </a:rPr>
                <a:t>Artificial Intelligence for</a:t>
              </a:r>
            </a:p>
            <a:p>
              <a:pPr algn="l">
                <a:lnSpc>
                  <a:spcPts val="6299"/>
                </a:lnSpc>
              </a:pPr>
              <a:r>
                <a:rPr lang="en-US" sz="5100" b="true">
                  <a:solidFill>
                    <a:srgbClr val="FFFFFF"/>
                  </a:solidFill>
                  <a:latin typeface="Cambria Bold"/>
                  <a:ea typeface="Cambria Bold"/>
                  <a:cs typeface="Cambria Bold"/>
                  <a:sym typeface="Cambria Bold"/>
                </a:rPr>
                <a:t>Fraud Detection at HDFC Bank</a:t>
              </a:r>
            </a:p>
          </p:txBody>
        </p:sp>
      </p:grpSp>
      <p:grpSp>
        <p:nvGrpSpPr>
          <p:cNvPr name="Group 14" id="14"/>
          <p:cNvGrpSpPr/>
          <p:nvPr/>
        </p:nvGrpSpPr>
        <p:grpSpPr>
          <a:xfrm rot="0">
            <a:off x="7269480" y="5074920"/>
            <a:ext cx="10012680" cy="685800"/>
            <a:chOff x="0" y="0"/>
            <a:chExt cx="13350240" cy="914400"/>
          </a:xfrm>
        </p:grpSpPr>
        <p:sp>
          <p:nvSpPr>
            <p:cNvPr name="Freeform 15" id="15"/>
            <p:cNvSpPr/>
            <p:nvPr/>
          </p:nvSpPr>
          <p:spPr>
            <a:xfrm flipH="false" flipV="false" rot="0">
              <a:off x="0" y="0"/>
              <a:ext cx="13350239" cy="914400"/>
            </a:xfrm>
            <a:custGeom>
              <a:avLst/>
              <a:gdLst/>
              <a:ahLst/>
              <a:cxnLst/>
              <a:rect r="r" b="b" t="t" l="l"/>
              <a:pathLst>
                <a:path h="914400" w="13350239">
                  <a:moveTo>
                    <a:pt x="0" y="0"/>
                  </a:moveTo>
                  <a:lnTo>
                    <a:pt x="13350239" y="0"/>
                  </a:lnTo>
                  <a:lnTo>
                    <a:pt x="13350239" y="914400"/>
                  </a:lnTo>
                  <a:lnTo>
                    <a:pt x="0" y="914400"/>
                  </a:lnTo>
                  <a:close/>
                </a:path>
              </a:pathLst>
            </a:custGeom>
            <a:blipFill>
              <a:blip r:embed="rId2">
                <a:alphaModFix amt="0"/>
              </a:blip>
              <a:stretch>
                <a:fillRect l="0" t="-234481" r="0" b="-234481"/>
              </a:stretch>
            </a:blipFill>
          </p:spPr>
        </p:sp>
        <p:sp>
          <p:nvSpPr>
            <p:cNvPr name="TextBox 16" id="16"/>
            <p:cNvSpPr txBox="true"/>
            <p:nvPr/>
          </p:nvSpPr>
          <p:spPr>
            <a:xfrm>
              <a:off x="0" y="-57150"/>
              <a:ext cx="13350240" cy="971550"/>
            </a:xfrm>
            <a:prstGeom prst="rect">
              <a:avLst/>
            </a:prstGeom>
          </p:spPr>
          <p:txBody>
            <a:bodyPr anchor="ctr" rtlCol="false" tIns="0" lIns="0" bIns="0" rIns="0"/>
            <a:lstStyle/>
            <a:p>
              <a:pPr algn="l">
                <a:lnSpc>
                  <a:spcPts val="2700"/>
                </a:lnSpc>
              </a:pPr>
              <a:r>
                <a:rPr lang="en-US" sz="2250" i="true">
                  <a:solidFill>
                    <a:srgbClr val="AFC6DE"/>
                  </a:solidFill>
                  <a:latin typeface="Calibri (MS) Italics"/>
                  <a:ea typeface="Calibri (MS) Italics"/>
                  <a:cs typeface="Calibri (MS) Italics"/>
                  <a:sym typeface="Calibri (MS) Italics"/>
                </a:rPr>
                <a:t>Protecting 100+ million customers in India's digital banking economy</a:t>
              </a:r>
            </a:p>
          </p:txBody>
        </p:sp>
      </p:grpSp>
      <p:grpSp>
        <p:nvGrpSpPr>
          <p:cNvPr name="Group 17" id="17"/>
          <p:cNvGrpSpPr/>
          <p:nvPr/>
        </p:nvGrpSpPr>
        <p:grpSpPr>
          <a:xfrm rot="0">
            <a:off x="7269480" y="6103620"/>
            <a:ext cx="1234440" cy="61722"/>
            <a:chOff x="0" y="0"/>
            <a:chExt cx="1645920" cy="82296"/>
          </a:xfrm>
        </p:grpSpPr>
        <p:sp>
          <p:nvSpPr>
            <p:cNvPr name="Freeform 18" id="18"/>
            <p:cNvSpPr/>
            <p:nvPr/>
          </p:nvSpPr>
          <p:spPr>
            <a:xfrm flipH="false" flipV="false" rot="0">
              <a:off x="0" y="0"/>
              <a:ext cx="1645920" cy="82296"/>
            </a:xfrm>
            <a:custGeom>
              <a:avLst/>
              <a:gdLst/>
              <a:ahLst/>
              <a:cxnLst/>
              <a:rect r="r" b="b" t="t" l="l"/>
              <a:pathLst>
                <a:path h="82296" w="1645920">
                  <a:moveTo>
                    <a:pt x="0" y="0"/>
                  </a:moveTo>
                  <a:lnTo>
                    <a:pt x="1645920" y="0"/>
                  </a:lnTo>
                  <a:lnTo>
                    <a:pt x="1645920" y="82296"/>
                  </a:lnTo>
                  <a:lnTo>
                    <a:pt x="0" y="82296"/>
                  </a:lnTo>
                  <a:close/>
                </a:path>
              </a:pathLst>
            </a:custGeom>
            <a:solidFill>
              <a:srgbClr val="ED232A"/>
            </a:solidFill>
          </p:spPr>
        </p:sp>
      </p:grpSp>
      <p:grpSp>
        <p:nvGrpSpPr>
          <p:cNvPr name="Group 19" id="19"/>
          <p:cNvGrpSpPr/>
          <p:nvPr/>
        </p:nvGrpSpPr>
        <p:grpSpPr>
          <a:xfrm rot="0">
            <a:off x="7269480" y="6720840"/>
            <a:ext cx="10012680" cy="2194560"/>
            <a:chOff x="0" y="0"/>
            <a:chExt cx="13350240" cy="2926080"/>
          </a:xfrm>
        </p:grpSpPr>
        <p:sp>
          <p:nvSpPr>
            <p:cNvPr name="Freeform 20" id="20"/>
            <p:cNvSpPr/>
            <p:nvPr/>
          </p:nvSpPr>
          <p:spPr>
            <a:xfrm flipH="false" flipV="false" rot="0">
              <a:off x="0" y="0"/>
              <a:ext cx="13350239" cy="2926080"/>
            </a:xfrm>
            <a:custGeom>
              <a:avLst/>
              <a:gdLst/>
              <a:ahLst/>
              <a:cxnLst/>
              <a:rect r="r" b="b" t="t" l="l"/>
              <a:pathLst>
                <a:path h="2926080" w="13350239">
                  <a:moveTo>
                    <a:pt x="0" y="0"/>
                  </a:moveTo>
                  <a:lnTo>
                    <a:pt x="13350239" y="0"/>
                  </a:lnTo>
                  <a:lnTo>
                    <a:pt x="13350239" y="2926080"/>
                  </a:lnTo>
                  <a:lnTo>
                    <a:pt x="0" y="2926080"/>
                  </a:lnTo>
                  <a:close/>
                </a:path>
              </a:pathLst>
            </a:custGeom>
            <a:blipFill>
              <a:blip r:embed="rId2">
                <a:alphaModFix amt="0"/>
              </a:blip>
              <a:stretch>
                <a:fillRect l="0" t="-38900" r="0" b="-38900"/>
              </a:stretch>
            </a:blipFill>
          </p:spPr>
        </p:sp>
        <p:sp>
          <p:nvSpPr>
            <p:cNvPr name="TextBox 21" id="21"/>
            <p:cNvSpPr txBox="true"/>
            <p:nvPr/>
          </p:nvSpPr>
          <p:spPr>
            <a:xfrm>
              <a:off x="0" y="-104775"/>
              <a:ext cx="13350240" cy="3030855"/>
            </a:xfrm>
            <a:prstGeom prst="rect">
              <a:avLst/>
            </a:prstGeom>
          </p:spPr>
          <p:txBody>
            <a:bodyPr anchor="ctr" rtlCol="false" tIns="0" lIns="0" bIns="0" rIns="0"/>
            <a:lstStyle/>
            <a:p>
              <a:pPr algn="l">
                <a:lnSpc>
                  <a:spcPts val="2999"/>
                </a:lnSpc>
              </a:pPr>
              <a:r>
                <a:rPr lang="en-US" sz="1950">
                  <a:solidFill>
                    <a:srgbClr val="D5E1EE"/>
                  </a:solidFill>
                  <a:latin typeface="Calibri (MS)"/>
                  <a:ea typeface="Calibri (MS)"/>
                  <a:cs typeface="Calibri (MS)"/>
                  <a:sym typeface="Calibri (MS)"/>
                </a:rPr>
                <a:t>Course:  Introduction to Artificial Intelligence &amp; Machine Learning</a:t>
              </a:r>
            </a:p>
            <a:p>
              <a:pPr algn="l">
                <a:lnSpc>
                  <a:spcPts val="2999"/>
                </a:lnSpc>
              </a:pPr>
              <a:r>
                <a:rPr lang="en-US" sz="1950">
                  <a:solidFill>
                    <a:srgbClr val="D5E1EE"/>
                  </a:solidFill>
                  <a:latin typeface="Calibri (MS)"/>
                  <a:ea typeface="Calibri (MS)"/>
                  <a:cs typeface="Calibri (MS)"/>
                  <a:sym typeface="Calibri (MS)"/>
                </a:rPr>
                <a:t>Section:  BBA Fintech &amp;AI (i1)</a:t>
              </a:r>
            </a:p>
            <a:p>
              <a:pPr algn="l">
                <a:lnSpc>
                  <a:spcPts val="2999"/>
                </a:lnSpc>
              </a:pPr>
              <a:r>
                <a:rPr lang="en-US" sz="1950">
                  <a:solidFill>
                    <a:srgbClr val="D5E1EE"/>
                  </a:solidFill>
                  <a:latin typeface="Calibri (MS)"/>
                  <a:ea typeface="Calibri (MS)"/>
                  <a:cs typeface="Calibri (MS)"/>
                  <a:sym typeface="Calibri (MS)"/>
                </a:rPr>
                <a:t>Chitkara University, Rajpura, Punjab</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4264640" cy="822960"/>
            <a:chOff x="0" y="0"/>
            <a:chExt cx="19019520" cy="1097280"/>
          </a:xfrm>
        </p:grpSpPr>
        <p:sp>
          <p:nvSpPr>
            <p:cNvPr name="Freeform 3" id="3"/>
            <p:cNvSpPr/>
            <p:nvPr/>
          </p:nvSpPr>
          <p:spPr>
            <a:xfrm flipH="false" flipV="false" rot="0">
              <a:off x="0" y="0"/>
              <a:ext cx="19019520" cy="1097280"/>
            </a:xfrm>
            <a:custGeom>
              <a:avLst/>
              <a:gdLst/>
              <a:ahLst/>
              <a:cxnLst/>
              <a:rect r="r" b="b" t="t" l="l"/>
              <a:pathLst>
                <a:path h="1097280" w="19019520">
                  <a:moveTo>
                    <a:pt x="0" y="0"/>
                  </a:moveTo>
                  <a:lnTo>
                    <a:pt x="19019520" y="0"/>
                  </a:lnTo>
                  <a:lnTo>
                    <a:pt x="19019520" y="1097280"/>
                  </a:lnTo>
                  <a:lnTo>
                    <a:pt x="0" y="1097280"/>
                  </a:lnTo>
                  <a:close/>
                </a:path>
              </a:pathLst>
            </a:custGeom>
            <a:blipFill>
              <a:blip r:embed="rId2">
                <a:alphaModFix amt="0"/>
              </a:blip>
              <a:stretch>
                <a:fillRect l="0" t="-287740" r="0" b="-287740"/>
              </a:stretch>
            </a:blipFill>
          </p:spPr>
        </p:sp>
        <p:sp>
          <p:nvSpPr>
            <p:cNvPr name="TextBox 4" id="4"/>
            <p:cNvSpPr txBox="true"/>
            <p:nvPr/>
          </p:nvSpPr>
          <p:spPr>
            <a:xfrm>
              <a:off x="0" y="-9525"/>
              <a:ext cx="19019520" cy="1106805"/>
            </a:xfrm>
            <a:prstGeom prst="rect">
              <a:avLst/>
            </a:prstGeom>
          </p:spPr>
          <p:txBody>
            <a:bodyPr anchor="ctr" rtlCol="false" tIns="0" lIns="0" bIns="0" rIns="0"/>
            <a:lstStyle/>
            <a:p>
              <a:pPr algn="l">
                <a:lnSpc>
                  <a:spcPts val="5759"/>
                </a:lnSpc>
              </a:pPr>
              <a:r>
                <a:rPr lang="en-US" sz="4800" b="true">
                  <a:solidFill>
                    <a:srgbClr val="0A2540"/>
                  </a:solidFill>
                  <a:latin typeface="Cambria Bold"/>
                  <a:ea typeface="Cambria Bold"/>
                  <a:cs typeface="Cambria Bold"/>
                  <a:sym typeface="Cambria Bold"/>
                </a:rPr>
                <a:t>Company Overview: HDFC Bank</a:t>
              </a:r>
            </a:p>
          </p:txBody>
        </p:sp>
      </p:grpSp>
      <p:grpSp>
        <p:nvGrpSpPr>
          <p:cNvPr name="Group 5" id="5"/>
          <p:cNvGrpSpPr/>
          <p:nvPr/>
        </p:nvGrpSpPr>
        <p:grpSpPr>
          <a:xfrm rot="0">
            <a:off x="822960" y="1426464"/>
            <a:ext cx="14264640" cy="438912"/>
            <a:chOff x="0" y="0"/>
            <a:chExt cx="19019520" cy="585216"/>
          </a:xfrm>
        </p:grpSpPr>
        <p:sp>
          <p:nvSpPr>
            <p:cNvPr name="Freeform 6" id="6"/>
            <p:cNvSpPr/>
            <p:nvPr/>
          </p:nvSpPr>
          <p:spPr>
            <a:xfrm flipH="false" flipV="false" rot="0">
              <a:off x="0" y="0"/>
              <a:ext cx="19019520" cy="585216"/>
            </a:xfrm>
            <a:custGeom>
              <a:avLst/>
              <a:gdLst/>
              <a:ahLst/>
              <a:cxnLst/>
              <a:rect r="r" b="b" t="t" l="l"/>
              <a:pathLst>
                <a:path h="585216" w="19019520">
                  <a:moveTo>
                    <a:pt x="0" y="0"/>
                  </a:moveTo>
                  <a:lnTo>
                    <a:pt x="19019520" y="0"/>
                  </a:lnTo>
                  <a:lnTo>
                    <a:pt x="19019520" y="585216"/>
                  </a:lnTo>
                  <a:lnTo>
                    <a:pt x="0" y="585216"/>
                  </a:lnTo>
                  <a:close/>
                </a:path>
              </a:pathLst>
            </a:custGeom>
            <a:blipFill>
              <a:blip r:embed="rId2">
                <a:alphaModFix amt="0"/>
              </a:blip>
              <a:stretch>
                <a:fillRect l="0" t="-583263" r="0" b="-583263"/>
              </a:stretch>
            </a:blipFill>
          </p:spPr>
        </p:sp>
        <p:sp>
          <p:nvSpPr>
            <p:cNvPr name="TextBox 7" id="7"/>
            <p:cNvSpPr txBox="true"/>
            <p:nvPr/>
          </p:nvSpPr>
          <p:spPr>
            <a:xfrm>
              <a:off x="0" y="-47625"/>
              <a:ext cx="19019520" cy="632841"/>
            </a:xfrm>
            <a:prstGeom prst="rect">
              <a:avLst/>
            </a:prstGeom>
          </p:spPr>
          <p:txBody>
            <a:bodyPr anchor="ctr" rtlCol="false" tIns="0" lIns="0" bIns="0" rIns="0"/>
            <a:lstStyle/>
            <a:p>
              <a:pPr algn="l">
                <a:lnSpc>
                  <a:spcPts val="2340"/>
                </a:lnSpc>
              </a:pPr>
              <a:r>
                <a:rPr lang="en-US" sz="1950" i="true">
                  <a:solidFill>
                    <a:srgbClr val="5A6B7C"/>
                  </a:solidFill>
                  <a:latin typeface="Calibri (MS) Italics"/>
                  <a:ea typeface="Calibri (MS) Italics"/>
                  <a:cs typeface="Calibri (MS) Italics"/>
                  <a:sym typeface="Calibri (MS) Italics"/>
                </a:rPr>
                <a:t>India's largest private sector bank by assets</a:t>
              </a:r>
            </a:p>
          </p:txBody>
        </p:sp>
      </p:grpSp>
      <p:grpSp>
        <p:nvGrpSpPr>
          <p:cNvPr name="Group 8" id="8"/>
          <p:cNvGrpSpPr/>
          <p:nvPr/>
        </p:nvGrpSpPr>
        <p:grpSpPr>
          <a:xfrm rot="0">
            <a:off x="16664940" y="576072"/>
            <a:ext cx="850392" cy="850392"/>
            <a:chOff x="0" y="0"/>
            <a:chExt cx="1133856" cy="1133856"/>
          </a:xfrm>
        </p:grpSpPr>
        <p:sp>
          <p:nvSpPr>
            <p:cNvPr name="Freeform 9" id="9"/>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F1F5F9"/>
            </a:solidFill>
          </p:spPr>
        </p:sp>
      </p:grpSp>
      <p:grpSp>
        <p:nvGrpSpPr>
          <p:cNvPr name="Group 10" id="10"/>
          <p:cNvGrpSpPr/>
          <p:nvPr/>
        </p:nvGrpSpPr>
        <p:grpSpPr>
          <a:xfrm rot="0">
            <a:off x="16664940" y="576072"/>
            <a:ext cx="850392" cy="850392"/>
            <a:chOff x="0" y="0"/>
            <a:chExt cx="1133856" cy="1133856"/>
          </a:xfrm>
        </p:grpSpPr>
        <p:sp>
          <p:nvSpPr>
            <p:cNvPr name="Freeform 11" id="11"/>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2">
                <a:alphaModFix amt="0"/>
              </a:blip>
              <a:stretch>
                <a:fillRect l="-78303" t="0" r="-78303" b="0"/>
              </a:stretch>
            </a:blipFill>
          </p:spPr>
        </p:sp>
        <p:sp>
          <p:nvSpPr>
            <p:cNvPr name="TextBox 12" id="12"/>
            <p:cNvSpPr txBox="true"/>
            <p:nvPr/>
          </p:nvSpPr>
          <p:spPr>
            <a:xfrm>
              <a:off x="0" y="-9525"/>
              <a:ext cx="1133856" cy="1143381"/>
            </a:xfrm>
            <a:prstGeom prst="rect">
              <a:avLst/>
            </a:prstGeom>
          </p:spPr>
          <p:txBody>
            <a:bodyPr anchor="ctr" rtlCol="false" tIns="0" lIns="0" bIns="0" rIns="0"/>
            <a:lstStyle/>
            <a:p>
              <a:pPr algn="ctr">
                <a:lnSpc>
                  <a:spcPts val="2879"/>
                </a:lnSpc>
              </a:pPr>
              <a:r>
                <a:rPr lang="en-US" sz="2400" b="true">
                  <a:solidFill>
                    <a:srgbClr val="004C8F"/>
                  </a:solidFill>
                  <a:latin typeface="Cambria Bold"/>
                  <a:ea typeface="Cambria Bold"/>
                  <a:cs typeface="Cambria Bold"/>
                  <a:sym typeface="Cambria Bold"/>
                </a:rPr>
                <a:t>2</a:t>
              </a:r>
            </a:p>
          </p:txBody>
        </p:sp>
      </p:grpSp>
      <p:grpSp>
        <p:nvGrpSpPr>
          <p:cNvPr name="Group 13" id="13"/>
          <p:cNvGrpSpPr/>
          <p:nvPr/>
        </p:nvGrpSpPr>
        <p:grpSpPr>
          <a:xfrm rot="0">
            <a:off x="813435" y="2253615"/>
            <a:ext cx="3928110" cy="2076450"/>
            <a:chOff x="0" y="0"/>
            <a:chExt cx="5237480" cy="2768600"/>
          </a:xfrm>
        </p:grpSpPr>
        <p:sp>
          <p:nvSpPr>
            <p:cNvPr name="Freeform 14" id="14"/>
            <p:cNvSpPr/>
            <p:nvPr/>
          </p:nvSpPr>
          <p:spPr>
            <a:xfrm flipH="false" flipV="false" rot="0">
              <a:off x="0" y="0"/>
              <a:ext cx="5237480" cy="2768600"/>
            </a:xfrm>
            <a:custGeom>
              <a:avLst/>
              <a:gdLst/>
              <a:ahLst/>
              <a:cxnLst/>
              <a:rect r="r" b="b" t="t" l="l"/>
              <a:pathLst>
                <a:path h="2768600" w="5237480">
                  <a:moveTo>
                    <a:pt x="0" y="147701"/>
                  </a:moveTo>
                  <a:cubicBezTo>
                    <a:pt x="0" y="66167"/>
                    <a:pt x="66167" y="0"/>
                    <a:pt x="147701" y="0"/>
                  </a:cubicBezTo>
                  <a:lnTo>
                    <a:pt x="5089779" y="0"/>
                  </a:lnTo>
                  <a:cubicBezTo>
                    <a:pt x="5171313" y="0"/>
                    <a:pt x="5237480" y="66167"/>
                    <a:pt x="5237480" y="147701"/>
                  </a:cubicBezTo>
                  <a:lnTo>
                    <a:pt x="5237480" y="2620899"/>
                  </a:lnTo>
                  <a:cubicBezTo>
                    <a:pt x="5237480" y="2702433"/>
                    <a:pt x="5171313" y="2768600"/>
                    <a:pt x="5089779" y="2768600"/>
                  </a:cubicBezTo>
                  <a:lnTo>
                    <a:pt x="147701" y="2768600"/>
                  </a:lnTo>
                  <a:cubicBezTo>
                    <a:pt x="66167" y="2768600"/>
                    <a:pt x="0" y="2702433"/>
                    <a:pt x="0" y="2620899"/>
                  </a:cubicBezTo>
                  <a:close/>
                </a:path>
              </a:pathLst>
            </a:custGeom>
            <a:solidFill>
              <a:srgbClr val="F1F5F9"/>
            </a:solidFill>
            <a:ln w="19050" cap="sq">
              <a:solidFill>
                <a:srgbClr val="F1F5F9"/>
              </a:solidFill>
              <a:prstDash val="solid"/>
              <a:miter/>
            </a:ln>
          </p:spPr>
        </p:sp>
      </p:grpSp>
      <p:grpSp>
        <p:nvGrpSpPr>
          <p:cNvPr name="Group 15" id="15"/>
          <p:cNvGrpSpPr/>
          <p:nvPr/>
        </p:nvGrpSpPr>
        <p:grpSpPr>
          <a:xfrm rot="0">
            <a:off x="1097280" y="2496312"/>
            <a:ext cx="3360420" cy="822960"/>
            <a:chOff x="0" y="0"/>
            <a:chExt cx="4480560" cy="1097280"/>
          </a:xfrm>
        </p:grpSpPr>
        <p:sp>
          <p:nvSpPr>
            <p:cNvPr name="Freeform 16" id="16"/>
            <p:cNvSpPr/>
            <p:nvPr/>
          </p:nvSpPr>
          <p:spPr>
            <a:xfrm flipH="false" flipV="false" rot="0">
              <a:off x="0" y="0"/>
              <a:ext cx="4480560" cy="1097280"/>
            </a:xfrm>
            <a:custGeom>
              <a:avLst/>
              <a:gdLst/>
              <a:ahLst/>
              <a:cxnLst/>
              <a:rect r="r" b="b" t="t" l="l"/>
              <a:pathLst>
                <a:path h="1097280" w="4480560">
                  <a:moveTo>
                    <a:pt x="0" y="0"/>
                  </a:moveTo>
                  <a:lnTo>
                    <a:pt x="4480560" y="0"/>
                  </a:lnTo>
                  <a:lnTo>
                    <a:pt x="4480560" y="1097280"/>
                  </a:lnTo>
                  <a:lnTo>
                    <a:pt x="0" y="1097280"/>
                  </a:lnTo>
                  <a:close/>
                </a:path>
              </a:pathLst>
            </a:custGeom>
            <a:blipFill>
              <a:blip r:embed="rId2">
                <a:alphaModFix amt="0"/>
              </a:blip>
              <a:stretch>
                <a:fillRect l="0" t="-29563" r="0" b="-29563"/>
              </a:stretch>
            </a:blipFill>
          </p:spPr>
        </p:sp>
        <p:sp>
          <p:nvSpPr>
            <p:cNvPr name="TextBox 17" id="17"/>
            <p:cNvSpPr txBox="true"/>
            <p:nvPr/>
          </p:nvSpPr>
          <p:spPr>
            <a:xfrm>
              <a:off x="0" y="0"/>
              <a:ext cx="4480560" cy="1097280"/>
            </a:xfrm>
            <a:prstGeom prst="rect">
              <a:avLst/>
            </a:prstGeom>
          </p:spPr>
          <p:txBody>
            <a:bodyPr anchor="ctr" rtlCol="false" tIns="0" lIns="0" bIns="0" rIns="0"/>
            <a:lstStyle/>
            <a:p>
              <a:pPr algn="l">
                <a:lnSpc>
                  <a:spcPts val="4680"/>
                </a:lnSpc>
              </a:pPr>
              <a:r>
                <a:rPr lang="en-US" sz="3900" b="true">
                  <a:solidFill>
                    <a:srgbClr val="004C8F"/>
                  </a:solidFill>
                  <a:latin typeface="Cambria Bold"/>
                  <a:ea typeface="Cambria Bold"/>
                  <a:cs typeface="Cambria Bold"/>
                  <a:sym typeface="Cambria Bold"/>
                </a:rPr>
                <a:t>100.6 mn</a:t>
              </a:r>
            </a:p>
          </p:txBody>
        </p:sp>
      </p:grpSp>
      <p:grpSp>
        <p:nvGrpSpPr>
          <p:cNvPr name="Group 18" id="18"/>
          <p:cNvGrpSpPr/>
          <p:nvPr/>
        </p:nvGrpSpPr>
        <p:grpSpPr>
          <a:xfrm rot="0">
            <a:off x="1097280" y="3374136"/>
            <a:ext cx="3360420" cy="754380"/>
            <a:chOff x="0" y="0"/>
            <a:chExt cx="4480560" cy="1005840"/>
          </a:xfrm>
        </p:grpSpPr>
        <p:sp>
          <p:nvSpPr>
            <p:cNvPr name="Freeform 19" id="19"/>
            <p:cNvSpPr/>
            <p:nvPr/>
          </p:nvSpPr>
          <p:spPr>
            <a:xfrm flipH="false" flipV="false" rot="0">
              <a:off x="0" y="0"/>
              <a:ext cx="4480560" cy="1005840"/>
            </a:xfrm>
            <a:custGeom>
              <a:avLst/>
              <a:gdLst/>
              <a:ahLst/>
              <a:cxnLst/>
              <a:rect r="r" b="b" t="t" l="l"/>
              <a:pathLst>
                <a:path h="1005840" w="4480560">
                  <a:moveTo>
                    <a:pt x="0" y="0"/>
                  </a:moveTo>
                  <a:lnTo>
                    <a:pt x="4480560" y="0"/>
                  </a:lnTo>
                  <a:lnTo>
                    <a:pt x="4480560" y="1005840"/>
                  </a:lnTo>
                  <a:lnTo>
                    <a:pt x="0" y="1005840"/>
                  </a:lnTo>
                  <a:close/>
                </a:path>
              </a:pathLst>
            </a:custGeom>
            <a:blipFill>
              <a:blip r:embed="rId2">
                <a:alphaModFix amt="0"/>
              </a:blip>
              <a:stretch>
                <a:fillRect l="0" t="-36796" r="0" b="-36796"/>
              </a:stretch>
            </a:blipFill>
          </p:spPr>
        </p:sp>
        <p:sp>
          <p:nvSpPr>
            <p:cNvPr name="TextBox 20" id="20"/>
            <p:cNvSpPr txBox="true"/>
            <p:nvPr/>
          </p:nvSpPr>
          <p:spPr>
            <a:xfrm>
              <a:off x="0" y="-38100"/>
              <a:ext cx="4480560" cy="1043940"/>
            </a:xfrm>
            <a:prstGeom prst="rect">
              <a:avLst/>
            </a:prstGeom>
          </p:spPr>
          <p:txBody>
            <a:bodyPr anchor="ctr" rtlCol="false" tIns="0" lIns="0" bIns="0" rIns="0"/>
            <a:lstStyle/>
            <a:p>
              <a:pPr algn="l">
                <a:lnSpc>
                  <a:spcPts val="2160"/>
                </a:lnSpc>
              </a:pPr>
              <a:r>
                <a:rPr lang="en-US" sz="1800">
                  <a:solidFill>
                    <a:srgbClr val="5A6B7C"/>
                  </a:solidFill>
                  <a:latin typeface="Calibri (MS)"/>
                  <a:ea typeface="Calibri (MS)"/>
                  <a:cs typeface="Calibri (MS)"/>
                  <a:sym typeface="Calibri (MS)"/>
                </a:rPr>
                <a:t>Customers served</a:t>
              </a:r>
            </a:p>
          </p:txBody>
        </p:sp>
      </p:grpSp>
      <p:grpSp>
        <p:nvGrpSpPr>
          <p:cNvPr name="Group 21" id="21"/>
          <p:cNvGrpSpPr/>
          <p:nvPr/>
        </p:nvGrpSpPr>
        <p:grpSpPr>
          <a:xfrm rot="0">
            <a:off x="5037963" y="2253615"/>
            <a:ext cx="3928110" cy="2076450"/>
            <a:chOff x="0" y="0"/>
            <a:chExt cx="5237480" cy="2768600"/>
          </a:xfrm>
        </p:grpSpPr>
        <p:sp>
          <p:nvSpPr>
            <p:cNvPr name="Freeform 22" id="22"/>
            <p:cNvSpPr/>
            <p:nvPr/>
          </p:nvSpPr>
          <p:spPr>
            <a:xfrm flipH="false" flipV="false" rot="0">
              <a:off x="0" y="0"/>
              <a:ext cx="5237480" cy="2768600"/>
            </a:xfrm>
            <a:custGeom>
              <a:avLst/>
              <a:gdLst/>
              <a:ahLst/>
              <a:cxnLst/>
              <a:rect r="r" b="b" t="t" l="l"/>
              <a:pathLst>
                <a:path h="2768600" w="5237480">
                  <a:moveTo>
                    <a:pt x="0" y="147701"/>
                  </a:moveTo>
                  <a:cubicBezTo>
                    <a:pt x="0" y="66167"/>
                    <a:pt x="66167" y="0"/>
                    <a:pt x="147701" y="0"/>
                  </a:cubicBezTo>
                  <a:lnTo>
                    <a:pt x="5089779" y="0"/>
                  </a:lnTo>
                  <a:cubicBezTo>
                    <a:pt x="5171313" y="0"/>
                    <a:pt x="5237480" y="66167"/>
                    <a:pt x="5237480" y="147701"/>
                  </a:cubicBezTo>
                  <a:lnTo>
                    <a:pt x="5237480" y="2620899"/>
                  </a:lnTo>
                  <a:cubicBezTo>
                    <a:pt x="5237480" y="2702433"/>
                    <a:pt x="5171313" y="2768600"/>
                    <a:pt x="5089779" y="2768600"/>
                  </a:cubicBezTo>
                  <a:lnTo>
                    <a:pt x="147701" y="2768600"/>
                  </a:lnTo>
                  <a:cubicBezTo>
                    <a:pt x="66167" y="2768600"/>
                    <a:pt x="0" y="2702433"/>
                    <a:pt x="0" y="2620899"/>
                  </a:cubicBezTo>
                  <a:close/>
                </a:path>
              </a:pathLst>
            </a:custGeom>
            <a:solidFill>
              <a:srgbClr val="F1F5F9"/>
            </a:solidFill>
            <a:ln w="19050" cap="sq">
              <a:solidFill>
                <a:srgbClr val="F1F5F9"/>
              </a:solidFill>
              <a:prstDash val="solid"/>
              <a:miter/>
            </a:ln>
          </p:spPr>
        </p:sp>
      </p:grpSp>
      <p:grpSp>
        <p:nvGrpSpPr>
          <p:cNvPr name="Group 23" id="23"/>
          <p:cNvGrpSpPr/>
          <p:nvPr/>
        </p:nvGrpSpPr>
        <p:grpSpPr>
          <a:xfrm rot="0">
            <a:off x="5321808" y="2496312"/>
            <a:ext cx="3360420" cy="822960"/>
            <a:chOff x="0" y="0"/>
            <a:chExt cx="4480560" cy="1097280"/>
          </a:xfrm>
        </p:grpSpPr>
        <p:sp>
          <p:nvSpPr>
            <p:cNvPr name="Freeform 24" id="24"/>
            <p:cNvSpPr/>
            <p:nvPr/>
          </p:nvSpPr>
          <p:spPr>
            <a:xfrm flipH="false" flipV="false" rot="0">
              <a:off x="0" y="0"/>
              <a:ext cx="4480560" cy="1097280"/>
            </a:xfrm>
            <a:custGeom>
              <a:avLst/>
              <a:gdLst/>
              <a:ahLst/>
              <a:cxnLst/>
              <a:rect r="r" b="b" t="t" l="l"/>
              <a:pathLst>
                <a:path h="1097280" w="4480560">
                  <a:moveTo>
                    <a:pt x="0" y="0"/>
                  </a:moveTo>
                  <a:lnTo>
                    <a:pt x="4480560" y="0"/>
                  </a:lnTo>
                  <a:lnTo>
                    <a:pt x="4480560" y="1097280"/>
                  </a:lnTo>
                  <a:lnTo>
                    <a:pt x="0" y="1097280"/>
                  </a:lnTo>
                  <a:close/>
                </a:path>
              </a:pathLst>
            </a:custGeom>
            <a:blipFill>
              <a:blip r:embed="rId2">
                <a:alphaModFix amt="0"/>
              </a:blip>
              <a:stretch>
                <a:fillRect l="0" t="-29563" r="0" b="-29563"/>
              </a:stretch>
            </a:blipFill>
          </p:spPr>
        </p:sp>
        <p:sp>
          <p:nvSpPr>
            <p:cNvPr name="TextBox 25" id="25"/>
            <p:cNvSpPr txBox="true"/>
            <p:nvPr/>
          </p:nvSpPr>
          <p:spPr>
            <a:xfrm>
              <a:off x="0" y="0"/>
              <a:ext cx="4480560" cy="1097280"/>
            </a:xfrm>
            <a:prstGeom prst="rect">
              <a:avLst/>
            </a:prstGeom>
          </p:spPr>
          <p:txBody>
            <a:bodyPr anchor="ctr" rtlCol="false" tIns="0" lIns="0" bIns="0" rIns="0"/>
            <a:lstStyle/>
            <a:p>
              <a:pPr algn="l">
                <a:lnSpc>
                  <a:spcPts val="4680"/>
                </a:lnSpc>
              </a:pPr>
              <a:r>
                <a:rPr lang="en-US" sz="3900" b="true">
                  <a:solidFill>
                    <a:srgbClr val="004C8F"/>
                  </a:solidFill>
                  <a:latin typeface="Cambria Bold"/>
                  <a:ea typeface="Cambria Bold"/>
                  <a:cs typeface="Cambria Bold"/>
                  <a:sym typeface="Cambria Bold"/>
                </a:rPr>
                <a:t>9,689</a:t>
              </a:r>
            </a:p>
          </p:txBody>
        </p:sp>
      </p:grpSp>
      <p:grpSp>
        <p:nvGrpSpPr>
          <p:cNvPr name="Group 26" id="26"/>
          <p:cNvGrpSpPr/>
          <p:nvPr/>
        </p:nvGrpSpPr>
        <p:grpSpPr>
          <a:xfrm rot="0">
            <a:off x="5321808" y="3374136"/>
            <a:ext cx="3360420" cy="754380"/>
            <a:chOff x="0" y="0"/>
            <a:chExt cx="4480560" cy="1005840"/>
          </a:xfrm>
        </p:grpSpPr>
        <p:sp>
          <p:nvSpPr>
            <p:cNvPr name="Freeform 27" id="27"/>
            <p:cNvSpPr/>
            <p:nvPr/>
          </p:nvSpPr>
          <p:spPr>
            <a:xfrm flipH="false" flipV="false" rot="0">
              <a:off x="0" y="0"/>
              <a:ext cx="4480560" cy="1005840"/>
            </a:xfrm>
            <a:custGeom>
              <a:avLst/>
              <a:gdLst/>
              <a:ahLst/>
              <a:cxnLst/>
              <a:rect r="r" b="b" t="t" l="l"/>
              <a:pathLst>
                <a:path h="1005840" w="4480560">
                  <a:moveTo>
                    <a:pt x="0" y="0"/>
                  </a:moveTo>
                  <a:lnTo>
                    <a:pt x="4480560" y="0"/>
                  </a:lnTo>
                  <a:lnTo>
                    <a:pt x="4480560" y="1005840"/>
                  </a:lnTo>
                  <a:lnTo>
                    <a:pt x="0" y="1005840"/>
                  </a:lnTo>
                  <a:close/>
                </a:path>
              </a:pathLst>
            </a:custGeom>
            <a:blipFill>
              <a:blip r:embed="rId2">
                <a:alphaModFix amt="0"/>
              </a:blip>
              <a:stretch>
                <a:fillRect l="0" t="-36796" r="0" b="-36796"/>
              </a:stretch>
            </a:blipFill>
          </p:spPr>
        </p:sp>
        <p:sp>
          <p:nvSpPr>
            <p:cNvPr name="TextBox 28" id="28"/>
            <p:cNvSpPr txBox="true"/>
            <p:nvPr/>
          </p:nvSpPr>
          <p:spPr>
            <a:xfrm>
              <a:off x="0" y="-38100"/>
              <a:ext cx="4480560" cy="1043940"/>
            </a:xfrm>
            <a:prstGeom prst="rect">
              <a:avLst/>
            </a:prstGeom>
          </p:spPr>
          <p:txBody>
            <a:bodyPr anchor="ctr" rtlCol="false" tIns="0" lIns="0" bIns="0" rIns="0"/>
            <a:lstStyle/>
            <a:p>
              <a:pPr algn="l">
                <a:lnSpc>
                  <a:spcPts val="2160"/>
                </a:lnSpc>
              </a:pPr>
              <a:r>
                <a:rPr lang="en-US" sz="1800">
                  <a:solidFill>
                    <a:srgbClr val="5A6B7C"/>
                  </a:solidFill>
                  <a:latin typeface="Calibri (MS)"/>
                  <a:ea typeface="Calibri (MS)"/>
                  <a:cs typeface="Calibri (MS)"/>
                  <a:sym typeface="Calibri (MS)"/>
                </a:rPr>
                <a:t>Branches across 4,175 cities</a:t>
              </a:r>
            </a:p>
          </p:txBody>
        </p:sp>
      </p:grpSp>
      <p:grpSp>
        <p:nvGrpSpPr>
          <p:cNvPr name="Group 29" id="29"/>
          <p:cNvGrpSpPr/>
          <p:nvPr/>
        </p:nvGrpSpPr>
        <p:grpSpPr>
          <a:xfrm rot="0">
            <a:off x="9262491" y="2253615"/>
            <a:ext cx="3928110" cy="2076450"/>
            <a:chOff x="0" y="0"/>
            <a:chExt cx="5237480" cy="2768600"/>
          </a:xfrm>
        </p:grpSpPr>
        <p:sp>
          <p:nvSpPr>
            <p:cNvPr name="Freeform 30" id="30"/>
            <p:cNvSpPr/>
            <p:nvPr/>
          </p:nvSpPr>
          <p:spPr>
            <a:xfrm flipH="false" flipV="false" rot="0">
              <a:off x="0" y="0"/>
              <a:ext cx="5237480" cy="2768600"/>
            </a:xfrm>
            <a:custGeom>
              <a:avLst/>
              <a:gdLst/>
              <a:ahLst/>
              <a:cxnLst/>
              <a:rect r="r" b="b" t="t" l="l"/>
              <a:pathLst>
                <a:path h="2768600" w="5237480">
                  <a:moveTo>
                    <a:pt x="0" y="147701"/>
                  </a:moveTo>
                  <a:cubicBezTo>
                    <a:pt x="0" y="66167"/>
                    <a:pt x="66167" y="0"/>
                    <a:pt x="147701" y="0"/>
                  </a:cubicBezTo>
                  <a:lnTo>
                    <a:pt x="5089779" y="0"/>
                  </a:lnTo>
                  <a:cubicBezTo>
                    <a:pt x="5171313" y="0"/>
                    <a:pt x="5237480" y="66167"/>
                    <a:pt x="5237480" y="147701"/>
                  </a:cubicBezTo>
                  <a:lnTo>
                    <a:pt x="5237480" y="2620899"/>
                  </a:lnTo>
                  <a:cubicBezTo>
                    <a:pt x="5237480" y="2702433"/>
                    <a:pt x="5171313" y="2768600"/>
                    <a:pt x="5089779" y="2768600"/>
                  </a:cubicBezTo>
                  <a:lnTo>
                    <a:pt x="147701" y="2768600"/>
                  </a:lnTo>
                  <a:cubicBezTo>
                    <a:pt x="66167" y="2768600"/>
                    <a:pt x="0" y="2702433"/>
                    <a:pt x="0" y="2620899"/>
                  </a:cubicBezTo>
                  <a:close/>
                </a:path>
              </a:pathLst>
            </a:custGeom>
            <a:solidFill>
              <a:srgbClr val="F1F5F9"/>
            </a:solidFill>
            <a:ln w="19050" cap="sq">
              <a:solidFill>
                <a:srgbClr val="F1F5F9"/>
              </a:solidFill>
              <a:prstDash val="solid"/>
              <a:miter/>
            </a:ln>
          </p:spPr>
        </p:sp>
      </p:grpSp>
      <p:grpSp>
        <p:nvGrpSpPr>
          <p:cNvPr name="Group 31" id="31"/>
          <p:cNvGrpSpPr/>
          <p:nvPr/>
        </p:nvGrpSpPr>
        <p:grpSpPr>
          <a:xfrm rot="0">
            <a:off x="9546336" y="2496312"/>
            <a:ext cx="3360420" cy="822960"/>
            <a:chOff x="0" y="0"/>
            <a:chExt cx="4480560" cy="1097280"/>
          </a:xfrm>
        </p:grpSpPr>
        <p:sp>
          <p:nvSpPr>
            <p:cNvPr name="Freeform 32" id="32"/>
            <p:cNvSpPr/>
            <p:nvPr/>
          </p:nvSpPr>
          <p:spPr>
            <a:xfrm flipH="false" flipV="false" rot="0">
              <a:off x="0" y="0"/>
              <a:ext cx="4480560" cy="1097280"/>
            </a:xfrm>
            <a:custGeom>
              <a:avLst/>
              <a:gdLst/>
              <a:ahLst/>
              <a:cxnLst/>
              <a:rect r="r" b="b" t="t" l="l"/>
              <a:pathLst>
                <a:path h="1097280" w="4480560">
                  <a:moveTo>
                    <a:pt x="0" y="0"/>
                  </a:moveTo>
                  <a:lnTo>
                    <a:pt x="4480560" y="0"/>
                  </a:lnTo>
                  <a:lnTo>
                    <a:pt x="4480560" y="1097280"/>
                  </a:lnTo>
                  <a:lnTo>
                    <a:pt x="0" y="1097280"/>
                  </a:lnTo>
                  <a:close/>
                </a:path>
              </a:pathLst>
            </a:custGeom>
            <a:blipFill>
              <a:blip r:embed="rId2">
                <a:alphaModFix amt="0"/>
              </a:blip>
              <a:stretch>
                <a:fillRect l="0" t="-29563" r="0" b="-29563"/>
              </a:stretch>
            </a:blipFill>
          </p:spPr>
        </p:sp>
        <p:sp>
          <p:nvSpPr>
            <p:cNvPr name="TextBox 33" id="33"/>
            <p:cNvSpPr txBox="true"/>
            <p:nvPr/>
          </p:nvSpPr>
          <p:spPr>
            <a:xfrm>
              <a:off x="0" y="0"/>
              <a:ext cx="4480560" cy="1097280"/>
            </a:xfrm>
            <a:prstGeom prst="rect">
              <a:avLst/>
            </a:prstGeom>
          </p:spPr>
          <p:txBody>
            <a:bodyPr anchor="ctr" rtlCol="false" tIns="0" lIns="0" bIns="0" rIns="0"/>
            <a:lstStyle/>
            <a:p>
              <a:pPr algn="l">
                <a:lnSpc>
                  <a:spcPts val="4680"/>
                </a:lnSpc>
              </a:pPr>
              <a:r>
                <a:rPr lang="en-US" sz="3900" b="true">
                  <a:solidFill>
                    <a:srgbClr val="004C8F"/>
                  </a:solidFill>
                  <a:latin typeface="Cambria Bold"/>
                  <a:ea typeface="Cambria Bold"/>
                  <a:cs typeface="Cambria Bold"/>
                  <a:sym typeface="Cambria Bold"/>
                </a:rPr>
                <a:t>₹31.0 tn</a:t>
              </a:r>
            </a:p>
          </p:txBody>
        </p:sp>
      </p:grpSp>
      <p:grpSp>
        <p:nvGrpSpPr>
          <p:cNvPr name="Group 34" id="34"/>
          <p:cNvGrpSpPr/>
          <p:nvPr/>
        </p:nvGrpSpPr>
        <p:grpSpPr>
          <a:xfrm rot="0">
            <a:off x="9546336" y="3374136"/>
            <a:ext cx="3360420" cy="754380"/>
            <a:chOff x="0" y="0"/>
            <a:chExt cx="4480560" cy="1005840"/>
          </a:xfrm>
        </p:grpSpPr>
        <p:sp>
          <p:nvSpPr>
            <p:cNvPr name="Freeform 35" id="35"/>
            <p:cNvSpPr/>
            <p:nvPr/>
          </p:nvSpPr>
          <p:spPr>
            <a:xfrm flipH="false" flipV="false" rot="0">
              <a:off x="0" y="0"/>
              <a:ext cx="4480560" cy="1005840"/>
            </a:xfrm>
            <a:custGeom>
              <a:avLst/>
              <a:gdLst/>
              <a:ahLst/>
              <a:cxnLst/>
              <a:rect r="r" b="b" t="t" l="l"/>
              <a:pathLst>
                <a:path h="1005840" w="4480560">
                  <a:moveTo>
                    <a:pt x="0" y="0"/>
                  </a:moveTo>
                  <a:lnTo>
                    <a:pt x="4480560" y="0"/>
                  </a:lnTo>
                  <a:lnTo>
                    <a:pt x="4480560" y="1005840"/>
                  </a:lnTo>
                  <a:lnTo>
                    <a:pt x="0" y="1005840"/>
                  </a:lnTo>
                  <a:close/>
                </a:path>
              </a:pathLst>
            </a:custGeom>
            <a:blipFill>
              <a:blip r:embed="rId2">
                <a:alphaModFix amt="0"/>
              </a:blip>
              <a:stretch>
                <a:fillRect l="0" t="-36796" r="0" b="-36796"/>
              </a:stretch>
            </a:blipFill>
          </p:spPr>
        </p:sp>
        <p:sp>
          <p:nvSpPr>
            <p:cNvPr name="TextBox 36" id="36"/>
            <p:cNvSpPr txBox="true"/>
            <p:nvPr/>
          </p:nvSpPr>
          <p:spPr>
            <a:xfrm>
              <a:off x="0" y="-38100"/>
              <a:ext cx="4480560" cy="1043940"/>
            </a:xfrm>
            <a:prstGeom prst="rect">
              <a:avLst/>
            </a:prstGeom>
          </p:spPr>
          <p:txBody>
            <a:bodyPr anchor="ctr" rtlCol="false" tIns="0" lIns="0" bIns="0" rIns="0"/>
            <a:lstStyle/>
            <a:p>
              <a:pPr algn="l">
                <a:lnSpc>
                  <a:spcPts val="2160"/>
                </a:lnSpc>
              </a:pPr>
              <a:r>
                <a:rPr lang="en-US" sz="1800">
                  <a:solidFill>
                    <a:srgbClr val="5A6B7C"/>
                  </a:solidFill>
                  <a:latin typeface="Calibri (MS)"/>
                  <a:ea typeface="Calibri (MS)"/>
                  <a:cs typeface="Calibri (MS)"/>
                  <a:sym typeface="Calibri (MS)"/>
                </a:rPr>
                <a:t>Total deposits (Mar 2026)</a:t>
              </a:r>
            </a:p>
          </p:txBody>
        </p:sp>
      </p:grpSp>
      <p:grpSp>
        <p:nvGrpSpPr>
          <p:cNvPr name="Group 37" id="37"/>
          <p:cNvGrpSpPr/>
          <p:nvPr/>
        </p:nvGrpSpPr>
        <p:grpSpPr>
          <a:xfrm rot="0">
            <a:off x="13487019" y="2253615"/>
            <a:ext cx="3928110" cy="2076450"/>
            <a:chOff x="0" y="0"/>
            <a:chExt cx="5237480" cy="2768600"/>
          </a:xfrm>
        </p:grpSpPr>
        <p:sp>
          <p:nvSpPr>
            <p:cNvPr name="Freeform 38" id="38"/>
            <p:cNvSpPr/>
            <p:nvPr/>
          </p:nvSpPr>
          <p:spPr>
            <a:xfrm flipH="false" flipV="false" rot="0">
              <a:off x="0" y="0"/>
              <a:ext cx="5237480" cy="2768600"/>
            </a:xfrm>
            <a:custGeom>
              <a:avLst/>
              <a:gdLst/>
              <a:ahLst/>
              <a:cxnLst/>
              <a:rect r="r" b="b" t="t" l="l"/>
              <a:pathLst>
                <a:path h="2768600" w="5237480">
                  <a:moveTo>
                    <a:pt x="0" y="147701"/>
                  </a:moveTo>
                  <a:cubicBezTo>
                    <a:pt x="0" y="66167"/>
                    <a:pt x="66167" y="0"/>
                    <a:pt x="147701" y="0"/>
                  </a:cubicBezTo>
                  <a:lnTo>
                    <a:pt x="5089779" y="0"/>
                  </a:lnTo>
                  <a:cubicBezTo>
                    <a:pt x="5171313" y="0"/>
                    <a:pt x="5237480" y="66167"/>
                    <a:pt x="5237480" y="147701"/>
                  </a:cubicBezTo>
                  <a:lnTo>
                    <a:pt x="5237480" y="2620899"/>
                  </a:lnTo>
                  <a:cubicBezTo>
                    <a:pt x="5237480" y="2702433"/>
                    <a:pt x="5171313" y="2768600"/>
                    <a:pt x="5089779" y="2768600"/>
                  </a:cubicBezTo>
                  <a:lnTo>
                    <a:pt x="147701" y="2768600"/>
                  </a:lnTo>
                  <a:cubicBezTo>
                    <a:pt x="66167" y="2768600"/>
                    <a:pt x="0" y="2702433"/>
                    <a:pt x="0" y="2620899"/>
                  </a:cubicBezTo>
                  <a:close/>
                </a:path>
              </a:pathLst>
            </a:custGeom>
            <a:solidFill>
              <a:srgbClr val="F1F5F9"/>
            </a:solidFill>
            <a:ln w="19050" cap="sq">
              <a:solidFill>
                <a:srgbClr val="F1F5F9"/>
              </a:solidFill>
              <a:prstDash val="solid"/>
              <a:miter/>
            </a:ln>
          </p:spPr>
        </p:sp>
      </p:grpSp>
      <p:grpSp>
        <p:nvGrpSpPr>
          <p:cNvPr name="Group 39" id="39"/>
          <p:cNvGrpSpPr/>
          <p:nvPr/>
        </p:nvGrpSpPr>
        <p:grpSpPr>
          <a:xfrm rot="0">
            <a:off x="13770864" y="2496312"/>
            <a:ext cx="3360420" cy="822960"/>
            <a:chOff x="0" y="0"/>
            <a:chExt cx="4480560" cy="1097280"/>
          </a:xfrm>
        </p:grpSpPr>
        <p:sp>
          <p:nvSpPr>
            <p:cNvPr name="Freeform 40" id="40"/>
            <p:cNvSpPr/>
            <p:nvPr/>
          </p:nvSpPr>
          <p:spPr>
            <a:xfrm flipH="false" flipV="false" rot="0">
              <a:off x="0" y="0"/>
              <a:ext cx="4480560" cy="1097280"/>
            </a:xfrm>
            <a:custGeom>
              <a:avLst/>
              <a:gdLst/>
              <a:ahLst/>
              <a:cxnLst/>
              <a:rect r="r" b="b" t="t" l="l"/>
              <a:pathLst>
                <a:path h="1097280" w="4480560">
                  <a:moveTo>
                    <a:pt x="0" y="0"/>
                  </a:moveTo>
                  <a:lnTo>
                    <a:pt x="4480560" y="0"/>
                  </a:lnTo>
                  <a:lnTo>
                    <a:pt x="4480560" y="1097280"/>
                  </a:lnTo>
                  <a:lnTo>
                    <a:pt x="0" y="1097280"/>
                  </a:lnTo>
                  <a:close/>
                </a:path>
              </a:pathLst>
            </a:custGeom>
            <a:blipFill>
              <a:blip r:embed="rId2">
                <a:alphaModFix amt="0"/>
              </a:blip>
              <a:stretch>
                <a:fillRect l="0" t="-29563" r="0" b="-29563"/>
              </a:stretch>
            </a:blipFill>
          </p:spPr>
        </p:sp>
        <p:sp>
          <p:nvSpPr>
            <p:cNvPr name="TextBox 41" id="41"/>
            <p:cNvSpPr txBox="true"/>
            <p:nvPr/>
          </p:nvSpPr>
          <p:spPr>
            <a:xfrm>
              <a:off x="0" y="0"/>
              <a:ext cx="4480560" cy="1097280"/>
            </a:xfrm>
            <a:prstGeom prst="rect">
              <a:avLst/>
            </a:prstGeom>
          </p:spPr>
          <p:txBody>
            <a:bodyPr anchor="ctr" rtlCol="false" tIns="0" lIns="0" bIns="0" rIns="0"/>
            <a:lstStyle/>
            <a:p>
              <a:pPr algn="l">
                <a:lnSpc>
                  <a:spcPts val="4680"/>
                </a:lnSpc>
              </a:pPr>
              <a:r>
                <a:rPr lang="en-US" sz="3900" b="true">
                  <a:solidFill>
                    <a:srgbClr val="004C8F"/>
                  </a:solidFill>
                  <a:latin typeface="Cambria Bold"/>
                  <a:ea typeface="Cambria Bold"/>
                  <a:cs typeface="Cambria Bold"/>
                  <a:sym typeface="Cambria Bold"/>
                </a:rPr>
                <a:t>₹52.6 tn</a:t>
              </a:r>
            </a:p>
          </p:txBody>
        </p:sp>
      </p:grpSp>
      <p:grpSp>
        <p:nvGrpSpPr>
          <p:cNvPr name="Group 42" id="42"/>
          <p:cNvGrpSpPr/>
          <p:nvPr/>
        </p:nvGrpSpPr>
        <p:grpSpPr>
          <a:xfrm rot="0">
            <a:off x="13770864" y="3374136"/>
            <a:ext cx="3360420" cy="754380"/>
            <a:chOff x="0" y="0"/>
            <a:chExt cx="4480560" cy="1005840"/>
          </a:xfrm>
        </p:grpSpPr>
        <p:sp>
          <p:nvSpPr>
            <p:cNvPr name="Freeform 43" id="43"/>
            <p:cNvSpPr/>
            <p:nvPr/>
          </p:nvSpPr>
          <p:spPr>
            <a:xfrm flipH="false" flipV="false" rot="0">
              <a:off x="0" y="0"/>
              <a:ext cx="4480560" cy="1005840"/>
            </a:xfrm>
            <a:custGeom>
              <a:avLst/>
              <a:gdLst/>
              <a:ahLst/>
              <a:cxnLst/>
              <a:rect r="r" b="b" t="t" l="l"/>
              <a:pathLst>
                <a:path h="1005840" w="4480560">
                  <a:moveTo>
                    <a:pt x="0" y="0"/>
                  </a:moveTo>
                  <a:lnTo>
                    <a:pt x="4480560" y="0"/>
                  </a:lnTo>
                  <a:lnTo>
                    <a:pt x="4480560" y="1005840"/>
                  </a:lnTo>
                  <a:lnTo>
                    <a:pt x="0" y="1005840"/>
                  </a:lnTo>
                  <a:close/>
                </a:path>
              </a:pathLst>
            </a:custGeom>
            <a:blipFill>
              <a:blip r:embed="rId2">
                <a:alphaModFix amt="0"/>
              </a:blip>
              <a:stretch>
                <a:fillRect l="0" t="-36796" r="0" b="-36796"/>
              </a:stretch>
            </a:blipFill>
          </p:spPr>
        </p:sp>
        <p:sp>
          <p:nvSpPr>
            <p:cNvPr name="TextBox 44" id="44"/>
            <p:cNvSpPr txBox="true"/>
            <p:nvPr/>
          </p:nvSpPr>
          <p:spPr>
            <a:xfrm>
              <a:off x="0" y="-38100"/>
              <a:ext cx="4480560" cy="1043940"/>
            </a:xfrm>
            <a:prstGeom prst="rect">
              <a:avLst/>
            </a:prstGeom>
          </p:spPr>
          <p:txBody>
            <a:bodyPr anchor="ctr" rtlCol="false" tIns="0" lIns="0" bIns="0" rIns="0"/>
            <a:lstStyle/>
            <a:p>
              <a:pPr algn="l">
                <a:lnSpc>
                  <a:spcPts val="2160"/>
                </a:lnSpc>
              </a:pPr>
              <a:r>
                <a:rPr lang="en-US" sz="1800">
                  <a:solidFill>
                    <a:srgbClr val="5A6B7C"/>
                  </a:solidFill>
                  <a:latin typeface="Calibri (MS)"/>
                  <a:ea typeface="Calibri (MS)"/>
                  <a:cs typeface="Calibri (MS)"/>
                  <a:sym typeface="Calibri (MS)"/>
                </a:rPr>
                <a:t>Total assets (Mar 2026)</a:t>
              </a:r>
            </a:p>
          </p:txBody>
        </p:sp>
      </p:grpSp>
      <p:grpSp>
        <p:nvGrpSpPr>
          <p:cNvPr name="Group 45" id="45"/>
          <p:cNvGrpSpPr/>
          <p:nvPr/>
        </p:nvGrpSpPr>
        <p:grpSpPr>
          <a:xfrm rot="0">
            <a:off x="822960" y="4773168"/>
            <a:ext cx="466344" cy="466344"/>
            <a:chOff x="0" y="0"/>
            <a:chExt cx="621792" cy="621792"/>
          </a:xfrm>
        </p:grpSpPr>
        <p:sp>
          <p:nvSpPr>
            <p:cNvPr name="Freeform 46" id="46"/>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004C8F"/>
            </a:solidFill>
          </p:spPr>
        </p:sp>
      </p:grpSp>
      <p:grpSp>
        <p:nvGrpSpPr>
          <p:cNvPr name="Group 47" id="47"/>
          <p:cNvGrpSpPr/>
          <p:nvPr/>
        </p:nvGrpSpPr>
        <p:grpSpPr>
          <a:xfrm rot="0">
            <a:off x="1536192" y="4690872"/>
            <a:ext cx="4114800" cy="617220"/>
            <a:chOff x="0" y="0"/>
            <a:chExt cx="5486400" cy="822960"/>
          </a:xfrm>
        </p:grpSpPr>
        <p:sp>
          <p:nvSpPr>
            <p:cNvPr name="Freeform 48" id="48"/>
            <p:cNvSpPr/>
            <p:nvPr/>
          </p:nvSpPr>
          <p:spPr>
            <a:xfrm flipH="false" flipV="false" rot="0">
              <a:off x="0" y="0"/>
              <a:ext cx="5486400" cy="822960"/>
            </a:xfrm>
            <a:custGeom>
              <a:avLst/>
              <a:gdLst/>
              <a:ahLst/>
              <a:cxnLst/>
              <a:rect r="r" b="b" t="t" l="l"/>
              <a:pathLst>
                <a:path h="822960" w="5486400">
                  <a:moveTo>
                    <a:pt x="0" y="0"/>
                  </a:moveTo>
                  <a:lnTo>
                    <a:pt x="5486400" y="0"/>
                  </a:lnTo>
                  <a:lnTo>
                    <a:pt x="5486400" y="822960"/>
                  </a:lnTo>
                  <a:lnTo>
                    <a:pt x="0" y="822960"/>
                  </a:lnTo>
                  <a:close/>
                </a:path>
              </a:pathLst>
            </a:custGeom>
            <a:blipFill>
              <a:blip r:embed="rId2">
                <a:alphaModFix amt="0"/>
              </a:blip>
              <a:stretch>
                <a:fillRect l="0" t="-79900" r="0" b="-79900"/>
              </a:stretch>
            </a:blipFill>
          </p:spPr>
        </p:sp>
        <p:sp>
          <p:nvSpPr>
            <p:cNvPr name="TextBox 49" id="49"/>
            <p:cNvSpPr txBox="true"/>
            <p:nvPr/>
          </p:nvSpPr>
          <p:spPr>
            <a:xfrm>
              <a:off x="0" y="-47625"/>
              <a:ext cx="5486400" cy="870585"/>
            </a:xfrm>
            <a:prstGeom prst="rect">
              <a:avLst/>
            </a:prstGeom>
          </p:spPr>
          <p:txBody>
            <a:bodyPr anchor="ctr" rtlCol="false" tIns="0" lIns="0" bIns="0" rIns="0"/>
            <a:lstStyle/>
            <a:p>
              <a:pPr algn="l">
                <a:lnSpc>
                  <a:spcPts val="2520"/>
                </a:lnSpc>
              </a:pPr>
              <a:r>
                <a:rPr lang="en-US" sz="2100" b="true">
                  <a:solidFill>
                    <a:srgbClr val="0A2540"/>
                  </a:solidFill>
                  <a:latin typeface="Calibri (MS) Bold"/>
                  <a:ea typeface="Calibri (MS) Bold"/>
                  <a:cs typeface="Calibri (MS) Bold"/>
                  <a:sym typeface="Calibri (MS) Bold"/>
                </a:rPr>
                <a:t>What the bank does</a:t>
              </a:r>
            </a:p>
          </p:txBody>
        </p:sp>
      </p:grpSp>
      <p:sp>
        <p:nvSpPr>
          <p:cNvPr name="TextBox 50" id="50"/>
          <p:cNvSpPr txBox="true"/>
          <p:nvPr/>
        </p:nvSpPr>
        <p:spPr>
          <a:xfrm rot="0">
            <a:off x="5897880" y="4624197"/>
            <a:ext cx="11521440" cy="1506855"/>
          </a:xfrm>
          <a:prstGeom prst="rect">
            <a:avLst/>
          </a:prstGeom>
        </p:spPr>
        <p:txBody>
          <a:bodyPr anchor="t" rtlCol="false" tIns="0" lIns="0" bIns="0" rIns="0">
            <a:spAutoFit/>
          </a:bodyPr>
          <a:lstStyle/>
          <a:p>
            <a:pPr algn="l">
              <a:lnSpc>
                <a:spcPts val="2550"/>
              </a:lnSpc>
            </a:pPr>
            <a:r>
              <a:rPr lang="en-US" sz="1875">
                <a:solidFill>
                  <a:srgbClr val="3D4C5A"/>
                </a:solidFill>
                <a:latin typeface="Calibri (MS)"/>
                <a:ea typeface="Calibri (MS)"/>
                <a:cs typeface="Calibri (MS)"/>
                <a:sym typeface="Calibri (MS)"/>
              </a:rPr>
              <a:t>Operates across retail banking, wholesale banking and treasury. Following the 2023 merger with HDFC Ltd, it also offers housing finance, life and general insurance, asset management and broking through group companies.</a:t>
            </a:r>
          </a:p>
        </p:txBody>
      </p:sp>
      <p:grpSp>
        <p:nvGrpSpPr>
          <p:cNvPr name="Group 51" id="51"/>
          <p:cNvGrpSpPr/>
          <p:nvPr/>
        </p:nvGrpSpPr>
        <p:grpSpPr>
          <a:xfrm rot="0">
            <a:off x="822960" y="6446520"/>
            <a:ext cx="466344" cy="466344"/>
            <a:chOff x="0" y="0"/>
            <a:chExt cx="621792" cy="621792"/>
          </a:xfrm>
        </p:grpSpPr>
        <p:sp>
          <p:nvSpPr>
            <p:cNvPr name="Freeform 52" id="52"/>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004C8F"/>
            </a:solidFill>
          </p:spPr>
        </p:sp>
      </p:grpSp>
      <p:grpSp>
        <p:nvGrpSpPr>
          <p:cNvPr name="Group 53" id="53"/>
          <p:cNvGrpSpPr/>
          <p:nvPr/>
        </p:nvGrpSpPr>
        <p:grpSpPr>
          <a:xfrm rot="0">
            <a:off x="1536192" y="6364224"/>
            <a:ext cx="4114800" cy="617220"/>
            <a:chOff x="0" y="0"/>
            <a:chExt cx="5486400" cy="822960"/>
          </a:xfrm>
        </p:grpSpPr>
        <p:sp>
          <p:nvSpPr>
            <p:cNvPr name="Freeform 54" id="54"/>
            <p:cNvSpPr/>
            <p:nvPr/>
          </p:nvSpPr>
          <p:spPr>
            <a:xfrm flipH="false" flipV="false" rot="0">
              <a:off x="0" y="0"/>
              <a:ext cx="5486400" cy="822960"/>
            </a:xfrm>
            <a:custGeom>
              <a:avLst/>
              <a:gdLst/>
              <a:ahLst/>
              <a:cxnLst/>
              <a:rect r="r" b="b" t="t" l="l"/>
              <a:pathLst>
                <a:path h="822960" w="5486400">
                  <a:moveTo>
                    <a:pt x="0" y="0"/>
                  </a:moveTo>
                  <a:lnTo>
                    <a:pt x="5486400" y="0"/>
                  </a:lnTo>
                  <a:lnTo>
                    <a:pt x="5486400" y="822960"/>
                  </a:lnTo>
                  <a:lnTo>
                    <a:pt x="0" y="822960"/>
                  </a:lnTo>
                  <a:close/>
                </a:path>
              </a:pathLst>
            </a:custGeom>
            <a:blipFill>
              <a:blip r:embed="rId2">
                <a:alphaModFix amt="0"/>
              </a:blip>
              <a:stretch>
                <a:fillRect l="0" t="-79900" r="0" b="-79900"/>
              </a:stretch>
            </a:blipFill>
          </p:spPr>
        </p:sp>
        <p:sp>
          <p:nvSpPr>
            <p:cNvPr name="TextBox 55" id="55"/>
            <p:cNvSpPr txBox="true"/>
            <p:nvPr/>
          </p:nvSpPr>
          <p:spPr>
            <a:xfrm>
              <a:off x="0" y="-47625"/>
              <a:ext cx="5486400" cy="870585"/>
            </a:xfrm>
            <a:prstGeom prst="rect">
              <a:avLst/>
            </a:prstGeom>
          </p:spPr>
          <p:txBody>
            <a:bodyPr anchor="ctr" rtlCol="false" tIns="0" lIns="0" bIns="0" rIns="0"/>
            <a:lstStyle/>
            <a:p>
              <a:pPr algn="l">
                <a:lnSpc>
                  <a:spcPts val="2520"/>
                </a:lnSpc>
              </a:pPr>
              <a:r>
                <a:rPr lang="en-US" sz="2100" b="true">
                  <a:solidFill>
                    <a:srgbClr val="0A2540"/>
                  </a:solidFill>
                  <a:latin typeface="Calibri (MS) Bold"/>
                  <a:ea typeface="Calibri (MS) Bold"/>
                  <a:cs typeface="Calibri (MS) Bold"/>
                  <a:sym typeface="Calibri (MS) Bold"/>
                </a:rPr>
                <a:t>Who its customers are</a:t>
              </a:r>
            </a:p>
          </p:txBody>
        </p:sp>
      </p:grpSp>
      <p:sp>
        <p:nvSpPr>
          <p:cNvPr name="TextBox 56" id="56"/>
          <p:cNvSpPr txBox="true"/>
          <p:nvPr/>
        </p:nvSpPr>
        <p:spPr>
          <a:xfrm rot="0">
            <a:off x="5897880" y="6297549"/>
            <a:ext cx="11521440" cy="1506855"/>
          </a:xfrm>
          <a:prstGeom prst="rect">
            <a:avLst/>
          </a:prstGeom>
        </p:spPr>
        <p:txBody>
          <a:bodyPr anchor="t" rtlCol="false" tIns="0" lIns="0" bIns="0" rIns="0">
            <a:spAutoFit/>
          </a:bodyPr>
          <a:lstStyle/>
          <a:p>
            <a:pPr algn="l">
              <a:lnSpc>
                <a:spcPts val="2550"/>
              </a:lnSpc>
            </a:pPr>
            <a:r>
              <a:rPr lang="en-US" sz="1875">
                <a:solidFill>
                  <a:srgbClr val="3D4C5A"/>
                </a:solidFill>
                <a:latin typeface="Calibri (MS)"/>
                <a:ea typeface="Calibri (MS)"/>
                <a:cs typeface="Calibri (MS)"/>
                <a:sym typeface="Calibri (MS)"/>
              </a:rPr>
              <a:t>Salaried and self-employed retail individuals, semi-urban and rural households (50.2% of branches), SMEs, and large corporate and institutional clients.</a:t>
            </a:r>
          </a:p>
        </p:txBody>
      </p:sp>
      <p:grpSp>
        <p:nvGrpSpPr>
          <p:cNvPr name="Group 57" id="57"/>
          <p:cNvGrpSpPr/>
          <p:nvPr/>
        </p:nvGrpSpPr>
        <p:grpSpPr>
          <a:xfrm rot="0">
            <a:off x="822960" y="8119872"/>
            <a:ext cx="466344" cy="466344"/>
            <a:chOff x="0" y="0"/>
            <a:chExt cx="621792" cy="621792"/>
          </a:xfrm>
        </p:grpSpPr>
        <p:sp>
          <p:nvSpPr>
            <p:cNvPr name="Freeform 58" id="58"/>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004C8F"/>
            </a:solidFill>
          </p:spPr>
        </p:sp>
      </p:grpSp>
      <p:grpSp>
        <p:nvGrpSpPr>
          <p:cNvPr name="Group 59" id="59"/>
          <p:cNvGrpSpPr/>
          <p:nvPr/>
        </p:nvGrpSpPr>
        <p:grpSpPr>
          <a:xfrm rot="0">
            <a:off x="1536192" y="8037576"/>
            <a:ext cx="4114800" cy="617220"/>
            <a:chOff x="0" y="0"/>
            <a:chExt cx="5486400" cy="822960"/>
          </a:xfrm>
        </p:grpSpPr>
        <p:sp>
          <p:nvSpPr>
            <p:cNvPr name="Freeform 60" id="60"/>
            <p:cNvSpPr/>
            <p:nvPr/>
          </p:nvSpPr>
          <p:spPr>
            <a:xfrm flipH="false" flipV="false" rot="0">
              <a:off x="0" y="0"/>
              <a:ext cx="5486400" cy="822960"/>
            </a:xfrm>
            <a:custGeom>
              <a:avLst/>
              <a:gdLst/>
              <a:ahLst/>
              <a:cxnLst/>
              <a:rect r="r" b="b" t="t" l="l"/>
              <a:pathLst>
                <a:path h="822960" w="5486400">
                  <a:moveTo>
                    <a:pt x="0" y="0"/>
                  </a:moveTo>
                  <a:lnTo>
                    <a:pt x="5486400" y="0"/>
                  </a:lnTo>
                  <a:lnTo>
                    <a:pt x="5486400" y="822960"/>
                  </a:lnTo>
                  <a:lnTo>
                    <a:pt x="0" y="822960"/>
                  </a:lnTo>
                  <a:close/>
                </a:path>
              </a:pathLst>
            </a:custGeom>
            <a:blipFill>
              <a:blip r:embed="rId2">
                <a:alphaModFix amt="0"/>
              </a:blip>
              <a:stretch>
                <a:fillRect l="0" t="-79900" r="0" b="-79900"/>
              </a:stretch>
            </a:blipFill>
          </p:spPr>
        </p:sp>
        <p:sp>
          <p:nvSpPr>
            <p:cNvPr name="TextBox 61" id="61"/>
            <p:cNvSpPr txBox="true"/>
            <p:nvPr/>
          </p:nvSpPr>
          <p:spPr>
            <a:xfrm>
              <a:off x="0" y="-47625"/>
              <a:ext cx="5486400" cy="870585"/>
            </a:xfrm>
            <a:prstGeom prst="rect">
              <a:avLst/>
            </a:prstGeom>
          </p:spPr>
          <p:txBody>
            <a:bodyPr anchor="ctr" rtlCol="false" tIns="0" lIns="0" bIns="0" rIns="0"/>
            <a:lstStyle/>
            <a:p>
              <a:pPr algn="l">
                <a:lnSpc>
                  <a:spcPts val="2520"/>
                </a:lnSpc>
              </a:pPr>
              <a:r>
                <a:rPr lang="en-US" sz="2100" b="true">
                  <a:solidFill>
                    <a:srgbClr val="0A2540"/>
                  </a:solidFill>
                  <a:latin typeface="Calibri (MS) Bold"/>
                  <a:ea typeface="Calibri (MS) Bold"/>
                  <a:cs typeface="Calibri (MS) Bold"/>
                  <a:sym typeface="Calibri (MS) Bold"/>
                </a:rPr>
                <a:t>Products and services</a:t>
              </a:r>
            </a:p>
          </p:txBody>
        </p:sp>
      </p:grpSp>
      <p:sp>
        <p:nvSpPr>
          <p:cNvPr name="TextBox 62" id="62"/>
          <p:cNvSpPr txBox="true"/>
          <p:nvPr/>
        </p:nvSpPr>
        <p:spPr>
          <a:xfrm rot="0">
            <a:off x="5897880" y="7970901"/>
            <a:ext cx="11521440" cy="1506855"/>
          </a:xfrm>
          <a:prstGeom prst="rect">
            <a:avLst/>
          </a:prstGeom>
        </p:spPr>
        <p:txBody>
          <a:bodyPr anchor="t" rtlCol="false" tIns="0" lIns="0" bIns="0" rIns="0">
            <a:spAutoFit/>
          </a:bodyPr>
          <a:lstStyle/>
          <a:p>
            <a:pPr algn="l">
              <a:lnSpc>
                <a:spcPts val="2550"/>
              </a:lnSpc>
            </a:pPr>
            <a:r>
              <a:rPr lang="en-US" sz="1875">
                <a:solidFill>
                  <a:srgbClr val="3D4C5A"/>
                </a:solidFill>
                <a:latin typeface="Calibri (MS)"/>
                <a:ea typeface="Calibri (MS)"/>
                <a:cs typeface="Calibri (MS)"/>
                <a:sym typeface="Calibri (MS)"/>
              </a:rPr>
              <a:t>Savings and deposit accounts, home and personal loans, credit and debit cards, UPI and net banking, cash management, trade finance, mutual funds and insurance distribution.</a:t>
            </a:r>
          </a:p>
        </p:txBody>
      </p:sp>
      <p:grpSp>
        <p:nvGrpSpPr>
          <p:cNvPr name="Group 63" id="63"/>
          <p:cNvGrpSpPr/>
          <p:nvPr/>
        </p:nvGrpSpPr>
        <p:grpSpPr>
          <a:xfrm rot="0">
            <a:off x="822960" y="9601200"/>
            <a:ext cx="16596360" cy="411480"/>
            <a:chOff x="0" y="0"/>
            <a:chExt cx="22128480" cy="548640"/>
          </a:xfrm>
        </p:grpSpPr>
        <p:sp>
          <p:nvSpPr>
            <p:cNvPr name="Freeform 64" id="64"/>
            <p:cNvSpPr/>
            <p:nvPr/>
          </p:nvSpPr>
          <p:spPr>
            <a:xfrm flipH="false" flipV="false" rot="0">
              <a:off x="0" y="0"/>
              <a:ext cx="22128480" cy="548640"/>
            </a:xfrm>
            <a:custGeom>
              <a:avLst/>
              <a:gdLst/>
              <a:ahLst/>
              <a:cxnLst/>
              <a:rect r="r" b="b" t="t" l="l"/>
              <a:pathLst>
                <a:path h="548640" w="22128480">
                  <a:moveTo>
                    <a:pt x="0" y="0"/>
                  </a:moveTo>
                  <a:lnTo>
                    <a:pt x="22128480" y="0"/>
                  </a:lnTo>
                  <a:lnTo>
                    <a:pt x="22128480" y="548640"/>
                  </a:lnTo>
                  <a:lnTo>
                    <a:pt x="0" y="548640"/>
                  </a:lnTo>
                  <a:close/>
                </a:path>
              </a:pathLst>
            </a:custGeom>
            <a:blipFill>
              <a:blip r:embed="rId2">
                <a:alphaModFix amt="0"/>
              </a:blip>
              <a:stretch>
                <a:fillRect l="0" t="-735896" r="0" b="-735896"/>
              </a:stretch>
            </a:blipFill>
          </p:spPr>
        </p:sp>
        <p:sp>
          <p:nvSpPr>
            <p:cNvPr name="TextBox 65" id="65"/>
            <p:cNvSpPr txBox="true"/>
            <p:nvPr/>
          </p:nvSpPr>
          <p:spPr>
            <a:xfrm>
              <a:off x="0" y="-38100"/>
              <a:ext cx="22128480" cy="586740"/>
            </a:xfrm>
            <a:prstGeom prst="rect">
              <a:avLst/>
            </a:prstGeom>
          </p:spPr>
          <p:txBody>
            <a:bodyPr anchor="ctr" rtlCol="false" tIns="0" lIns="0" bIns="0" rIns="0"/>
            <a:lstStyle/>
            <a:p>
              <a:pPr algn="l">
                <a:lnSpc>
                  <a:spcPts val="1709"/>
                </a:lnSpc>
              </a:pPr>
              <a:r>
                <a:rPr lang="en-US" sz="1425" i="true">
                  <a:solidFill>
                    <a:srgbClr val="5A6B7C"/>
                  </a:solidFill>
                  <a:latin typeface="Calibri (MS) Italics"/>
                  <a:ea typeface="Calibri (MS) Italics"/>
                  <a:cs typeface="Calibri (MS) Italics"/>
                  <a:sym typeface="Calibri (MS) Italics"/>
                </a:rPr>
                <a:t>Source: HDFC Bank Form 20-F, FY2026 (SEC filing); HDFC Bank Q4 FY26 earnings presentation.</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4264640" cy="822960"/>
            <a:chOff x="0" y="0"/>
            <a:chExt cx="19019520" cy="1097280"/>
          </a:xfrm>
        </p:grpSpPr>
        <p:sp>
          <p:nvSpPr>
            <p:cNvPr name="Freeform 3" id="3"/>
            <p:cNvSpPr/>
            <p:nvPr/>
          </p:nvSpPr>
          <p:spPr>
            <a:xfrm flipH="false" flipV="false" rot="0">
              <a:off x="0" y="0"/>
              <a:ext cx="19019520" cy="1097280"/>
            </a:xfrm>
            <a:custGeom>
              <a:avLst/>
              <a:gdLst/>
              <a:ahLst/>
              <a:cxnLst/>
              <a:rect r="r" b="b" t="t" l="l"/>
              <a:pathLst>
                <a:path h="1097280" w="19019520">
                  <a:moveTo>
                    <a:pt x="0" y="0"/>
                  </a:moveTo>
                  <a:lnTo>
                    <a:pt x="19019520" y="0"/>
                  </a:lnTo>
                  <a:lnTo>
                    <a:pt x="19019520" y="1097280"/>
                  </a:lnTo>
                  <a:lnTo>
                    <a:pt x="0" y="1097280"/>
                  </a:lnTo>
                  <a:close/>
                </a:path>
              </a:pathLst>
            </a:custGeom>
            <a:blipFill>
              <a:blip r:embed="rId2">
                <a:alphaModFix amt="0"/>
              </a:blip>
              <a:stretch>
                <a:fillRect l="0" t="-287740" r="0" b="-287740"/>
              </a:stretch>
            </a:blipFill>
          </p:spPr>
        </p:sp>
        <p:sp>
          <p:nvSpPr>
            <p:cNvPr name="TextBox 4" id="4"/>
            <p:cNvSpPr txBox="true"/>
            <p:nvPr/>
          </p:nvSpPr>
          <p:spPr>
            <a:xfrm>
              <a:off x="0" y="-9525"/>
              <a:ext cx="19019520" cy="1106805"/>
            </a:xfrm>
            <a:prstGeom prst="rect">
              <a:avLst/>
            </a:prstGeom>
          </p:spPr>
          <p:txBody>
            <a:bodyPr anchor="ctr" rtlCol="false" tIns="0" lIns="0" bIns="0" rIns="0"/>
            <a:lstStyle/>
            <a:p>
              <a:pPr algn="l">
                <a:lnSpc>
                  <a:spcPts val="5759"/>
                </a:lnSpc>
              </a:pPr>
              <a:r>
                <a:rPr lang="en-US" sz="4800" b="true">
                  <a:solidFill>
                    <a:srgbClr val="0A2540"/>
                  </a:solidFill>
                  <a:latin typeface="Cambria Bold"/>
                  <a:ea typeface="Cambria Bold"/>
                  <a:cs typeface="Cambria Bold"/>
                  <a:sym typeface="Cambria Bold"/>
                </a:rPr>
                <a:t>The Business Problem</a:t>
              </a:r>
            </a:p>
          </p:txBody>
        </p:sp>
      </p:grpSp>
      <p:grpSp>
        <p:nvGrpSpPr>
          <p:cNvPr name="Group 5" id="5"/>
          <p:cNvGrpSpPr/>
          <p:nvPr/>
        </p:nvGrpSpPr>
        <p:grpSpPr>
          <a:xfrm rot="0">
            <a:off x="822960" y="1426464"/>
            <a:ext cx="14264640" cy="438912"/>
            <a:chOff x="0" y="0"/>
            <a:chExt cx="19019520" cy="585216"/>
          </a:xfrm>
        </p:grpSpPr>
        <p:sp>
          <p:nvSpPr>
            <p:cNvPr name="Freeform 6" id="6"/>
            <p:cNvSpPr/>
            <p:nvPr/>
          </p:nvSpPr>
          <p:spPr>
            <a:xfrm flipH="false" flipV="false" rot="0">
              <a:off x="0" y="0"/>
              <a:ext cx="19019520" cy="585216"/>
            </a:xfrm>
            <a:custGeom>
              <a:avLst/>
              <a:gdLst/>
              <a:ahLst/>
              <a:cxnLst/>
              <a:rect r="r" b="b" t="t" l="l"/>
              <a:pathLst>
                <a:path h="585216" w="19019520">
                  <a:moveTo>
                    <a:pt x="0" y="0"/>
                  </a:moveTo>
                  <a:lnTo>
                    <a:pt x="19019520" y="0"/>
                  </a:lnTo>
                  <a:lnTo>
                    <a:pt x="19019520" y="585216"/>
                  </a:lnTo>
                  <a:lnTo>
                    <a:pt x="0" y="585216"/>
                  </a:lnTo>
                  <a:close/>
                </a:path>
              </a:pathLst>
            </a:custGeom>
            <a:blipFill>
              <a:blip r:embed="rId2">
                <a:alphaModFix amt="0"/>
              </a:blip>
              <a:stretch>
                <a:fillRect l="0" t="-583263" r="0" b="-583263"/>
              </a:stretch>
            </a:blipFill>
          </p:spPr>
        </p:sp>
        <p:sp>
          <p:nvSpPr>
            <p:cNvPr name="TextBox 7" id="7"/>
            <p:cNvSpPr txBox="true"/>
            <p:nvPr/>
          </p:nvSpPr>
          <p:spPr>
            <a:xfrm>
              <a:off x="0" y="-47625"/>
              <a:ext cx="19019520" cy="632841"/>
            </a:xfrm>
            <a:prstGeom prst="rect">
              <a:avLst/>
            </a:prstGeom>
          </p:spPr>
          <p:txBody>
            <a:bodyPr anchor="ctr" rtlCol="false" tIns="0" lIns="0" bIns="0" rIns="0"/>
            <a:lstStyle/>
            <a:p>
              <a:pPr algn="l">
                <a:lnSpc>
                  <a:spcPts val="2340"/>
                </a:lnSpc>
              </a:pPr>
              <a:r>
                <a:rPr lang="en-US" sz="1950" i="true">
                  <a:solidFill>
                    <a:srgbClr val="5A6B7C"/>
                  </a:solidFill>
                  <a:latin typeface="Calibri (MS) Italics"/>
                  <a:ea typeface="Calibri (MS) Italics"/>
                  <a:cs typeface="Calibri (MS) Italics"/>
                  <a:sym typeface="Calibri (MS) Italics"/>
                </a:rPr>
                <a:t>Detecting fraudulent transactions in real time, at scale</a:t>
              </a:r>
            </a:p>
          </p:txBody>
        </p:sp>
      </p:grpSp>
      <p:grpSp>
        <p:nvGrpSpPr>
          <p:cNvPr name="Group 8" id="8"/>
          <p:cNvGrpSpPr/>
          <p:nvPr/>
        </p:nvGrpSpPr>
        <p:grpSpPr>
          <a:xfrm rot="0">
            <a:off x="16664940" y="576072"/>
            <a:ext cx="850392" cy="850392"/>
            <a:chOff x="0" y="0"/>
            <a:chExt cx="1133856" cy="1133856"/>
          </a:xfrm>
        </p:grpSpPr>
        <p:sp>
          <p:nvSpPr>
            <p:cNvPr name="Freeform 9" id="9"/>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F1F5F9"/>
            </a:solidFill>
          </p:spPr>
        </p:sp>
      </p:grpSp>
      <p:grpSp>
        <p:nvGrpSpPr>
          <p:cNvPr name="Group 10" id="10"/>
          <p:cNvGrpSpPr/>
          <p:nvPr/>
        </p:nvGrpSpPr>
        <p:grpSpPr>
          <a:xfrm rot="0">
            <a:off x="16664940" y="576072"/>
            <a:ext cx="850392" cy="850392"/>
            <a:chOff x="0" y="0"/>
            <a:chExt cx="1133856" cy="1133856"/>
          </a:xfrm>
        </p:grpSpPr>
        <p:sp>
          <p:nvSpPr>
            <p:cNvPr name="Freeform 11" id="11"/>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2">
                <a:alphaModFix amt="0"/>
              </a:blip>
              <a:stretch>
                <a:fillRect l="-78303" t="0" r="-78303" b="0"/>
              </a:stretch>
            </a:blipFill>
          </p:spPr>
        </p:sp>
        <p:sp>
          <p:nvSpPr>
            <p:cNvPr name="TextBox 12" id="12"/>
            <p:cNvSpPr txBox="true"/>
            <p:nvPr/>
          </p:nvSpPr>
          <p:spPr>
            <a:xfrm>
              <a:off x="0" y="-9525"/>
              <a:ext cx="1133856" cy="1143381"/>
            </a:xfrm>
            <a:prstGeom prst="rect">
              <a:avLst/>
            </a:prstGeom>
          </p:spPr>
          <p:txBody>
            <a:bodyPr anchor="ctr" rtlCol="false" tIns="0" lIns="0" bIns="0" rIns="0"/>
            <a:lstStyle/>
            <a:p>
              <a:pPr algn="ctr">
                <a:lnSpc>
                  <a:spcPts val="2879"/>
                </a:lnSpc>
              </a:pPr>
              <a:r>
                <a:rPr lang="en-US" sz="2400" b="true">
                  <a:solidFill>
                    <a:srgbClr val="004C8F"/>
                  </a:solidFill>
                  <a:latin typeface="Cambria Bold"/>
                  <a:ea typeface="Cambria Bold"/>
                  <a:cs typeface="Cambria Bold"/>
                  <a:sym typeface="Cambria Bold"/>
                </a:rPr>
                <a:t>3</a:t>
              </a:r>
            </a:p>
          </p:txBody>
        </p:sp>
      </p:grpSp>
      <p:grpSp>
        <p:nvGrpSpPr>
          <p:cNvPr name="Group 13" id="13"/>
          <p:cNvGrpSpPr/>
          <p:nvPr/>
        </p:nvGrpSpPr>
        <p:grpSpPr>
          <a:xfrm rot="0">
            <a:off x="813435" y="2212467"/>
            <a:ext cx="7700010" cy="3242310"/>
            <a:chOff x="0" y="0"/>
            <a:chExt cx="10266680" cy="4323080"/>
          </a:xfrm>
        </p:grpSpPr>
        <p:sp>
          <p:nvSpPr>
            <p:cNvPr name="Freeform 14" id="14"/>
            <p:cNvSpPr/>
            <p:nvPr/>
          </p:nvSpPr>
          <p:spPr>
            <a:xfrm flipH="false" flipV="false" rot="0">
              <a:off x="0" y="0"/>
              <a:ext cx="10266680" cy="4323080"/>
            </a:xfrm>
            <a:custGeom>
              <a:avLst/>
              <a:gdLst/>
              <a:ahLst/>
              <a:cxnLst/>
              <a:rect r="r" b="b" t="t" l="l"/>
              <a:pathLst>
                <a:path h="4323080" w="10266680">
                  <a:moveTo>
                    <a:pt x="0" y="147193"/>
                  </a:moveTo>
                  <a:cubicBezTo>
                    <a:pt x="0" y="65913"/>
                    <a:pt x="65913" y="0"/>
                    <a:pt x="147193" y="0"/>
                  </a:cubicBezTo>
                  <a:lnTo>
                    <a:pt x="10119487" y="0"/>
                  </a:lnTo>
                  <a:cubicBezTo>
                    <a:pt x="10200767" y="0"/>
                    <a:pt x="10266680" y="65913"/>
                    <a:pt x="10266680" y="147193"/>
                  </a:cubicBezTo>
                  <a:lnTo>
                    <a:pt x="10266680" y="4175887"/>
                  </a:lnTo>
                  <a:cubicBezTo>
                    <a:pt x="10266680" y="4257167"/>
                    <a:pt x="10200767" y="4323080"/>
                    <a:pt x="10119487" y="4323080"/>
                  </a:cubicBezTo>
                  <a:lnTo>
                    <a:pt x="147193" y="4323080"/>
                  </a:lnTo>
                  <a:cubicBezTo>
                    <a:pt x="65913" y="4323080"/>
                    <a:pt x="0" y="4257167"/>
                    <a:pt x="0" y="4175887"/>
                  </a:cubicBezTo>
                  <a:close/>
                </a:path>
              </a:pathLst>
            </a:custGeom>
            <a:solidFill>
              <a:srgbClr val="0A2540"/>
            </a:solidFill>
            <a:ln w="19050" cap="sq">
              <a:solidFill>
                <a:srgbClr val="0A2540"/>
              </a:solidFill>
              <a:prstDash val="solid"/>
              <a:miter/>
            </a:ln>
          </p:spPr>
        </p:sp>
      </p:grpSp>
      <p:grpSp>
        <p:nvGrpSpPr>
          <p:cNvPr name="Group 15" id="15"/>
          <p:cNvGrpSpPr/>
          <p:nvPr/>
        </p:nvGrpSpPr>
        <p:grpSpPr>
          <a:xfrm rot="0">
            <a:off x="1303020" y="2537460"/>
            <a:ext cx="4114800" cy="384048"/>
            <a:chOff x="0" y="0"/>
            <a:chExt cx="5486400" cy="512064"/>
          </a:xfrm>
        </p:grpSpPr>
        <p:sp>
          <p:nvSpPr>
            <p:cNvPr name="Freeform 16" id="16"/>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2">
                <a:alphaModFix amt="0"/>
              </a:blip>
              <a:stretch>
                <a:fillRect l="0" t="-158768" r="0" b="-158768"/>
              </a:stretch>
            </a:blipFill>
          </p:spPr>
        </p:sp>
        <p:sp>
          <p:nvSpPr>
            <p:cNvPr name="TextBox 17" id="17"/>
            <p:cNvSpPr txBox="true"/>
            <p:nvPr/>
          </p:nvSpPr>
          <p:spPr>
            <a:xfrm>
              <a:off x="0" y="-28575"/>
              <a:ext cx="5486400" cy="540639"/>
            </a:xfrm>
            <a:prstGeom prst="rect">
              <a:avLst/>
            </a:prstGeom>
          </p:spPr>
          <p:txBody>
            <a:bodyPr anchor="ctr" rtlCol="false" tIns="0" lIns="0" bIns="0" rIns="0"/>
            <a:lstStyle/>
            <a:p>
              <a:pPr algn="l">
                <a:lnSpc>
                  <a:spcPts val="1980"/>
                </a:lnSpc>
              </a:pPr>
              <a:r>
                <a:rPr lang="en-US" b="true" sz="1650" spc="299">
                  <a:solidFill>
                    <a:srgbClr val="8FB3D9"/>
                  </a:solidFill>
                  <a:latin typeface="Calibri (MS) Bold"/>
                  <a:ea typeface="Calibri (MS) Bold"/>
                  <a:cs typeface="Calibri (MS) Bold"/>
                  <a:sym typeface="Calibri (MS) Bold"/>
                </a:rPr>
                <a:t>THE PROBLEM</a:t>
              </a:r>
            </a:p>
          </p:txBody>
        </p:sp>
      </p:grpSp>
      <p:grpSp>
        <p:nvGrpSpPr>
          <p:cNvPr name="Group 18" id="18"/>
          <p:cNvGrpSpPr/>
          <p:nvPr/>
        </p:nvGrpSpPr>
        <p:grpSpPr>
          <a:xfrm rot="0">
            <a:off x="1303020" y="3017520"/>
            <a:ext cx="6720840" cy="2057400"/>
            <a:chOff x="0" y="0"/>
            <a:chExt cx="8961120" cy="2743200"/>
          </a:xfrm>
        </p:grpSpPr>
        <p:sp>
          <p:nvSpPr>
            <p:cNvPr name="Freeform 19" id="19"/>
            <p:cNvSpPr/>
            <p:nvPr/>
          </p:nvSpPr>
          <p:spPr>
            <a:xfrm flipH="false" flipV="false" rot="0">
              <a:off x="0" y="0"/>
              <a:ext cx="8961120" cy="2743200"/>
            </a:xfrm>
            <a:custGeom>
              <a:avLst/>
              <a:gdLst/>
              <a:ahLst/>
              <a:cxnLst/>
              <a:rect r="r" b="b" t="t" l="l"/>
              <a:pathLst>
                <a:path h="2743200" w="8961120">
                  <a:moveTo>
                    <a:pt x="0" y="0"/>
                  </a:moveTo>
                  <a:lnTo>
                    <a:pt x="8961120" y="0"/>
                  </a:lnTo>
                  <a:lnTo>
                    <a:pt x="8961120" y="2743200"/>
                  </a:lnTo>
                  <a:lnTo>
                    <a:pt x="0" y="2743200"/>
                  </a:lnTo>
                  <a:close/>
                </a:path>
              </a:pathLst>
            </a:custGeom>
            <a:blipFill>
              <a:blip r:embed="rId2">
                <a:alphaModFix amt="0"/>
              </a:blip>
              <a:stretch>
                <a:fillRect l="0" t="-13651" r="0" b="-13651"/>
              </a:stretch>
            </a:blipFill>
          </p:spPr>
        </p:sp>
        <p:sp>
          <p:nvSpPr>
            <p:cNvPr name="TextBox 20" id="20"/>
            <p:cNvSpPr txBox="true"/>
            <p:nvPr/>
          </p:nvSpPr>
          <p:spPr>
            <a:xfrm>
              <a:off x="0" y="-104775"/>
              <a:ext cx="8961120" cy="2847975"/>
            </a:xfrm>
            <a:prstGeom prst="rect">
              <a:avLst/>
            </a:prstGeom>
          </p:spPr>
          <p:txBody>
            <a:bodyPr anchor="ctr" rtlCol="false" tIns="0" lIns="0" bIns="0" rIns="0"/>
            <a:lstStyle/>
            <a:p>
              <a:pPr algn="l">
                <a:lnSpc>
                  <a:spcPts val="3299"/>
                </a:lnSpc>
              </a:pPr>
              <a:r>
                <a:rPr lang="en-US" sz="2175">
                  <a:solidFill>
                    <a:srgbClr val="FFFFFF"/>
                  </a:solidFill>
                  <a:latin typeface="Calibri (MS)"/>
                  <a:ea typeface="Calibri (MS)"/>
                  <a:cs typeface="Calibri (MS)"/>
                  <a:sym typeface="Calibri (MS)"/>
                </a:rPr>
                <a:t>Rule-based fraud systems cannot keep pace with digital payment fraud. They miss new fraud patterns and block too many genuine transactions.</a:t>
              </a:r>
            </a:p>
          </p:txBody>
        </p:sp>
      </p:grpSp>
      <p:grpSp>
        <p:nvGrpSpPr>
          <p:cNvPr name="Group 21" id="21"/>
          <p:cNvGrpSpPr/>
          <p:nvPr/>
        </p:nvGrpSpPr>
        <p:grpSpPr>
          <a:xfrm rot="0">
            <a:off x="8974455" y="2212467"/>
            <a:ext cx="4065270" cy="1459230"/>
            <a:chOff x="0" y="0"/>
            <a:chExt cx="5420360" cy="1945640"/>
          </a:xfrm>
        </p:grpSpPr>
        <p:sp>
          <p:nvSpPr>
            <p:cNvPr name="Freeform 22" id="22"/>
            <p:cNvSpPr/>
            <p:nvPr/>
          </p:nvSpPr>
          <p:spPr>
            <a:xfrm flipH="false" flipV="false" rot="0">
              <a:off x="0" y="0"/>
              <a:ext cx="5420360" cy="1945640"/>
            </a:xfrm>
            <a:custGeom>
              <a:avLst/>
              <a:gdLst/>
              <a:ahLst/>
              <a:cxnLst/>
              <a:rect r="r" b="b" t="t" l="l"/>
              <a:pathLst>
                <a:path h="1945640" w="5420360">
                  <a:moveTo>
                    <a:pt x="0" y="148209"/>
                  </a:moveTo>
                  <a:cubicBezTo>
                    <a:pt x="0" y="66421"/>
                    <a:pt x="66421" y="0"/>
                    <a:pt x="148209" y="0"/>
                  </a:cubicBezTo>
                  <a:lnTo>
                    <a:pt x="5272151" y="0"/>
                  </a:lnTo>
                  <a:cubicBezTo>
                    <a:pt x="5354066" y="0"/>
                    <a:pt x="5420360" y="66421"/>
                    <a:pt x="5420360" y="148209"/>
                  </a:cubicBezTo>
                  <a:lnTo>
                    <a:pt x="5420360" y="1797431"/>
                  </a:lnTo>
                  <a:cubicBezTo>
                    <a:pt x="5420360" y="1879346"/>
                    <a:pt x="5353939" y="1945640"/>
                    <a:pt x="5272151" y="1945640"/>
                  </a:cubicBezTo>
                  <a:lnTo>
                    <a:pt x="148209" y="1945640"/>
                  </a:lnTo>
                  <a:cubicBezTo>
                    <a:pt x="66421" y="1945640"/>
                    <a:pt x="0" y="1879219"/>
                    <a:pt x="0" y="1797431"/>
                  </a:cubicBezTo>
                  <a:close/>
                </a:path>
              </a:pathLst>
            </a:custGeom>
            <a:solidFill>
              <a:srgbClr val="F1F5F9"/>
            </a:solidFill>
            <a:ln w="19050" cap="sq">
              <a:solidFill>
                <a:srgbClr val="F1F5F9"/>
              </a:solidFill>
              <a:prstDash val="solid"/>
              <a:miter/>
            </a:ln>
          </p:spPr>
        </p:sp>
      </p:grpSp>
      <p:grpSp>
        <p:nvGrpSpPr>
          <p:cNvPr name="Group 23" id="23"/>
          <p:cNvGrpSpPr/>
          <p:nvPr/>
        </p:nvGrpSpPr>
        <p:grpSpPr>
          <a:xfrm rot="0">
            <a:off x="9230868" y="2386584"/>
            <a:ext cx="3566160" cy="411480"/>
            <a:chOff x="0" y="0"/>
            <a:chExt cx="4754880" cy="548640"/>
          </a:xfrm>
        </p:grpSpPr>
        <p:sp>
          <p:nvSpPr>
            <p:cNvPr name="Freeform 24" id="24"/>
            <p:cNvSpPr/>
            <p:nvPr/>
          </p:nvSpPr>
          <p:spPr>
            <a:xfrm flipH="false" flipV="false" rot="0">
              <a:off x="0" y="0"/>
              <a:ext cx="4754880" cy="548640"/>
            </a:xfrm>
            <a:custGeom>
              <a:avLst/>
              <a:gdLst/>
              <a:ahLst/>
              <a:cxnLst/>
              <a:rect r="r" b="b" t="t" l="l"/>
              <a:pathLst>
                <a:path h="548640" w="4754880">
                  <a:moveTo>
                    <a:pt x="0" y="0"/>
                  </a:moveTo>
                  <a:lnTo>
                    <a:pt x="4754880" y="0"/>
                  </a:lnTo>
                  <a:lnTo>
                    <a:pt x="4754880" y="548640"/>
                  </a:lnTo>
                  <a:lnTo>
                    <a:pt x="0" y="548640"/>
                  </a:lnTo>
                  <a:close/>
                </a:path>
              </a:pathLst>
            </a:custGeom>
            <a:blipFill>
              <a:blip r:embed="rId2">
                <a:alphaModFix amt="0"/>
              </a:blip>
              <a:stretch>
                <a:fillRect l="0" t="-118870" r="0" b="-118870"/>
              </a:stretch>
            </a:blipFill>
          </p:spPr>
        </p:sp>
        <p:sp>
          <p:nvSpPr>
            <p:cNvPr name="TextBox 25" id="25"/>
            <p:cNvSpPr txBox="true"/>
            <p:nvPr/>
          </p:nvSpPr>
          <p:spPr>
            <a:xfrm>
              <a:off x="0" y="-47625"/>
              <a:ext cx="4754880" cy="596265"/>
            </a:xfrm>
            <a:prstGeom prst="rect">
              <a:avLst/>
            </a:prstGeom>
          </p:spPr>
          <p:txBody>
            <a:bodyPr anchor="ctr" rtlCol="false" tIns="0" lIns="0" bIns="0" rIns="0"/>
            <a:lstStyle/>
            <a:p>
              <a:pPr algn="l">
                <a:lnSpc>
                  <a:spcPts val="2340"/>
                </a:lnSpc>
              </a:pPr>
              <a:r>
                <a:rPr lang="en-US" sz="1950" b="true">
                  <a:solidFill>
                    <a:srgbClr val="ED232A"/>
                  </a:solidFill>
                  <a:latin typeface="Calibri (MS) Bold"/>
                  <a:ea typeface="Calibri (MS) Bold"/>
                  <a:cs typeface="Calibri (MS) Bold"/>
                  <a:sym typeface="Calibri (MS) Bold"/>
                </a:rPr>
                <a:t>Financial loss</a:t>
              </a:r>
            </a:p>
          </p:txBody>
        </p:sp>
      </p:grpSp>
      <p:grpSp>
        <p:nvGrpSpPr>
          <p:cNvPr name="Group 26" id="26"/>
          <p:cNvGrpSpPr/>
          <p:nvPr/>
        </p:nvGrpSpPr>
        <p:grpSpPr>
          <a:xfrm rot="0">
            <a:off x="9230868" y="2798064"/>
            <a:ext cx="3566160" cy="754380"/>
            <a:chOff x="0" y="0"/>
            <a:chExt cx="4754880" cy="1005840"/>
          </a:xfrm>
        </p:grpSpPr>
        <p:sp>
          <p:nvSpPr>
            <p:cNvPr name="Freeform 27" id="27"/>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2">
                <a:alphaModFix amt="0"/>
              </a:blip>
              <a:stretch>
                <a:fillRect l="0" t="-42111" r="0" b="-42111"/>
              </a:stretch>
            </a:blipFill>
          </p:spPr>
        </p:sp>
        <p:sp>
          <p:nvSpPr>
            <p:cNvPr name="TextBox 28" id="28"/>
            <p:cNvSpPr txBox="true"/>
            <p:nvPr/>
          </p:nvSpPr>
          <p:spPr>
            <a:xfrm>
              <a:off x="0" y="-38100"/>
              <a:ext cx="4754880" cy="1043940"/>
            </a:xfrm>
            <a:prstGeom prst="rect">
              <a:avLst/>
            </a:prstGeom>
          </p:spPr>
          <p:txBody>
            <a:bodyPr anchor="ctr" rtlCol="false" tIns="0" lIns="0" bIns="0" rIns="0"/>
            <a:lstStyle/>
            <a:p>
              <a:pPr algn="l">
                <a:lnSpc>
                  <a:spcPts val="2099"/>
                </a:lnSpc>
              </a:pPr>
              <a:r>
                <a:rPr lang="en-US" sz="1575">
                  <a:solidFill>
                    <a:srgbClr val="5A6B7C"/>
                  </a:solidFill>
                  <a:latin typeface="Calibri (MS)"/>
                  <a:ea typeface="Calibri (MS)"/>
                  <a:cs typeface="Calibri (MS)"/>
                  <a:sym typeface="Calibri (MS)"/>
                </a:rPr>
                <a:t>Fraud losses and customer compensation hit the bank's profit directly.</a:t>
              </a:r>
            </a:p>
          </p:txBody>
        </p:sp>
      </p:grpSp>
      <p:grpSp>
        <p:nvGrpSpPr>
          <p:cNvPr name="Group 29" id="29"/>
          <p:cNvGrpSpPr/>
          <p:nvPr/>
        </p:nvGrpSpPr>
        <p:grpSpPr>
          <a:xfrm rot="0">
            <a:off x="13294995" y="2212467"/>
            <a:ext cx="4065270" cy="1459230"/>
            <a:chOff x="0" y="0"/>
            <a:chExt cx="5420360" cy="1945640"/>
          </a:xfrm>
        </p:grpSpPr>
        <p:sp>
          <p:nvSpPr>
            <p:cNvPr name="Freeform 30" id="30"/>
            <p:cNvSpPr/>
            <p:nvPr/>
          </p:nvSpPr>
          <p:spPr>
            <a:xfrm flipH="false" flipV="false" rot="0">
              <a:off x="0" y="0"/>
              <a:ext cx="5420360" cy="1945640"/>
            </a:xfrm>
            <a:custGeom>
              <a:avLst/>
              <a:gdLst/>
              <a:ahLst/>
              <a:cxnLst/>
              <a:rect r="r" b="b" t="t" l="l"/>
              <a:pathLst>
                <a:path h="1945640" w="5420360">
                  <a:moveTo>
                    <a:pt x="0" y="148209"/>
                  </a:moveTo>
                  <a:cubicBezTo>
                    <a:pt x="0" y="66421"/>
                    <a:pt x="66421" y="0"/>
                    <a:pt x="148209" y="0"/>
                  </a:cubicBezTo>
                  <a:lnTo>
                    <a:pt x="5272151" y="0"/>
                  </a:lnTo>
                  <a:cubicBezTo>
                    <a:pt x="5354066" y="0"/>
                    <a:pt x="5420360" y="66421"/>
                    <a:pt x="5420360" y="148209"/>
                  </a:cubicBezTo>
                  <a:lnTo>
                    <a:pt x="5420360" y="1797431"/>
                  </a:lnTo>
                  <a:cubicBezTo>
                    <a:pt x="5420360" y="1879346"/>
                    <a:pt x="5353939" y="1945640"/>
                    <a:pt x="5272151" y="1945640"/>
                  </a:cubicBezTo>
                  <a:lnTo>
                    <a:pt x="148209" y="1945640"/>
                  </a:lnTo>
                  <a:cubicBezTo>
                    <a:pt x="66421" y="1945640"/>
                    <a:pt x="0" y="1879219"/>
                    <a:pt x="0" y="1797431"/>
                  </a:cubicBezTo>
                  <a:close/>
                </a:path>
              </a:pathLst>
            </a:custGeom>
            <a:solidFill>
              <a:srgbClr val="F1F5F9"/>
            </a:solidFill>
            <a:ln w="19050" cap="sq">
              <a:solidFill>
                <a:srgbClr val="F1F5F9"/>
              </a:solidFill>
              <a:prstDash val="solid"/>
              <a:miter/>
            </a:ln>
          </p:spPr>
        </p:sp>
      </p:grpSp>
      <p:grpSp>
        <p:nvGrpSpPr>
          <p:cNvPr name="Group 31" id="31"/>
          <p:cNvGrpSpPr/>
          <p:nvPr/>
        </p:nvGrpSpPr>
        <p:grpSpPr>
          <a:xfrm rot="0">
            <a:off x="13551408" y="2386584"/>
            <a:ext cx="3566160" cy="411480"/>
            <a:chOff x="0" y="0"/>
            <a:chExt cx="4754880" cy="548640"/>
          </a:xfrm>
        </p:grpSpPr>
        <p:sp>
          <p:nvSpPr>
            <p:cNvPr name="Freeform 32" id="32"/>
            <p:cNvSpPr/>
            <p:nvPr/>
          </p:nvSpPr>
          <p:spPr>
            <a:xfrm flipH="false" flipV="false" rot="0">
              <a:off x="0" y="0"/>
              <a:ext cx="4754880" cy="548640"/>
            </a:xfrm>
            <a:custGeom>
              <a:avLst/>
              <a:gdLst/>
              <a:ahLst/>
              <a:cxnLst/>
              <a:rect r="r" b="b" t="t" l="l"/>
              <a:pathLst>
                <a:path h="548640" w="4754880">
                  <a:moveTo>
                    <a:pt x="0" y="0"/>
                  </a:moveTo>
                  <a:lnTo>
                    <a:pt x="4754880" y="0"/>
                  </a:lnTo>
                  <a:lnTo>
                    <a:pt x="4754880" y="548640"/>
                  </a:lnTo>
                  <a:lnTo>
                    <a:pt x="0" y="548640"/>
                  </a:lnTo>
                  <a:close/>
                </a:path>
              </a:pathLst>
            </a:custGeom>
            <a:blipFill>
              <a:blip r:embed="rId2">
                <a:alphaModFix amt="0"/>
              </a:blip>
              <a:stretch>
                <a:fillRect l="0" t="-118870" r="0" b="-118870"/>
              </a:stretch>
            </a:blipFill>
          </p:spPr>
        </p:sp>
        <p:sp>
          <p:nvSpPr>
            <p:cNvPr name="TextBox 33" id="33"/>
            <p:cNvSpPr txBox="true"/>
            <p:nvPr/>
          </p:nvSpPr>
          <p:spPr>
            <a:xfrm>
              <a:off x="0" y="-47625"/>
              <a:ext cx="4754880" cy="596265"/>
            </a:xfrm>
            <a:prstGeom prst="rect">
              <a:avLst/>
            </a:prstGeom>
          </p:spPr>
          <p:txBody>
            <a:bodyPr anchor="ctr" rtlCol="false" tIns="0" lIns="0" bIns="0" rIns="0"/>
            <a:lstStyle/>
            <a:p>
              <a:pPr algn="l">
                <a:lnSpc>
                  <a:spcPts val="2340"/>
                </a:lnSpc>
              </a:pPr>
              <a:r>
                <a:rPr lang="en-US" sz="1950" b="true">
                  <a:solidFill>
                    <a:srgbClr val="ED232A"/>
                  </a:solidFill>
                  <a:latin typeface="Calibri (MS) Bold"/>
                  <a:ea typeface="Calibri (MS) Bold"/>
                  <a:cs typeface="Calibri (MS) Bold"/>
                  <a:sym typeface="Calibri (MS) Bold"/>
                </a:rPr>
                <a:t>Regulatory exposure</a:t>
              </a:r>
            </a:p>
          </p:txBody>
        </p:sp>
      </p:grpSp>
      <p:grpSp>
        <p:nvGrpSpPr>
          <p:cNvPr name="Group 34" id="34"/>
          <p:cNvGrpSpPr/>
          <p:nvPr/>
        </p:nvGrpSpPr>
        <p:grpSpPr>
          <a:xfrm rot="0">
            <a:off x="13551408" y="2798064"/>
            <a:ext cx="3566160" cy="754380"/>
            <a:chOff x="0" y="0"/>
            <a:chExt cx="4754880" cy="1005840"/>
          </a:xfrm>
        </p:grpSpPr>
        <p:sp>
          <p:nvSpPr>
            <p:cNvPr name="Freeform 35" id="35"/>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2">
                <a:alphaModFix amt="0"/>
              </a:blip>
              <a:stretch>
                <a:fillRect l="0" t="-42111" r="0" b="-42111"/>
              </a:stretch>
            </a:blipFill>
          </p:spPr>
        </p:sp>
        <p:sp>
          <p:nvSpPr>
            <p:cNvPr name="TextBox 36" id="36"/>
            <p:cNvSpPr txBox="true"/>
            <p:nvPr/>
          </p:nvSpPr>
          <p:spPr>
            <a:xfrm>
              <a:off x="0" y="-38100"/>
              <a:ext cx="4754880" cy="1043940"/>
            </a:xfrm>
            <a:prstGeom prst="rect">
              <a:avLst/>
            </a:prstGeom>
          </p:spPr>
          <p:txBody>
            <a:bodyPr anchor="ctr" rtlCol="false" tIns="0" lIns="0" bIns="0" rIns="0"/>
            <a:lstStyle/>
            <a:p>
              <a:pPr algn="l">
                <a:lnSpc>
                  <a:spcPts val="2099"/>
                </a:lnSpc>
              </a:pPr>
              <a:r>
                <a:rPr lang="en-US" sz="1575">
                  <a:solidFill>
                    <a:srgbClr val="5A6B7C"/>
                  </a:solidFill>
                  <a:latin typeface="Calibri (MS)"/>
                  <a:ea typeface="Calibri (MS)"/>
                  <a:cs typeface="Calibri (MS)"/>
                  <a:sym typeface="Calibri (MS)"/>
                </a:rPr>
                <a:t>RBI mandates fraud reporting, monitoring and customer protection norms.</a:t>
              </a:r>
            </a:p>
          </p:txBody>
        </p:sp>
      </p:grpSp>
      <p:grpSp>
        <p:nvGrpSpPr>
          <p:cNvPr name="Group 37" id="37"/>
          <p:cNvGrpSpPr/>
          <p:nvPr/>
        </p:nvGrpSpPr>
        <p:grpSpPr>
          <a:xfrm rot="0">
            <a:off x="8974455" y="3858387"/>
            <a:ext cx="4065270" cy="1459230"/>
            <a:chOff x="0" y="0"/>
            <a:chExt cx="5420360" cy="1945640"/>
          </a:xfrm>
        </p:grpSpPr>
        <p:sp>
          <p:nvSpPr>
            <p:cNvPr name="Freeform 38" id="38"/>
            <p:cNvSpPr/>
            <p:nvPr/>
          </p:nvSpPr>
          <p:spPr>
            <a:xfrm flipH="false" flipV="false" rot="0">
              <a:off x="0" y="0"/>
              <a:ext cx="5420360" cy="1945640"/>
            </a:xfrm>
            <a:custGeom>
              <a:avLst/>
              <a:gdLst/>
              <a:ahLst/>
              <a:cxnLst/>
              <a:rect r="r" b="b" t="t" l="l"/>
              <a:pathLst>
                <a:path h="1945640" w="5420360">
                  <a:moveTo>
                    <a:pt x="0" y="148209"/>
                  </a:moveTo>
                  <a:cubicBezTo>
                    <a:pt x="0" y="66421"/>
                    <a:pt x="66421" y="0"/>
                    <a:pt x="148209" y="0"/>
                  </a:cubicBezTo>
                  <a:lnTo>
                    <a:pt x="5272151" y="0"/>
                  </a:lnTo>
                  <a:cubicBezTo>
                    <a:pt x="5354066" y="0"/>
                    <a:pt x="5420360" y="66421"/>
                    <a:pt x="5420360" y="148209"/>
                  </a:cubicBezTo>
                  <a:lnTo>
                    <a:pt x="5420360" y="1797431"/>
                  </a:lnTo>
                  <a:cubicBezTo>
                    <a:pt x="5420360" y="1879346"/>
                    <a:pt x="5353939" y="1945640"/>
                    <a:pt x="5272151" y="1945640"/>
                  </a:cubicBezTo>
                  <a:lnTo>
                    <a:pt x="148209" y="1945640"/>
                  </a:lnTo>
                  <a:cubicBezTo>
                    <a:pt x="66421" y="1945640"/>
                    <a:pt x="0" y="1879219"/>
                    <a:pt x="0" y="1797431"/>
                  </a:cubicBezTo>
                  <a:close/>
                </a:path>
              </a:pathLst>
            </a:custGeom>
            <a:solidFill>
              <a:srgbClr val="F1F5F9"/>
            </a:solidFill>
            <a:ln w="19050" cap="sq">
              <a:solidFill>
                <a:srgbClr val="F1F5F9"/>
              </a:solidFill>
              <a:prstDash val="solid"/>
              <a:miter/>
            </a:ln>
          </p:spPr>
        </p:sp>
      </p:grpSp>
      <p:grpSp>
        <p:nvGrpSpPr>
          <p:cNvPr name="Group 39" id="39"/>
          <p:cNvGrpSpPr/>
          <p:nvPr/>
        </p:nvGrpSpPr>
        <p:grpSpPr>
          <a:xfrm rot="0">
            <a:off x="9230868" y="4032504"/>
            <a:ext cx="3566160" cy="411480"/>
            <a:chOff x="0" y="0"/>
            <a:chExt cx="4754880" cy="548640"/>
          </a:xfrm>
        </p:grpSpPr>
        <p:sp>
          <p:nvSpPr>
            <p:cNvPr name="Freeform 40" id="40"/>
            <p:cNvSpPr/>
            <p:nvPr/>
          </p:nvSpPr>
          <p:spPr>
            <a:xfrm flipH="false" flipV="false" rot="0">
              <a:off x="0" y="0"/>
              <a:ext cx="4754880" cy="548640"/>
            </a:xfrm>
            <a:custGeom>
              <a:avLst/>
              <a:gdLst/>
              <a:ahLst/>
              <a:cxnLst/>
              <a:rect r="r" b="b" t="t" l="l"/>
              <a:pathLst>
                <a:path h="548640" w="4754880">
                  <a:moveTo>
                    <a:pt x="0" y="0"/>
                  </a:moveTo>
                  <a:lnTo>
                    <a:pt x="4754880" y="0"/>
                  </a:lnTo>
                  <a:lnTo>
                    <a:pt x="4754880" y="548640"/>
                  </a:lnTo>
                  <a:lnTo>
                    <a:pt x="0" y="548640"/>
                  </a:lnTo>
                  <a:close/>
                </a:path>
              </a:pathLst>
            </a:custGeom>
            <a:blipFill>
              <a:blip r:embed="rId2">
                <a:alphaModFix amt="0"/>
              </a:blip>
              <a:stretch>
                <a:fillRect l="0" t="-118870" r="0" b="-118870"/>
              </a:stretch>
            </a:blipFill>
          </p:spPr>
        </p:sp>
        <p:sp>
          <p:nvSpPr>
            <p:cNvPr name="TextBox 41" id="41"/>
            <p:cNvSpPr txBox="true"/>
            <p:nvPr/>
          </p:nvSpPr>
          <p:spPr>
            <a:xfrm>
              <a:off x="0" y="-47625"/>
              <a:ext cx="4754880" cy="596265"/>
            </a:xfrm>
            <a:prstGeom prst="rect">
              <a:avLst/>
            </a:prstGeom>
          </p:spPr>
          <p:txBody>
            <a:bodyPr anchor="ctr" rtlCol="false" tIns="0" lIns="0" bIns="0" rIns="0"/>
            <a:lstStyle/>
            <a:p>
              <a:pPr algn="l">
                <a:lnSpc>
                  <a:spcPts val="2340"/>
                </a:lnSpc>
              </a:pPr>
              <a:r>
                <a:rPr lang="en-US" sz="1950" b="true">
                  <a:solidFill>
                    <a:srgbClr val="ED232A"/>
                  </a:solidFill>
                  <a:latin typeface="Calibri (MS) Bold"/>
                  <a:ea typeface="Calibri (MS) Bold"/>
                  <a:cs typeface="Calibri (MS) Bold"/>
                  <a:sym typeface="Calibri (MS) Bold"/>
                </a:rPr>
                <a:t>Loss of trust</a:t>
              </a:r>
            </a:p>
          </p:txBody>
        </p:sp>
      </p:grpSp>
      <p:grpSp>
        <p:nvGrpSpPr>
          <p:cNvPr name="Group 42" id="42"/>
          <p:cNvGrpSpPr/>
          <p:nvPr/>
        </p:nvGrpSpPr>
        <p:grpSpPr>
          <a:xfrm rot="0">
            <a:off x="9230868" y="4443984"/>
            <a:ext cx="3566160" cy="754380"/>
            <a:chOff x="0" y="0"/>
            <a:chExt cx="4754880" cy="1005840"/>
          </a:xfrm>
        </p:grpSpPr>
        <p:sp>
          <p:nvSpPr>
            <p:cNvPr name="Freeform 43" id="43"/>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2">
                <a:alphaModFix amt="0"/>
              </a:blip>
              <a:stretch>
                <a:fillRect l="0" t="-42111" r="0" b="-42111"/>
              </a:stretch>
            </a:blipFill>
          </p:spPr>
        </p:sp>
        <p:sp>
          <p:nvSpPr>
            <p:cNvPr name="TextBox 44" id="44"/>
            <p:cNvSpPr txBox="true"/>
            <p:nvPr/>
          </p:nvSpPr>
          <p:spPr>
            <a:xfrm>
              <a:off x="0" y="-38100"/>
              <a:ext cx="4754880" cy="1043940"/>
            </a:xfrm>
            <a:prstGeom prst="rect">
              <a:avLst/>
            </a:prstGeom>
          </p:spPr>
          <p:txBody>
            <a:bodyPr anchor="ctr" rtlCol="false" tIns="0" lIns="0" bIns="0" rIns="0"/>
            <a:lstStyle/>
            <a:p>
              <a:pPr algn="l">
                <a:lnSpc>
                  <a:spcPts val="2099"/>
                </a:lnSpc>
              </a:pPr>
              <a:r>
                <a:rPr lang="en-US" sz="1575">
                  <a:solidFill>
                    <a:srgbClr val="5A6B7C"/>
                  </a:solidFill>
                  <a:latin typeface="Calibri (MS)"/>
                  <a:ea typeface="Calibri (MS)"/>
                  <a:cs typeface="Calibri (MS)"/>
                  <a:sym typeface="Calibri (MS)"/>
                </a:rPr>
                <a:t>A single fraud incident can push a customer to close the relationship.</a:t>
              </a:r>
            </a:p>
          </p:txBody>
        </p:sp>
      </p:grpSp>
      <p:grpSp>
        <p:nvGrpSpPr>
          <p:cNvPr name="Group 45" id="45"/>
          <p:cNvGrpSpPr/>
          <p:nvPr/>
        </p:nvGrpSpPr>
        <p:grpSpPr>
          <a:xfrm rot="0">
            <a:off x="13294995" y="3858387"/>
            <a:ext cx="4065270" cy="1459230"/>
            <a:chOff x="0" y="0"/>
            <a:chExt cx="5420360" cy="1945640"/>
          </a:xfrm>
        </p:grpSpPr>
        <p:sp>
          <p:nvSpPr>
            <p:cNvPr name="Freeform 46" id="46"/>
            <p:cNvSpPr/>
            <p:nvPr/>
          </p:nvSpPr>
          <p:spPr>
            <a:xfrm flipH="false" flipV="false" rot="0">
              <a:off x="0" y="0"/>
              <a:ext cx="5420360" cy="1945640"/>
            </a:xfrm>
            <a:custGeom>
              <a:avLst/>
              <a:gdLst/>
              <a:ahLst/>
              <a:cxnLst/>
              <a:rect r="r" b="b" t="t" l="l"/>
              <a:pathLst>
                <a:path h="1945640" w="5420360">
                  <a:moveTo>
                    <a:pt x="0" y="148209"/>
                  </a:moveTo>
                  <a:cubicBezTo>
                    <a:pt x="0" y="66421"/>
                    <a:pt x="66421" y="0"/>
                    <a:pt x="148209" y="0"/>
                  </a:cubicBezTo>
                  <a:lnTo>
                    <a:pt x="5272151" y="0"/>
                  </a:lnTo>
                  <a:cubicBezTo>
                    <a:pt x="5354066" y="0"/>
                    <a:pt x="5420360" y="66421"/>
                    <a:pt x="5420360" y="148209"/>
                  </a:cubicBezTo>
                  <a:lnTo>
                    <a:pt x="5420360" y="1797431"/>
                  </a:lnTo>
                  <a:cubicBezTo>
                    <a:pt x="5420360" y="1879346"/>
                    <a:pt x="5353939" y="1945640"/>
                    <a:pt x="5272151" y="1945640"/>
                  </a:cubicBezTo>
                  <a:lnTo>
                    <a:pt x="148209" y="1945640"/>
                  </a:lnTo>
                  <a:cubicBezTo>
                    <a:pt x="66421" y="1945640"/>
                    <a:pt x="0" y="1879219"/>
                    <a:pt x="0" y="1797431"/>
                  </a:cubicBezTo>
                  <a:close/>
                </a:path>
              </a:pathLst>
            </a:custGeom>
            <a:solidFill>
              <a:srgbClr val="F1F5F9"/>
            </a:solidFill>
            <a:ln w="19050" cap="sq">
              <a:solidFill>
                <a:srgbClr val="F1F5F9"/>
              </a:solidFill>
              <a:prstDash val="solid"/>
              <a:miter/>
            </a:ln>
          </p:spPr>
        </p:sp>
      </p:grpSp>
      <p:grpSp>
        <p:nvGrpSpPr>
          <p:cNvPr name="Group 47" id="47"/>
          <p:cNvGrpSpPr/>
          <p:nvPr/>
        </p:nvGrpSpPr>
        <p:grpSpPr>
          <a:xfrm rot="0">
            <a:off x="13551408" y="4032504"/>
            <a:ext cx="3566160" cy="411480"/>
            <a:chOff x="0" y="0"/>
            <a:chExt cx="4754880" cy="548640"/>
          </a:xfrm>
        </p:grpSpPr>
        <p:sp>
          <p:nvSpPr>
            <p:cNvPr name="Freeform 48" id="48"/>
            <p:cNvSpPr/>
            <p:nvPr/>
          </p:nvSpPr>
          <p:spPr>
            <a:xfrm flipH="false" flipV="false" rot="0">
              <a:off x="0" y="0"/>
              <a:ext cx="4754880" cy="548640"/>
            </a:xfrm>
            <a:custGeom>
              <a:avLst/>
              <a:gdLst/>
              <a:ahLst/>
              <a:cxnLst/>
              <a:rect r="r" b="b" t="t" l="l"/>
              <a:pathLst>
                <a:path h="548640" w="4754880">
                  <a:moveTo>
                    <a:pt x="0" y="0"/>
                  </a:moveTo>
                  <a:lnTo>
                    <a:pt x="4754880" y="0"/>
                  </a:lnTo>
                  <a:lnTo>
                    <a:pt x="4754880" y="548640"/>
                  </a:lnTo>
                  <a:lnTo>
                    <a:pt x="0" y="548640"/>
                  </a:lnTo>
                  <a:close/>
                </a:path>
              </a:pathLst>
            </a:custGeom>
            <a:blipFill>
              <a:blip r:embed="rId2">
                <a:alphaModFix amt="0"/>
              </a:blip>
              <a:stretch>
                <a:fillRect l="0" t="-118870" r="0" b="-118870"/>
              </a:stretch>
            </a:blipFill>
          </p:spPr>
        </p:sp>
        <p:sp>
          <p:nvSpPr>
            <p:cNvPr name="TextBox 49" id="49"/>
            <p:cNvSpPr txBox="true"/>
            <p:nvPr/>
          </p:nvSpPr>
          <p:spPr>
            <a:xfrm>
              <a:off x="0" y="-47625"/>
              <a:ext cx="4754880" cy="596265"/>
            </a:xfrm>
            <a:prstGeom prst="rect">
              <a:avLst/>
            </a:prstGeom>
          </p:spPr>
          <p:txBody>
            <a:bodyPr anchor="ctr" rtlCol="false" tIns="0" lIns="0" bIns="0" rIns="0"/>
            <a:lstStyle/>
            <a:p>
              <a:pPr algn="l">
                <a:lnSpc>
                  <a:spcPts val="2340"/>
                </a:lnSpc>
              </a:pPr>
              <a:r>
                <a:rPr lang="en-US" sz="1950" b="true">
                  <a:solidFill>
                    <a:srgbClr val="ED232A"/>
                  </a:solidFill>
                  <a:latin typeface="Calibri (MS) Bold"/>
                  <a:ea typeface="Calibri (MS) Bold"/>
                  <a:cs typeface="Calibri (MS) Bold"/>
                  <a:sym typeface="Calibri (MS) Bold"/>
                </a:rPr>
                <a:t>Operational cost</a:t>
              </a:r>
            </a:p>
          </p:txBody>
        </p:sp>
      </p:grpSp>
      <p:grpSp>
        <p:nvGrpSpPr>
          <p:cNvPr name="Group 50" id="50"/>
          <p:cNvGrpSpPr/>
          <p:nvPr/>
        </p:nvGrpSpPr>
        <p:grpSpPr>
          <a:xfrm rot="0">
            <a:off x="13551408" y="4443984"/>
            <a:ext cx="3566160" cy="754380"/>
            <a:chOff x="0" y="0"/>
            <a:chExt cx="4754880" cy="1005840"/>
          </a:xfrm>
        </p:grpSpPr>
        <p:sp>
          <p:nvSpPr>
            <p:cNvPr name="Freeform 51" id="51"/>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2">
                <a:alphaModFix amt="0"/>
              </a:blip>
              <a:stretch>
                <a:fillRect l="0" t="-42111" r="0" b="-42111"/>
              </a:stretch>
            </a:blipFill>
          </p:spPr>
        </p:sp>
        <p:sp>
          <p:nvSpPr>
            <p:cNvPr name="TextBox 52" id="52"/>
            <p:cNvSpPr txBox="true"/>
            <p:nvPr/>
          </p:nvSpPr>
          <p:spPr>
            <a:xfrm>
              <a:off x="0" y="-38100"/>
              <a:ext cx="4754880" cy="1043940"/>
            </a:xfrm>
            <a:prstGeom prst="rect">
              <a:avLst/>
            </a:prstGeom>
          </p:spPr>
          <p:txBody>
            <a:bodyPr anchor="ctr" rtlCol="false" tIns="0" lIns="0" bIns="0" rIns="0"/>
            <a:lstStyle/>
            <a:p>
              <a:pPr algn="l">
                <a:lnSpc>
                  <a:spcPts val="2099"/>
                </a:lnSpc>
              </a:pPr>
              <a:r>
                <a:rPr lang="en-US" sz="1575">
                  <a:solidFill>
                    <a:srgbClr val="5A6B7C"/>
                  </a:solidFill>
                  <a:latin typeface="Calibri (MS)"/>
                  <a:ea typeface="Calibri (MS)"/>
                  <a:cs typeface="Calibri (MS)"/>
                  <a:sym typeface="Calibri (MS)"/>
                </a:rPr>
                <a:t>Every false alert consumes an investigator's time and a call-centre contact.</a:t>
              </a:r>
            </a:p>
          </p:txBody>
        </p:sp>
      </p:grpSp>
      <p:grpSp>
        <p:nvGrpSpPr>
          <p:cNvPr name="Group 53" id="53"/>
          <p:cNvGrpSpPr/>
          <p:nvPr/>
        </p:nvGrpSpPr>
        <p:grpSpPr>
          <a:xfrm rot="0">
            <a:off x="822960" y="5760720"/>
            <a:ext cx="8229600" cy="480060"/>
            <a:chOff x="0" y="0"/>
            <a:chExt cx="10972800" cy="640080"/>
          </a:xfrm>
        </p:grpSpPr>
        <p:sp>
          <p:nvSpPr>
            <p:cNvPr name="Freeform 54" id="54"/>
            <p:cNvSpPr/>
            <p:nvPr/>
          </p:nvSpPr>
          <p:spPr>
            <a:xfrm flipH="false" flipV="false" rot="0">
              <a:off x="0" y="0"/>
              <a:ext cx="10972800" cy="640080"/>
            </a:xfrm>
            <a:custGeom>
              <a:avLst/>
              <a:gdLst/>
              <a:ahLst/>
              <a:cxnLst/>
              <a:rect r="r" b="b" t="t" l="l"/>
              <a:pathLst>
                <a:path h="640080" w="10972800">
                  <a:moveTo>
                    <a:pt x="0" y="0"/>
                  </a:moveTo>
                  <a:lnTo>
                    <a:pt x="10972800" y="0"/>
                  </a:lnTo>
                  <a:lnTo>
                    <a:pt x="10972800" y="640080"/>
                  </a:lnTo>
                  <a:lnTo>
                    <a:pt x="0" y="640080"/>
                  </a:lnTo>
                  <a:close/>
                </a:path>
              </a:pathLst>
            </a:custGeom>
            <a:blipFill>
              <a:blip r:embed="rId2">
                <a:alphaModFix amt="0"/>
              </a:blip>
              <a:stretch>
                <a:fillRect l="0" t="-284029" r="0" b="-284029"/>
              </a:stretch>
            </a:blipFill>
          </p:spPr>
        </p:sp>
        <p:sp>
          <p:nvSpPr>
            <p:cNvPr name="TextBox 55" id="55"/>
            <p:cNvSpPr txBox="true"/>
            <p:nvPr/>
          </p:nvSpPr>
          <p:spPr>
            <a:xfrm>
              <a:off x="0" y="-57150"/>
              <a:ext cx="10972800" cy="697230"/>
            </a:xfrm>
            <a:prstGeom prst="rect">
              <a:avLst/>
            </a:prstGeom>
          </p:spPr>
          <p:txBody>
            <a:bodyPr anchor="ctr" rtlCol="false" tIns="0" lIns="0" bIns="0" rIns="0"/>
            <a:lstStyle/>
            <a:p>
              <a:pPr algn="l">
                <a:lnSpc>
                  <a:spcPts val="2700"/>
                </a:lnSpc>
              </a:pPr>
              <a:r>
                <a:rPr lang="en-US" sz="2250" b="true">
                  <a:solidFill>
                    <a:srgbClr val="0A2540"/>
                  </a:solidFill>
                  <a:latin typeface="Calibri (MS) Bold"/>
                  <a:ea typeface="Calibri (MS) Bold"/>
                  <a:cs typeface="Calibri (MS) Bold"/>
                  <a:sym typeface="Calibri (MS) Bold"/>
                </a:rPr>
                <a:t>Why this matters now</a:t>
              </a:r>
            </a:p>
          </p:txBody>
        </p:sp>
      </p:grpSp>
      <p:grpSp>
        <p:nvGrpSpPr>
          <p:cNvPr name="Group 56" id="56"/>
          <p:cNvGrpSpPr/>
          <p:nvPr/>
        </p:nvGrpSpPr>
        <p:grpSpPr>
          <a:xfrm rot="0">
            <a:off x="822960" y="6309360"/>
            <a:ext cx="8092440" cy="3154680"/>
            <a:chOff x="0" y="0"/>
            <a:chExt cx="10789920" cy="4206240"/>
          </a:xfrm>
        </p:grpSpPr>
        <p:sp>
          <p:nvSpPr>
            <p:cNvPr name="Freeform 57" id="57"/>
            <p:cNvSpPr/>
            <p:nvPr/>
          </p:nvSpPr>
          <p:spPr>
            <a:xfrm flipH="false" flipV="false" rot="0">
              <a:off x="0" y="0"/>
              <a:ext cx="10789920" cy="4206240"/>
            </a:xfrm>
            <a:custGeom>
              <a:avLst/>
              <a:gdLst/>
              <a:ahLst/>
              <a:cxnLst/>
              <a:rect r="r" b="b" t="t" l="l"/>
              <a:pathLst>
                <a:path h="4206240" w="10789920">
                  <a:moveTo>
                    <a:pt x="0" y="0"/>
                  </a:moveTo>
                  <a:lnTo>
                    <a:pt x="10789920" y="0"/>
                  </a:lnTo>
                  <a:lnTo>
                    <a:pt x="10789920" y="4206240"/>
                  </a:lnTo>
                  <a:lnTo>
                    <a:pt x="0" y="4206240"/>
                  </a:lnTo>
                  <a:close/>
                </a:path>
              </a:pathLst>
            </a:custGeom>
            <a:blipFill>
              <a:blip r:embed="rId2">
                <a:alphaModFix amt="0"/>
              </a:blip>
              <a:stretch>
                <a:fillRect l="-16" t="0" r="-16" b="0"/>
              </a:stretch>
            </a:blipFill>
          </p:spPr>
        </p:sp>
        <p:sp>
          <p:nvSpPr>
            <p:cNvPr name="TextBox 58" id="58"/>
            <p:cNvSpPr txBox="true"/>
            <p:nvPr/>
          </p:nvSpPr>
          <p:spPr>
            <a:xfrm>
              <a:off x="0" y="-57150"/>
              <a:ext cx="10789920" cy="4263390"/>
            </a:xfrm>
            <a:prstGeom prst="rect">
              <a:avLst/>
            </a:prstGeom>
          </p:spPr>
          <p:txBody>
            <a:bodyPr anchor="ctr" rtlCol="false" tIns="0" lIns="0" bIns="0" rIns="0"/>
            <a:lstStyle/>
            <a:p>
              <a:pPr algn="l" marL="325755" indent="-162878" lvl="1">
                <a:lnSpc>
                  <a:spcPts val="2399"/>
                </a:lnSpc>
                <a:buFont typeface="Arial"/>
                <a:buChar char="•"/>
              </a:pPr>
              <a:r>
                <a:rPr lang="en-US" sz="1800">
                  <a:solidFill>
                    <a:srgbClr val="3D4C5A"/>
                  </a:solidFill>
                  <a:latin typeface="Calibri (MS)"/>
                  <a:ea typeface="Calibri (MS)"/>
                  <a:cs typeface="Calibri (MS)"/>
                  <a:sym typeface="Calibri (MS)"/>
                </a:rPr>
                <a:t>Fraud reported by Indian banks rose to ₹48,021 crore in FY2025-26, from ₹36,014 crore in FY2024-25 (RBI Annual Reports).</a:t>
              </a:r>
            </a:p>
            <a:p>
              <a:pPr algn="l" marL="325755" indent="-162878" lvl="1">
                <a:lnSpc>
                  <a:spcPts val="2399"/>
                </a:lnSpc>
                <a:buFont typeface="Arial"/>
                <a:buChar char="•"/>
              </a:pPr>
              <a:r>
                <a:rPr lang="en-US" sz="1800">
                  <a:solidFill>
                    <a:srgbClr val="3D4C5A"/>
                  </a:solidFill>
                  <a:latin typeface="Calibri (MS)"/>
                  <a:ea typeface="Calibri (MS)"/>
                  <a:cs typeface="Calibri (MS)"/>
                  <a:sym typeface="Calibri (MS)"/>
                </a:rPr>
                <a:t>Private sector banks account for the largest number of fraud cases — mainly small-value card and internet transactions.</a:t>
              </a:r>
            </a:p>
            <a:p>
              <a:pPr algn="l" marL="325755" indent="-162878" lvl="1">
                <a:lnSpc>
                  <a:spcPts val="2399"/>
                </a:lnSpc>
                <a:buFont typeface="Arial"/>
                <a:buChar char="•"/>
              </a:pPr>
              <a:r>
                <a:rPr lang="en-US" sz="1800">
                  <a:solidFill>
                    <a:srgbClr val="3D4C5A"/>
                  </a:solidFill>
                  <a:latin typeface="Calibri (MS)"/>
                  <a:ea typeface="Calibri (MS)"/>
                  <a:cs typeface="Calibri (MS)"/>
                  <a:sym typeface="Calibri (MS)"/>
                </a:rPr>
                <a:t>UPI recorded 185.8 billion transactions in FY25, up 41.7% year on year, expanding the attack surface.</a:t>
              </a:r>
            </a:p>
            <a:p>
              <a:pPr algn="l" marL="325755" indent="-162878" lvl="1">
                <a:lnSpc>
                  <a:spcPts val="2399"/>
                </a:lnSpc>
                <a:buFont typeface="Arial"/>
                <a:buChar char="•"/>
              </a:pPr>
              <a:r>
                <a:rPr lang="en-US" sz="1800">
                  <a:solidFill>
                    <a:srgbClr val="3D4C5A"/>
                  </a:solidFill>
                  <a:latin typeface="Calibri (MS)"/>
                  <a:ea typeface="Calibri (MS)"/>
                  <a:cs typeface="Calibri (MS)"/>
                  <a:sym typeface="Calibri (MS)"/>
                </a:rPr>
                <a:t>RBI notes a significant time lag between when a fraud occurs and when it is detected.</a:t>
              </a:r>
            </a:p>
          </p:txBody>
        </p:sp>
      </p:grpSp>
      <p:pic>
        <p:nvPicPr>
          <p:cNvPr name="Picture 59" id="59"/>
          <p:cNvPicPr>
            <a:picLocks noChangeAspect="true"/>
          </p:cNvPicPr>
          <p:nvPr/>
        </p:nvPicPr>
        <p:blipFill>
          <a:blip r:embed="rId3"/>
          <a:stretch>
            <a:fillRect/>
          </a:stretch>
        </p:blipFill>
        <p:spPr>
          <a:xfrm rot="0">
            <a:off x="8668512" y="5033772"/>
            <a:ext cx="9546336" cy="4951476"/>
          </a:xfrm>
          <a:prstGeom prst="rect">
            <a:avLst/>
          </a:prstGeom>
        </p:spPr>
      </p:pic>
      <p:grpSp>
        <p:nvGrpSpPr>
          <p:cNvPr name="Group 60" id="60"/>
          <p:cNvGrpSpPr/>
          <p:nvPr/>
        </p:nvGrpSpPr>
        <p:grpSpPr>
          <a:xfrm rot="0">
            <a:off x="9464040" y="9258300"/>
            <a:ext cx="7955280" cy="411480"/>
            <a:chOff x="0" y="0"/>
            <a:chExt cx="10607040" cy="548640"/>
          </a:xfrm>
        </p:grpSpPr>
        <p:sp>
          <p:nvSpPr>
            <p:cNvPr name="Freeform 61" id="61"/>
            <p:cNvSpPr/>
            <p:nvPr/>
          </p:nvSpPr>
          <p:spPr>
            <a:xfrm flipH="false" flipV="false" rot="0">
              <a:off x="0" y="0"/>
              <a:ext cx="10607040" cy="548640"/>
            </a:xfrm>
            <a:custGeom>
              <a:avLst/>
              <a:gdLst/>
              <a:ahLst/>
              <a:cxnLst/>
              <a:rect r="r" b="b" t="t" l="l"/>
              <a:pathLst>
                <a:path h="548640" w="10607040">
                  <a:moveTo>
                    <a:pt x="0" y="0"/>
                  </a:moveTo>
                  <a:lnTo>
                    <a:pt x="10607040" y="0"/>
                  </a:lnTo>
                  <a:lnTo>
                    <a:pt x="10607040" y="548640"/>
                  </a:lnTo>
                  <a:lnTo>
                    <a:pt x="0" y="548640"/>
                  </a:lnTo>
                  <a:close/>
                </a:path>
              </a:pathLst>
            </a:custGeom>
            <a:blipFill>
              <a:blip r:embed="rId2">
                <a:alphaModFix amt="0"/>
              </a:blip>
              <a:stretch>
                <a:fillRect l="0" t="-326710" r="0" b="-326710"/>
              </a:stretch>
            </a:blipFill>
          </p:spPr>
        </p:sp>
        <p:sp>
          <p:nvSpPr>
            <p:cNvPr name="TextBox 62" id="62"/>
            <p:cNvSpPr txBox="true"/>
            <p:nvPr/>
          </p:nvSpPr>
          <p:spPr>
            <a:xfrm>
              <a:off x="0" y="-28575"/>
              <a:ext cx="10607040" cy="577215"/>
            </a:xfrm>
            <a:prstGeom prst="rect">
              <a:avLst/>
            </a:prstGeom>
          </p:spPr>
          <p:txBody>
            <a:bodyPr anchor="ctr" rtlCol="false" tIns="0" lIns="0" bIns="0" rIns="0"/>
            <a:lstStyle/>
            <a:p>
              <a:pPr algn="l">
                <a:lnSpc>
                  <a:spcPts val="1530"/>
                </a:lnSpc>
              </a:pPr>
              <a:r>
                <a:rPr lang="en-US" sz="1275" i="true">
                  <a:solidFill>
                    <a:srgbClr val="5A6B7C"/>
                  </a:solidFill>
                  <a:latin typeface="Calibri (MS) Italics"/>
                  <a:ea typeface="Calibri (MS) Italics"/>
                  <a:cs typeface="Calibri (MS) Italics"/>
                  <a:sym typeface="Calibri (MS) Italics"/>
                </a:rPr>
                <a:t>Note: each year's figure is as reported in that year's RBI Annual Report; totals include cases reclassified from earlier years.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4264640" cy="822960"/>
            <a:chOff x="0" y="0"/>
            <a:chExt cx="19019520" cy="1097280"/>
          </a:xfrm>
        </p:grpSpPr>
        <p:sp>
          <p:nvSpPr>
            <p:cNvPr name="Freeform 3" id="3"/>
            <p:cNvSpPr/>
            <p:nvPr/>
          </p:nvSpPr>
          <p:spPr>
            <a:xfrm flipH="false" flipV="false" rot="0">
              <a:off x="0" y="0"/>
              <a:ext cx="19019520" cy="1097280"/>
            </a:xfrm>
            <a:custGeom>
              <a:avLst/>
              <a:gdLst/>
              <a:ahLst/>
              <a:cxnLst/>
              <a:rect r="r" b="b" t="t" l="l"/>
              <a:pathLst>
                <a:path h="1097280" w="19019520">
                  <a:moveTo>
                    <a:pt x="0" y="0"/>
                  </a:moveTo>
                  <a:lnTo>
                    <a:pt x="19019520" y="0"/>
                  </a:lnTo>
                  <a:lnTo>
                    <a:pt x="19019520" y="1097280"/>
                  </a:lnTo>
                  <a:lnTo>
                    <a:pt x="0" y="1097280"/>
                  </a:lnTo>
                  <a:close/>
                </a:path>
              </a:pathLst>
            </a:custGeom>
            <a:blipFill>
              <a:blip r:embed="rId2">
                <a:alphaModFix amt="0"/>
              </a:blip>
              <a:stretch>
                <a:fillRect l="0" t="-287740" r="0" b="-287740"/>
              </a:stretch>
            </a:blipFill>
          </p:spPr>
        </p:sp>
        <p:sp>
          <p:nvSpPr>
            <p:cNvPr name="TextBox 4" id="4"/>
            <p:cNvSpPr txBox="true"/>
            <p:nvPr/>
          </p:nvSpPr>
          <p:spPr>
            <a:xfrm>
              <a:off x="0" y="-9525"/>
              <a:ext cx="19019520" cy="1106805"/>
            </a:xfrm>
            <a:prstGeom prst="rect">
              <a:avLst/>
            </a:prstGeom>
          </p:spPr>
          <p:txBody>
            <a:bodyPr anchor="ctr" rtlCol="false" tIns="0" lIns="0" bIns="0" rIns="0"/>
            <a:lstStyle/>
            <a:p>
              <a:pPr algn="l">
                <a:lnSpc>
                  <a:spcPts val="5759"/>
                </a:lnSpc>
              </a:pPr>
              <a:r>
                <a:rPr lang="en-US" sz="4800" b="true">
                  <a:solidFill>
                    <a:srgbClr val="0A2540"/>
                  </a:solidFill>
                  <a:latin typeface="Cambria Bold"/>
                  <a:ea typeface="Cambria Bold"/>
                  <a:cs typeface="Cambria Bold"/>
                  <a:sym typeface="Cambria Bold"/>
                </a:rPr>
                <a:t>Data Required</a:t>
              </a:r>
            </a:p>
          </p:txBody>
        </p:sp>
      </p:grpSp>
      <p:grpSp>
        <p:nvGrpSpPr>
          <p:cNvPr name="Group 5" id="5"/>
          <p:cNvGrpSpPr/>
          <p:nvPr/>
        </p:nvGrpSpPr>
        <p:grpSpPr>
          <a:xfrm rot="0">
            <a:off x="822960" y="1426464"/>
            <a:ext cx="14264640" cy="438912"/>
            <a:chOff x="0" y="0"/>
            <a:chExt cx="19019520" cy="585216"/>
          </a:xfrm>
        </p:grpSpPr>
        <p:sp>
          <p:nvSpPr>
            <p:cNvPr name="Freeform 6" id="6"/>
            <p:cNvSpPr/>
            <p:nvPr/>
          </p:nvSpPr>
          <p:spPr>
            <a:xfrm flipH="false" flipV="false" rot="0">
              <a:off x="0" y="0"/>
              <a:ext cx="19019520" cy="585216"/>
            </a:xfrm>
            <a:custGeom>
              <a:avLst/>
              <a:gdLst/>
              <a:ahLst/>
              <a:cxnLst/>
              <a:rect r="r" b="b" t="t" l="l"/>
              <a:pathLst>
                <a:path h="585216" w="19019520">
                  <a:moveTo>
                    <a:pt x="0" y="0"/>
                  </a:moveTo>
                  <a:lnTo>
                    <a:pt x="19019520" y="0"/>
                  </a:lnTo>
                  <a:lnTo>
                    <a:pt x="19019520" y="585216"/>
                  </a:lnTo>
                  <a:lnTo>
                    <a:pt x="0" y="585216"/>
                  </a:lnTo>
                  <a:close/>
                </a:path>
              </a:pathLst>
            </a:custGeom>
            <a:blipFill>
              <a:blip r:embed="rId2">
                <a:alphaModFix amt="0"/>
              </a:blip>
              <a:stretch>
                <a:fillRect l="0" t="-583263" r="0" b="-583263"/>
              </a:stretch>
            </a:blipFill>
          </p:spPr>
        </p:sp>
        <p:sp>
          <p:nvSpPr>
            <p:cNvPr name="TextBox 7" id="7"/>
            <p:cNvSpPr txBox="true"/>
            <p:nvPr/>
          </p:nvSpPr>
          <p:spPr>
            <a:xfrm>
              <a:off x="0" y="-47625"/>
              <a:ext cx="19019520" cy="632841"/>
            </a:xfrm>
            <a:prstGeom prst="rect">
              <a:avLst/>
            </a:prstGeom>
          </p:spPr>
          <p:txBody>
            <a:bodyPr anchor="ctr" rtlCol="false" tIns="0" lIns="0" bIns="0" rIns="0"/>
            <a:lstStyle/>
            <a:p>
              <a:pPr algn="l">
                <a:lnSpc>
                  <a:spcPts val="2340"/>
                </a:lnSpc>
              </a:pPr>
              <a:r>
                <a:rPr lang="en-US" sz="1950" i="true">
                  <a:solidFill>
                    <a:srgbClr val="5A6B7C"/>
                  </a:solidFill>
                  <a:latin typeface="Calibri (MS) Italics"/>
                  <a:ea typeface="Calibri (MS) Italics"/>
                  <a:cs typeface="Calibri (MS) Italics"/>
                  <a:sym typeface="Calibri (MS) Italics"/>
                </a:rPr>
                <a:t>What an ML fraud model would need to learn from</a:t>
              </a:r>
            </a:p>
          </p:txBody>
        </p:sp>
      </p:grpSp>
      <p:grpSp>
        <p:nvGrpSpPr>
          <p:cNvPr name="Group 8" id="8"/>
          <p:cNvGrpSpPr/>
          <p:nvPr/>
        </p:nvGrpSpPr>
        <p:grpSpPr>
          <a:xfrm rot="0">
            <a:off x="16664940" y="576072"/>
            <a:ext cx="850392" cy="850392"/>
            <a:chOff x="0" y="0"/>
            <a:chExt cx="1133856" cy="1133856"/>
          </a:xfrm>
        </p:grpSpPr>
        <p:sp>
          <p:nvSpPr>
            <p:cNvPr name="Freeform 9" id="9"/>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F1F5F9"/>
            </a:solidFill>
          </p:spPr>
        </p:sp>
      </p:grpSp>
      <p:grpSp>
        <p:nvGrpSpPr>
          <p:cNvPr name="Group 10" id="10"/>
          <p:cNvGrpSpPr/>
          <p:nvPr/>
        </p:nvGrpSpPr>
        <p:grpSpPr>
          <a:xfrm rot="0">
            <a:off x="16664940" y="576072"/>
            <a:ext cx="850392" cy="850392"/>
            <a:chOff x="0" y="0"/>
            <a:chExt cx="1133856" cy="1133856"/>
          </a:xfrm>
        </p:grpSpPr>
        <p:sp>
          <p:nvSpPr>
            <p:cNvPr name="Freeform 11" id="11"/>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2">
                <a:alphaModFix amt="0"/>
              </a:blip>
              <a:stretch>
                <a:fillRect l="-78303" t="0" r="-78303" b="0"/>
              </a:stretch>
            </a:blipFill>
          </p:spPr>
        </p:sp>
        <p:sp>
          <p:nvSpPr>
            <p:cNvPr name="TextBox 12" id="12"/>
            <p:cNvSpPr txBox="true"/>
            <p:nvPr/>
          </p:nvSpPr>
          <p:spPr>
            <a:xfrm>
              <a:off x="0" y="-9525"/>
              <a:ext cx="1133856" cy="1143381"/>
            </a:xfrm>
            <a:prstGeom prst="rect">
              <a:avLst/>
            </a:prstGeom>
          </p:spPr>
          <p:txBody>
            <a:bodyPr anchor="ctr" rtlCol="false" tIns="0" lIns="0" bIns="0" rIns="0"/>
            <a:lstStyle/>
            <a:p>
              <a:pPr algn="ctr">
                <a:lnSpc>
                  <a:spcPts val="2879"/>
                </a:lnSpc>
              </a:pPr>
              <a:r>
                <a:rPr lang="en-US" sz="2400" b="true">
                  <a:solidFill>
                    <a:srgbClr val="004C8F"/>
                  </a:solidFill>
                  <a:latin typeface="Cambria Bold"/>
                  <a:ea typeface="Cambria Bold"/>
                  <a:cs typeface="Cambria Bold"/>
                  <a:sym typeface="Cambria Bold"/>
                </a:rPr>
                <a:t>4</a:t>
              </a:r>
            </a:p>
          </p:txBody>
        </p:sp>
      </p:grpSp>
      <p:grpSp>
        <p:nvGrpSpPr>
          <p:cNvPr name="Group 13" id="13"/>
          <p:cNvGrpSpPr/>
          <p:nvPr/>
        </p:nvGrpSpPr>
        <p:grpSpPr>
          <a:xfrm rot="0">
            <a:off x="813435" y="2349627"/>
            <a:ext cx="5340858" cy="2460498"/>
            <a:chOff x="0" y="0"/>
            <a:chExt cx="7121144" cy="3280664"/>
          </a:xfrm>
        </p:grpSpPr>
        <p:sp>
          <p:nvSpPr>
            <p:cNvPr name="Freeform 14" id="14"/>
            <p:cNvSpPr/>
            <p:nvPr/>
          </p:nvSpPr>
          <p:spPr>
            <a:xfrm flipH="false" flipV="false" rot="0">
              <a:off x="0" y="0"/>
              <a:ext cx="7121144" cy="3280664"/>
            </a:xfrm>
            <a:custGeom>
              <a:avLst/>
              <a:gdLst/>
              <a:ahLst/>
              <a:cxnLst/>
              <a:rect r="r" b="b" t="t" l="l"/>
              <a:pathLst>
                <a:path h="3280664" w="7121144">
                  <a:moveTo>
                    <a:pt x="0" y="147447"/>
                  </a:moveTo>
                  <a:cubicBezTo>
                    <a:pt x="0" y="66040"/>
                    <a:pt x="66040" y="0"/>
                    <a:pt x="147447" y="0"/>
                  </a:cubicBezTo>
                  <a:lnTo>
                    <a:pt x="6973697" y="0"/>
                  </a:lnTo>
                  <a:cubicBezTo>
                    <a:pt x="7055104" y="0"/>
                    <a:pt x="7121144" y="66040"/>
                    <a:pt x="7121144" y="147447"/>
                  </a:cubicBezTo>
                  <a:lnTo>
                    <a:pt x="7121144" y="3133217"/>
                  </a:lnTo>
                  <a:cubicBezTo>
                    <a:pt x="7121144" y="3214624"/>
                    <a:pt x="7055104" y="3280664"/>
                    <a:pt x="6973697" y="3280664"/>
                  </a:cubicBezTo>
                  <a:lnTo>
                    <a:pt x="147447" y="3280664"/>
                  </a:lnTo>
                  <a:cubicBezTo>
                    <a:pt x="66040" y="3280664"/>
                    <a:pt x="0" y="3214624"/>
                    <a:pt x="0" y="3133217"/>
                  </a:cubicBezTo>
                  <a:close/>
                </a:path>
              </a:pathLst>
            </a:custGeom>
            <a:solidFill>
              <a:srgbClr val="FFFFFF"/>
            </a:solidFill>
            <a:ln w="19050" cap="sq">
              <a:solidFill>
                <a:srgbClr val="DCE4EC"/>
              </a:solidFill>
              <a:prstDash val="solid"/>
              <a:miter/>
            </a:ln>
          </p:spPr>
        </p:sp>
      </p:grpSp>
      <p:grpSp>
        <p:nvGrpSpPr>
          <p:cNvPr name="Group 15" id="15"/>
          <p:cNvGrpSpPr/>
          <p:nvPr/>
        </p:nvGrpSpPr>
        <p:grpSpPr>
          <a:xfrm rot="0">
            <a:off x="1124712" y="2660904"/>
            <a:ext cx="493776" cy="493776"/>
            <a:chOff x="0" y="0"/>
            <a:chExt cx="658368" cy="658368"/>
          </a:xfrm>
        </p:grpSpPr>
        <p:sp>
          <p:nvSpPr>
            <p:cNvPr name="Freeform 16" id="16"/>
            <p:cNvSpPr/>
            <p:nvPr/>
          </p:nvSpPr>
          <p:spPr>
            <a:xfrm flipH="false" flipV="false" rot="0">
              <a:off x="0" y="0"/>
              <a:ext cx="658368" cy="658368"/>
            </a:xfrm>
            <a:custGeom>
              <a:avLst/>
              <a:gdLst/>
              <a:ahLst/>
              <a:cxnLst/>
              <a:rect r="r" b="b" t="t" l="l"/>
              <a:pathLst>
                <a:path h="658368" w="658368">
                  <a:moveTo>
                    <a:pt x="0" y="109728"/>
                  </a:moveTo>
                  <a:cubicBezTo>
                    <a:pt x="0" y="49149"/>
                    <a:pt x="49149" y="0"/>
                    <a:pt x="109728" y="0"/>
                  </a:cubicBezTo>
                  <a:lnTo>
                    <a:pt x="548640" y="0"/>
                  </a:lnTo>
                  <a:cubicBezTo>
                    <a:pt x="609219" y="0"/>
                    <a:pt x="658368" y="49149"/>
                    <a:pt x="658368" y="109728"/>
                  </a:cubicBezTo>
                  <a:lnTo>
                    <a:pt x="658368" y="548640"/>
                  </a:lnTo>
                  <a:cubicBezTo>
                    <a:pt x="658368" y="609219"/>
                    <a:pt x="609219" y="658368"/>
                    <a:pt x="548640" y="658368"/>
                  </a:cubicBezTo>
                  <a:lnTo>
                    <a:pt x="109728" y="658368"/>
                  </a:lnTo>
                  <a:cubicBezTo>
                    <a:pt x="49149" y="658368"/>
                    <a:pt x="0" y="609219"/>
                    <a:pt x="0" y="548640"/>
                  </a:cubicBezTo>
                  <a:close/>
                </a:path>
              </a:pathLst>
            </a:custGeom>
            <a:solidFill>
              <a:srgbClr val="004C8F"/>
            </a:solidFill>
          </p:spPr>
        </p:sp>
      </p:grpSp>
      <p:grpSp>
        <p:nvGrpSpPr>
          <p:cNvPr name="Group 17" id="17"/>
          <p:cNvGrpSpPr/>
          <p:nvPr/>
        </p:nvGrpSpPr>
        <p:grpSpPr>
          <a:xfrm rot="0">
            <a:off x="1124712" y="2660904"/>
            <a:ext cx="493776" cy="493776"/>
            <a:chOff x="0" y="0"/>
            <a:chExt cx="658368" cy="658368"/>
          </a:xfrm>
        </p:grpSpPr>
        <p:sp>
          <p:nvSpPr>
            <p:cNvPr name="Freeform 18" id="18"/>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close/>
                </a:path>
              </a:pathLst>
            </a:custGeom>
            <a:blipFill>
              <a:blip r:embed="rId2">
                <a:alphaModFix amt="0"/>
              </a:blip>
              <a:stretch>
                <a:fillRect l="-78303" t="0" r="-78303" b="0"/>
              </a:stretch>
            </a:blipFill>
          </p:spPr>
        </p:sp>
        <p:sp>
          <p:nvSpPr>
            <p:cNvPr name="TextBox 19" id="19"/>
            <p:cNvSpPr txBox="true"/>
            <p:nvPr/>
          </p:nvSpPr>
          <p:spPr>
            <a:xfrm>
              <a:off x="0" y="-38100"/>
              <a:ext cx="658368" cy="69646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1</a:t>
              </a:r>
            </a:p>
          </p:txBody>
        </p:sp>
      </p:grpSp>
      <p:grpSp>
        <p:nvGrpSpPr>
          <p:cNvPr name="Group 20" id="20"/>
          <p:cNvGrpSpPr/>
          <p:nvPr/>
        </p:nvGrpSpPr>
        <p:grpSpPr>
          <a:xfrm rot="0">
            <a:off x="1783080" y="2688336"/>
            <a:ext cx="4046220" cy="438912"/>
            <a:chOff x="0" y="0"/>
            <a:chExt cx="5394960" cy="585216"/>
          </a:xfrm>
        </p:grpSpPr>
        <p:sp>
          <p:nvSpPr>
            <p:cNvPr name="Freeform 21" id="21"/>
            <p:cNvSpPr/>
            <p:nvPr/>
          </p:nvSpPr>
          <p:spPr>
            <a:xfrm flipH="false" flipV="false" rot="0">
              <a:off x="0" y="0"/>
              <a:ext cx="5394960" cy="585216"/>
            </a:xfrm>
            <a:custGeom>
              <a:avLst/>
              <a:gdLst/>
              <a:ahLst/>
              <a:cxnLst/>
              <a:rect r="r" b="b" t="t" l="l"/>
              <a:pathLst>
                <a:path h="585216" w="5394960">
                  <a:moveTo>
                    <a:pt x="0" y="0"/>
                  </a:moveTo>
                  <a:lnTo>
                    <a:pt x="5394960" y="0"/>
                  </a:lnTo>
                  <a:lnTo>
                    <a:pt x="5394960" y="585216"/>
                  </a:lnTo>
                  <a:lnTo>
                    <a:pt x="0" y="585216"/>
                  </a:lnTo>
                  <a:close/>
                </a:path>
              </a:pathLst>
            </a:custGeom>
            <a:blipFill>
              <a:blip r:embed="rId2">
                <a:alphaModFix amt="0"/>
              </a:blip>
              <a:stretch>
                <a:fillRect l="0" t="-129627" r="0" b="-129627"/>
              </a:stretch>
            </a:blipFill>
          </p:spPr>
        </p:sp>
        <p:sp>
          <p:nvSpPr>
            <p:cNvPr name="TextBox 22" id="22"/>
            <p:cNvSpPr txBox="true"/>
            <p:nvPr/>
          </p:nvSpPr>
          <p:spPr>
            <a:xfrm>
              <a:off x="0" y="-38100"/>
              <a:ext cx="5394960" cy="623316"/>
            </a:xfrm>
            <a:prstGeom prst="rect">
              <a:avLst/>
            </a:prstGeom>
          </p:spPr>
          <p:txBody>
            <a:bodyPr anchor="ctr" rtlCol="false" tIns="0" lIns="0" bIns="0" rIns="0"/>
            <a:lstStyle/>
            <a:p>
              <a:pPr algn="l">
                <a:lnSpc>
                  <a:spcPts val="2430"/>
                </a:lnSpc>
              </a:pPr>
              <a:r>
                <a:rPr lang="en-US" sz="2025" b="true">
                  <a:solidFill>
                    <a:srgbClr val="0A2540"/>
                  </a:solidFill>
                  <a:latin typeface="Calibri (MS) Bold"/>
                  <a:ea typeface="Calibri (MS) Bold"/>
                  <a:cs typeface="Calibri (MS) Bold"/>
                  <a:sym typeface="Calibri (MS) Bold"/>
                </a:rPr>
                <a:t>Transaction data</a:t>
              </a:r>
            </a:p>
          </p:txBody>
        </p:sp>
      </p:grpSp>
      <p:grpSp>
        <p:nvGrpSpPr>
          <p:cNvPr name="Group 23" id="23"/>
          <p:cNvGrpSpPr/>
          <p:nvPr/>
        </p:nvGrpSpPr>
        <p:grpSpPr>
          <a:xfrm rot="0">
            <a:off x="1124712" y="3346704"/>
            <a:ext cx="4732020" cy="1303020"/>
            <a:chOff x="0" y="0"/>
            <a:chExt cx="6309360" cy="1737360"/>
          </a:xfrm>
        </p:grpSpPr>
        <p:sp>
          <p:nvSpPr>
            <p:cNvPr name="Freeform 24" id="24"/>
            <p:cNvSpPr/>
            <p:nvPr/>
          </p:nvSpPr>
          <p:spPr>
            <a:xfrm flipH="false" flipV="false" rot="0">
              <a:off x="0" y="0"/>
              <a:ext cx="6309360" cy="1737360"/>
            </a:xfrm>
            <a:custGeom>
              <a:avLst/>
              <a:gdLst/>
              <a:ahLst/>
              <a:cxnLst/>
              <a:rect r="r" b="b" t="t" l="l"/>
              <a:pathLst>
                <a:path h="1737360" w="6309360">
                  <a:moveTo>
                    <a:pt x="0" y="0"/>
                  </a:moveTo>
                  <a:lnTo>
                    <a:pt x="6309360" y="0"/>
                  </a:lnTo>
                  <a:lnTo>
                    <a:pt x="6309360" y="1737360"/>
                  </a:lnTo>
                  <a:lnTo>
                    <a:pt x="0" y="1737360"/>
                  </a:lnTo>
                  <a:close/>
                </a:path>
              </a:pathLst>
            </a:custGeom>
            <a:blipFill>
              <a:blip r:embed="rId2">
                <a:alphaModFix amt="0"/>
              </a:blip>
              <a:stretch>
                <a:fillRect l="0" t="-20761" r="0" b="-20761"/>
              </a:stretch>
            </a:blipFill>
          </p:spPr>
        </p:sp>
        <p:sp>
          <p:nvSpPr>
            <p:cNvPr name="TextBox 25" id="25"/>
            <p:cNvSpPr txBox="true"/>
            <p:nvPr/>
          </p:nvSpPr>
          <p:spPr>
            <a:xfrm>
              <a:off x="0" y="-57150"/>
              <a:ext cx="6309360" cy="1794510"/>
            </a:xfrm>
            <a:prstGeom prst="rect">
              <a:avLst/>
            </a:prstGeom>
          </p:spPr>
          <p:txBody>
            <a:bodyPr anchor="ctr" rtlCol="false" tIns="0" lIns="0" bIns="0" rIns="0"/>
            <a:lstStyle/>
            <a:p>
              <a:pPr algn="l">
                <a:lnSpc>
                  <a:spcPts val="2250"/>
                </a:lnSpc>
              </a:pPr>
              <a:r>
                <a:rPr lang="en-US" sz="1650">
                  <a:solidFill>
                    <a:srgbClr val="5A6B7C"/>
                  </a:solidFill>
                  <a:latin typeface="Calibri (MS)"/>
                  <a:ea typeface="Calibri (MS)"/>
                  <a:cs typeface="Calibri (MS)"/>
                  <a:sym typeface="Calibri (MS)"/>
                </a:rPr>
                <a:t>Amount, timestamp, channel (UPI / card / net banking), merchant category, beneficiary account, device and IP address.</a:t>
              </a:r>
            </a:p>
          </p:txBody>
        </p:sp>
      </p:grpSp>
      <p:grpSp>
        <p:nvGrpSpPr>
          <p:cNvPr name="Group 26" id="26"/>
          <p:cNvGrpSpPr/>
          <p:nvPr/>
        </p:nvGrpSpPr>
        <p:grpSpPr>
          <a:xfrm rot="0">
            <a:off x="6464427" y="2349627"/>
            <a:ext cx="5340858" cy="2460498"/>
            <a:chOff x="0" y="0"/>
            <a:chExt cx="7121144" cy="3280664"/>
          </a:xfrm>
        </p:grpSpPr>
        <p:sp>
          <p:nvSpPr>
            <p:cNvPr name="Freeform 27" id="27"/>
            <p:cNvSpPr/>
            <p:nvPr/>
          </p:nvSpPr>
          <p:spPr>
            <a:xfrm flipH="false" flipV="false" rot="0">
              <a:off x="0" y="0"/>
              <a:ext cx="7121144" cy="3280664"/>
            </a:xfrm>
            <a:custGeom>
              <a:avLst/>
              <a:gdLst/>
              <a:ahLst/>
              <a:cxnLst/>
              <a:rect r="r" b="b" t="t" l="l"/>
              <a:pathLst>
                <a:path h="3280664" w="7121144">
                  <a:moveTo>
                    <a:pt x="0" y="147447"/>
                  </a:moveTo>
                  <a:cubicBezTo>
                    <a:pt x="0" y="66040"/>
                    <a:pt x="66040" y="0"/>
                    <a:pt x="147447" y="0"/>
                  </a:cubicBezTo>
                  <a:lnTo>
                    <a:pt x="6973697" y="0"/>
                  </a:lnTo>
                  <a:cubicBezTo>
                    <a:pt x="7055104" y="0"/>
                    <a:pt x="7121144" y="66040"/>
                    <a:pt x="7121144" y="147447"/>
                  </a:cubicBezTo>
                  <a:lnTo>
                    <a:pt x="7121144" y="3133217"/>
                  </a:lnTo>
                  <a:cubicBezTo>
                    <a:pt x="7121144" y="3214624"/>
                    <a:pt x="7055104" y="3280664"/>
                    <a:pt x="6973697" y="3280664"/>
                  </a:cubicBezTo>
                  <a:lnTo>
                    <a:pt x="147447" y="3280664"/>
                  </a:lnTo>
                  <a:cubicBezTo>
                    <a:pt x="66040" y="3280664"/>
                    <a:pt x="0" y="3214624"/>
                    <a:pt x="0" y="3133217"/>
                  </a:cubicBezTo>
                  <a:close/>
                </a:path>
              </a:pathLst>
            </a:custGeom>
            <a:solidFill>
              <a:srgbClr val="FFFFFF"/>
            </a:solidFill>
            <a:ln w="19050" cap="sq">
              <a:solidFill>
                <a:srgbClr val="DCE4EC"/>
              </a:solidFill>
              <a:prstDash val="solid"/>
              <a:miter/>
            </a:ln>
          </p:spPr>
        </p:sp>
      </p:grpSp>
      <p:grpSp>
        <p:nvGrpSpPr>
          <p:cNvPr name="Group 28" id="28"/>
          <p:cNvGrpSpPr/>
          <p:nvPr/>
        </p:nvGrpSpPr>
        <p:grpSpPr>
          <a:xfrm rot="0">
            <a:off x="6775704" y="2660904"/>
            <a:ext cx="493776" cy="493776"/>
            <a:chOff x="0" y="0"/>
            <a:chExt cx="658368" cy="658368"/>
          </a:xfrm>
        </p:grpSpPr>
        <p:sp>
          <p:nvSpPr>
            <p:cNvPr name="Freeform 29" id="29"/>
            <p:cNvSpPr/>
            <p:nvPr/>
          </p:nvSpPr>
          <p:spPr>
            <a:xfrm flipH="false" flipV="false" rot="0">
              <a:off x="0" y="0"/>
              <a:ext cx="658368" cy="658368"/>
            </a:xfrm>
            <a:custGeom>
              <a:avLst/>
              <a:gdLst/>
              <a:ahLst/>
              <a:cxnLst/>
              <a:rect r="r" b="b" t="t" l="l"/>
              <a:pathLst>
                <a:path h="658368" w="658368">
                  <a:moveTo>
                    <a:pt x="0" y="109728"/>
                  </a:moveTo>
                  <a:cubicBezTo>
                    <a:pt x="0" y="49149"/>
                    <a:pt x="49149" y="0"/>
                    <a:pt x="109728" y="0"/>
                  </a:cubicBezTo>
                  <a:lnTo>
                    <a:pt x="548640" y="0"/>
                  </a:lnTo>
                  <a:cubicBezTo>
                    <a:pt x="609219" y="0"/>
                    <a:pt x="658368" y="49149"/>
                    <a:pt x="658368" y="109728"/>
                  </a:cubicBezTo>
                  <a:lnTo>
                    <a:pt x="658368" y="548640"/>
                  </a:lnTo>
                  <a:cubicBezTo>
                    <a:pt x="658368" y="609219"/>
                    <a:pt x="609219" y="658368"/>
                    <a:pt x="548640" y="658368"/>
                  </a:cubicBezTo>
                  <a:lnTo>
                    <a:pt x="109728" y="658368"/>
                  </a:lnTo>
                  <a:cubicBezTo>
                    <a:pt x="49149" y="658368"/>
                    <a:pt x="0" y="609219"/>
                    <a:pt x="0" y="548640"/>
                  </a:cubicBezTo>
                  <a:close/>
                </a:path>
              </a:pathLst>
            </a:custGeom>
            <a:solidFill>
              <a:srgbClr val="004C8F"/>
            </a:solidFill>
          </p:spPr>
        </p:sp>
      </p:grpSp>
      <p:grpSp>
        <p:nvGrpSpPr>
          <p:cNvPr name="Group 30" id="30"/>
          <p:cNvGrpSpPr/>
          <p:nvPr/>
        </p:nvGrpSpPr>
        <p:grpSpPr>
          <a:xfrm rot="0">
            <a:off x="6775704" y="2660904"/>
            <a:ext cx="493776" cy="493776"/>
            <a:chOff x="0" y="0"/>
            <a:chExt cx="658368" cy="658368"/>
          </a:xfrm>
        </p:grpSpPr>
        <p:sp>
          <p:nvSpPr>
            <p:cNvPr name="Freeform 31" id="31"/>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close/>
                </a:path>
              </a:pathLst>
            </a:custGeom>
            <a:blipFill>
              <a:blip r:embed="rId2">
                <a:alphaModFix amt="0"/>
              </a:blip>
              <a:stretch>
                <a:fillRect l="-78303" t="0" r="-78303" b="0"/>
              </a:stretch>
            </a:blipFill>
          </p:spPr>
        </p:sp>
        <p:sp>
          <p:nvSpPr>
            <p:cNvPr name="TextBox 32" id="32"/>
            <p:cNvSpPr txBox="true"/>
            <p:nvPr/>
          </p:nvSpPr>
          <p:spPr>
            <a:xfrm>
              <a:off x="0" y="-38100"/>
              <a:ext cx="658368" cy="69646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2</a:t>
              </a:r>
            </a:p>
          </p:txBody>
        </p:sp>
      </p:grpSp>
      <p:grpSp>
        <p:nvGrpSpPr>
          <p:cNvPr name="Group 33" id="33"/>
          <p:cNvGrpSpPr/>
          <p:nvPr/>
        </p:nvGrpSpPr>
        <p:grpSpPr>
          <a:xfrm rot="0">
            <a:off x="7434072" y="2688336"/>
            <a:ext cx="4046220" cy="438912"/>
            <a:chOff x="0" y="0"/>
            <a:chExt cx="5394960" cy="585216"/>
          </a:xfrm>
        </p:grpSpPr>
        <p:sp>
          <p:nvSpPr>
            <p:cNvPr name="Freeform 34" id="34"/>
            <p:cNvSpPr/>
            <p:nvPr/>
          </p:nvSpPr>
          <p:spPr>
            <a:xfrm flipH="false" flipV="false" rot="0">
              <a:off x="0" y="0"/>
              <a:ext cx="5394960" cy="585216"/>
            </a:xfrm>
            <a:custGeom>
              <a:avLst/>
              <a:gdLst/>
              <a:ahLst/>
              <a:cxnLst/>
              <a:rect r="r" b="b" t="t" l="l"/>
              <a:pathLst>
                <a:path h="585216" w="5394960">
                  <a:moveTo>
                    <a:pt x="0" y="0"/>
                  </a:moveTo>
                  <a:lnTo>
                    <a:pt x="5394960" y="0"/>
                  </a:lnTo>
                  <a:lnTo>
                    <a:pt x="5394960" y="585216"/>
                  </a:lnTo>
                  <a:lnTo>
                    <a:pt x="0" y="585216"/>
                  </a:lnTo>
                  <a:close/>
                </a:path>
              </a:pathLst>
            </a:custGeom>
            <a:blipFill>
              <a:blip r:embed="rId2">
                <a:alphaModFix amt="0"/>
              </a:blip>
              <a:stretch>
                <a:fillRect l="0" t="-129627" r="0" b="-129627"/>
              </a:stretch>
            </a:blipFill>
          </p:spPr>
        </p:sp>
        <p:sp>
          <p:nvSpPr>
            <p:cNvPr name="TextBox 35" id="35"/>
            <p:cNvSpPr txBox="true"/>
            <p:nvPr/>
          </p:nvSpPr>
          <p:spPr>
            <a:xfrm>
              <a:off x="0" y="-38100"/>
              <a:ext cx="5394960" cy="623316"/>
            </a:xfrm>
            <a:prstGeom prst="rect">
              <a:avLst/>
            </a:prstGeom>
          </p:spPr>
          <p:txBody>
            <a:bodyPr anchor="ctr" rtlCol="false" tIns="0" lIns="0" bIns="0" rIns="0"/>
            <a:lstStyle/>
            <a:p>
              <a:pPr algn="l">
                <a:lnSpc>
                  <a:spcPts val="2430"/>
                </a:lnSpc>
              </a:pPr>
              <a:r>
                <a:rPr lang="en-US" sz="2025" b="true">
                  <a:solidFill>
                    <a:srgbClr val="0A2540"/>
                  </a:solidFill>
                  <a:latin typeface="Calibri (MS) Bold"/>
                  <a:ea typeface="Calibri (MS) Bold"/>
                  <a:cs typeface="Calibri (MS) Bold"/>
                  <a:sym typeface="Calibri (MS) Bold"/>
                </a:rPr>
                <a:t>Customer profile</a:t>
              </a:r>
            </a:p>
          </p:txBody>
        </p:sp>
      </p:grpSp>
      <p:grpSp>
        <p:nvGrpSpPr>
          <p:cNvPr name="Group 36" id="36"/>
          <p:cNvGrpSpPr/>
          <p:nvPr/>
        </p:nvGrpSpPr>
        <p:grpSpPr>
          <a:xfrm rot="0">
            <a:off x="6775704" y="3346704"/>
            <a:ext cx="4732020" cy="1303020"/>
            <a:chOff x="0" y="0"/>
            <a:chExt cx="6309360" cy="1737360"/>
          </a:xfrm>
        </p:grpSpPr>
        <p:sp>
          <p:nvSpPr>
            <p:cNvPr name="Freeform 37" id="37"/>
            <p:cNvSpPr/>
            <p:nvPr/>
          </p:nvSpPr>
          <p:spPr>
            <a:xfrm flipH="false" flipV="false" rot="0">
              <a:off x="0" y="0"/>
              <a:ext cx="6309360" cy="1737360"/>
            </a:xfrm>
            <a:custGeom>
              <a:avLst/>
              <a:gdLst/>
              <a:ahLst/>
              <a:cxnLst/>
              <a:rect r="r" b="b" t="t" l="l"/>
              <a:pathLst>
                <a:path h="1737360" w="6309360">
                  <a:moveTo>
                    <a:pt x="0" y="0"/>
                  </a:moveTo>
                  <a:lnTo>
                    <a:pt x="6309360" y="0"/>
                  </a:lnTo>
                  <a:lnTo>
                    <a:pt x="6309360" y="1737360"/>
                  </a:lnTo>
                  <a:lnTo>
                    <a:pt x="0" y="1737360"/>
                  </a:lnTo>
                  <a:close/>
                </a:path>
              </a:pathLst>
            </a:custGeom>
            <a:blipFill>
              <a:blip r:embed="rId2">
                <a:alphaModFix amt="0"/>
              </a:blip>
              <a:stretch>
                <a:fillRect l="0" t="-20761" r="0" b="-20761"/>
              </a:stretch>
            </a:blipFill>
          </p:spPr>
        </p:sp>
        <p:sp>
          <p:nvSpPr>
            <p:cNvPr name="TextBox 38" id="38"/>
            <p:cNvSpPr txBox="true"/>
            <p:nvPr/>
          </p:nvSpPr>
          <p:spPr>
            <a:xfrm>
              <a:off x="0" y="-57150"/>
              <a:ext cx="6309360" cy="1794510"/>
            </a:xfrm>
            <a:prstGeom prst="rect">
              <a:avLst/>
            </a:prstGeom>
          </p:spPr>
          <p:txBody>
            <a:bodyPr anchor="ctr" rtlCol="false" tIns="0" lIns="0" bIns="0" rIns="0"/>
            <a:lstStyle/>
            <a:p>
              <a:pPr algn="l">
                <a:lnSpc>
                  <a:spcPts val="2250"/>
                </a:lnSpc>
              </a:pPr>
              <a:r>
                <a:rPr lang="en-US" sz="1650">
                  <a:solidFill>
                    <a:srgbClr val="5A6B7C"/>
                  </a:solidFill>
                  <a:latin typeface="Calibri (MS)"/>
                  <a:ea typeface="Calibri (MS)"/>
                  <a:cs typeface="Calibri (MS)"/>
                  <a:sym typeface="Calibri (MS)"/>
                </a:rPr>
                <a:t>Age, occupation, income band, account vintage, KYC details, product holdings, risk category.</a:t>
              </a:r>
            </a:p>
          </p:txBody>
        </p:sp>
      </p:grpSp>
      <p:grpSp>
        <p:nvGrpSpPr>
          <p:cNvPr name="Group 39" id="39"/>
          <p:cNvGrpSpPr/>
          <p:nvPr/>
        </p:nvGrpSpPr>
        <p:grpSpPr>
          <a:xfrm rot="0">
            <a:off x="12115419" y="2349627"/>
            <a:ext cx="5340858" cy="2460498"/>
            <a:chOff x="0" y="0"/>
            <a:chExt cx="7121144" cy="3280664"/>
          </a:xfrm>
        </p:grpSpPr>
        <p:sp>
          <p:nvSpPr>
            <p:cNvPr name="Freeform 40" id="40"/>
            <p:cNvSpPr/>
            <p:nvPr/>
          </p:nvSpPr>
          <p:spPr>
            <a:xfrm flipH="false" flipV="false" rot="0">
              <a:off x="0" y="0"/>
              <a:ext cx="7121144" cy="3280664"/>
            </a:xfrm>
            <a:custGeom>
              <a:avLst/>
              <a:gdLst/>
              <a:ahLst/>
              <a:cxnLst/>
              <a:rect r="r" b="b" t="t" l="l"/>
              <a:pathLst>
                <a:path h="3280664" w="7121144">
                  <a:moveTo>
                    <a:pt x="0" y="147447"/>
                  </a:moveTo>
                  <a:cubicBezTo>
                    <a:pt x="0" y="66040"/>
                    <a:pt x="66040" y="0"/>
                    <a:pt x="147447" y="0"/>
                  </a:cubicBezTo>
                  <a:lnTo>
                    <a:pt x="6973697" y="0"/>
                  </a:lnTo>
                  <a:cubicBezTo>
                    <a:pt x="7055104" y="0"/>
                    <a:pt x="7121144" y="66040"/>
                    <a:pt x="7121144" y="147447"/>
                  </a:cubicBezTo>
                  <a:lnTo>
                    <a:pt x="7121144" y="3133217"/>
                  </a:lnTo>
                  <a:cubicBezTo>
                    <a:pt x="7121144" y="3214624"/>
                    <a:pt x="7055104" y="3280664"/>
                    <a:pt x="6973697" y="3280664"/>
                  </a:cubicBezTo>
                  <a:lnTo>
                    <a:pt x="147447" y="3280664"/>
                  </a:lnTo>
                  <a:cubicBezTo>
                    <a:pt x="66040" y="3280664"/>
                    <a:pt x="0" y="3214624"/>
                    <a:pt x="0" y="3133217"/>
                  </a:cubicBezTo>
                  <a:close/>
                </a:path>
              </a:pathLst>
            </a:custGeom>
            <a:solidFill>
              <a:srgbClr val="FFFFFF"/>
            </a:solidFill>
            <a:ln w="19050" cap="sq">
              <a:solidFill>
                <a:srgbClr val="DCE4EC"/>
              </a:solidFill>
              <a:prstDash val="solid"/>
              <a:miter/>
            </a:ln>
          </p:spPr>
        </p:sp>
      </p:grpSp>
      <p:grpSp>
        <p:nvGrpSpPr>
          <p:cNvPr name="Group 41" id="41"/>
          <p:cNvGrpSpPr/>
          <p:nvPr/>
        </p:nvGrpSpPr>
        <p:grpSpPr>
          <a:xfrm rot="0">
            <a:off x="12426696" y="2660904"/>
            <a:ext cx="493776" cy="493776"/>
            <a:chOff x="0" y="0"/>
            <a:chExt cx="658368" cy="658368"/>
          </a:xfrm>
        </p:grpSpPr>
        <p:sp>
          <p:nvSpPr>
            <p:cNvPr name="Freeform 42" id="42"/>
            <p:cNvSpPr/>
            <p:nvPr/>
          </p:nvSpPr>
          <p:spPr>
            <a:xfrm flipH="false" flipV="false" rot="0">
              <a:off x="0" y="0"/>
              <a:ext cx="658368" cy="658368"/>
            </a:xfrm>
            <a:custGeom>
              <a:avLst/>
              <a:gdLst/>
              <a:ahLst/>
              <a:cxnLst/>
              <a:rect r="r" b="b" t="t" l="l"/>
              <a:pathLst>
                <a:path h="658368" w="658368">
                  <a:moveTo>
                    <a:pt x="0" y="109728"/>
                  </a:moveTo>
                  <a:cubicBezTo>
                    <a:pt x="0" y="49149"/>
                    <a:pt x="49149" y="0"/>
                    <a:pt x="109728" y="0"/>
                  </a:cubicBezTo>
                  <a:lnTo>
                    <a:pt x="548640" y="0"/>
                  </a:lnTo>
                  <a:cubicBezTo>
                    <a:pt x="609219" y="0"/>
                    <a:pt x="658368" y="49149"/>
                    <a:pt x="658368" y="109728"/>
                  </a:cubicBezTo>
                  <a:lnTo>
                    <a:pt x="658368" y="548640"/>
                  </a:lnTo>
                  <a:cubicBezTo>
                    <a:pt x="658368" y="609219"/>
                    <a:pt x="609219" y="658368"/>
                    <a:pt x="548640" y="658368"/>
                  </a:cubicBezTo>
                  <a:lnTo>
                    <a:pt x="109728" y="658368"/>
                  </a:lnTo>
                  <a:cubicBezTo>
                    <a:pt x="49149" y="658368"/>
                    <a:pt x="0" y="609219"/>
                    <a:pt x="0" y="548640"/>
                  </a:cubicBezTo>
                  <a:close/>
                </a:path>
              </a:pathLst>
            </a:custGeom>
            <a:solidFill>
              <a:srgbClr val="004C8F"/>
            </a:solidFill>
          </p:spPr>
        </p:sp>
      </p:grpSp>
      <p:grpSp>
        <p:nvGrpSpPr>
          <p:cNvPr name="Group 43" id="43"/>
          <p:cNvGrpSpPr/>
          <p:nvPr/>
        </p:nvGrpSpPr>
        <p:grpSpPr>
          <a:xfrm rot="0">
            <a:off x="12426696" y="2660904"/>
            <a:ext cx="493776" cy="493776"/>
            <a:chOff x="0" y="0"/>
            <a:chExt cx="658368" cy="658368"/>
          </a:xfrm>
        </p:grpSpPr>
        <p:sp>
          <p:nvSpPr>
            <p:cNvPr name="Freeform 44" id="44"/>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close/>
                </a:path>
              </a:pathLst>
            </a:custGeom>
            <a:blipFill>
              <a:blip r:embed="rId2">
                <a:alphaModFix amt="0"/>
              </a:blip>
              <a:stretch>
                <a:fillRect l="-78303" t="0" r="-78303" b="0"/>
              </a:stretch>
            </a:blipFill>
          </p:spPr>
        </p:sp>
        <p:sp>
          <p:nvSpPr>
            <p:cNvPr name="TextBox 45" id="45"/>
            <p:cNvSpPr txBox="true"/>
            <p:nvPr/>
          </p:nvSpPr>
          <p:spPr>
            <a:xfrm>
              <a:off x="0" y="-38100"/>
              <a:ext cx="658368" cy="69646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3</a:t>
              </a:r>
            </a:p>
          </p:txBody>
        </p:sp>
      </p:grpSp>
      <p:grpSp>
        <p:nvGrpSpPr>
          <p:cNvPr name="Group 46" id="46"/>
          <p:cNvGrpSpPr/>
          <p:nvPr/>
        </p:nvGrpSpPr>
        <p:grpSpPr>
          <a:xfrm rot="0">
            <a:off x="13085064" y="2688336"/>
            <a:ext cx="4046220" cy="438912"/>
            <a:chOff x="0" y="0"/>
            <a:chExt cx="5394960" cy="585216"/>
          </a:xfrm>
        </p:grpSpPr>
        <p:sp>
          <p:nvSpPr>
            <p:cNvPr name="Freeform 47" id="47"/>
            <p:cNvSpPr/>
            <p:nvPr/>
          </p:nvSpPr>
          <p:spPr>
            <a:xfrm flipH="false" flipV="false" rot="0">
              <a:off x="0" y="0"/>
              <a:ext cx="5394960" cy="585216"/>
            </a:xfrm>
            <a:custGeom>
              <a:avLst/>
              <a:gdLst/>
              <a:ahLst/>
              <a:cxnLst/>
              <a:rect r="r" b="b" t="t" l="l"/>
              <a:pathLst>
                <a:path h="585216" w="5394960">
                  <a:moveTo>
                    <a:pt x="0" y="0"/>
                  </a:moveTo>
                  <a:lnTo>
                    <a:pt x="5394960" y="0"/>
                  </a:lnTo>
                  <a:lnTo>
                    <a:pt x="5394960" y="585216"/>
                  </a:lnTo>
                  <a:lnTo>
                    <a:pt x="0" y="585216"/>
                  </a:lnTo>
                  <a:close/>
                </a:path>
              </a:pathLst>
            </a:custGeom>
            <a:blipFill>
              <a:blip r:embed="rId2">
                <a:alphaModFix amt="0"/>
              </a:blip>
              <a:stretch>
                <a:fillRect l="0" t="-129627" r="0" b="-129627"/>
              </a:stretch>
            </a:blipFill>
          </p:spPr>
        </p:sp>
        <p:sp>
          <p:nvSpPr>
            <p:cNvPr name="TextBox 48" id="48"/>
            <p:cNvSpPr txBox="true"/>
            <p:nvPr/>
          </p:nvSpPr>
          <p:spPr>
            <a:xfrm>
              <a:off x="0" y="-38100"/>
              <a:ext cx="5394960" cy="623316"/>
            </a:xfrm>
            <a:prstGeom prst="rect">
              <a:avLst/>
            </a:prstGeom>
          </p:spPr>
          <p:txBody>
            <a:bodyPr anchor="ctr" rtlCol="false" tIns="0" lIns="0" bIns="0" rIns="0"/>
            <a:lstStyle/>
            <a:p>
              <a:pPr algn="l">
                <a:lnSpc>
                  <a:spcPts val="2430"/>
                </a:lnSpc>
              </a:pPr>
              <a:r>
                <a:rPr lang="en-US" sz="2025" b="true">
                  <a:solidFill>
                    <a:srgbClr val="0A2540"/>
                  </a:solidFill>
                  <a:latin typeface="Calibri (MS) Bold"/>
                  <a:ea typeface="Calibri (MS) Bold"/>
                  <a:cs typeface="Calibri (MS) Bold"/>
                  <a:sym typeface="Calibri (MS) Bold"/>
                </a:rPr>
                <a:t>Behavioural history</a:t>
              </a:r>
            </a:p>
          </p:txBody>
        </p:sp>
      </p:grpSp>
      <p:grpSp>
        <p:nvGrpSpPr>
          <p:cNvPr name="Group 49" id="49"/>
          <p:cNvGrpSpPr/>
          <p:nvPr/>
        </p:nvGrpSpPr>
        <p:grpSpPr>
          <a:xfrm rot="0">
            <a:off x="12426696" y="3346704"/>
            <a:ext cx="4732020" cy="1303020"/>
            <a:chOff x="0" y="0"/>
            <a:chExt cx="6309360" cy="1737360"/>
          </a:xfrm>
        </p:grpSpPr>
        <p:sp>
          <p:nvSpPr>
            <p:cNvPr name="Freeform 50" id="50"/>
            <p:cNvSpPr/>
            <p:nvPr/>
          </p:nvSpPr>
          <p:spPr>
            <a:xfrm flipH="false" flipV="false" rot="0">
              <a:off x="0" y="0"/>
              <a:ext cx="6309360" cy="1737360"/>
            </a:xfrm>
            <a:custGeom>
              <a:avLst/>
              <a:gdLst/>
              <a:ahLst/>
              <a:cxnLst/>
              <a:rect r="r" b="b" t="t" l="l"/>
              <a:pathLst>
                <a:path h="1737360" w="6309360">
                  <a:moveTo>
                    <a:pt x="0" y="0"/>
                  </a:moveTo>
                  <a:lnTo>
                    <a:pt x="6309360" y="0"/>
                  </a:lnTo>
                  <a:lnTo>
                    <a:pt x="6309360" y="1737360"/>
                  </a:lnTo>
                  <a:lnTo>
                    <a:pt x="0" y="1737360"/>
                  </a:lnTo>
                  <a:close/>
                </a:path>
              </a:pathLst>
            </a:custGeom>
            <a:blipFill>
              <a:blip r:embed="rId2">
                <a:alphaModFix amt="0"/>
              </a:blip>
              <a:stretch>
                <a:fillRect l="0" t="-20761" r="0" b="-20761"/>
              </a:stretch>
            </a:blipFill>
          </p:spPr>
        </p:sp>
        <p:sp>
          <p:nvSpPr>
            <p:cNvPr name="TextBox 51" id="51"/>
            <p:cNvSpPr txBox="true"/>
            <p:nvPr/>
          </p:nvSpPr>
          <p:spPr>
            <a:xfrm>
              <a:off x="0" y="-57150"/>
              <a:ext cx="6309360" cy="1794510"/>
            </a:xfrm>
            <a:prstGeom prst="rect">
              <a:avLst/>
            </a:prstGeom>
          </p:spPr>
          <p:txBody>
            <a:bodyPr anchor="ctr" rtlCol="false" tIns="0" lIns="0" bIns="0" rIns="0"/>
            <a:lstStyle/>
            <a:p>
              <a:pPr algn="l">
                <a:lnSpc>
                  <a:spcPts val="2250"/>
                </a:lnSpc>
              </a:pPr>
              <a:r>
                <a:rPr lang="en-US" sz="1650">
                  <a:solidFill>
                    <a:srgbClr val="5A6B7C"/>
                  </a:solidFill>
                  <a:latin typeface="Calibri (MS)"/>
                  <a:ea typeface="Calibri (MS)"/>
                  <a:cs typeface="Calibri (MS)"/>
                  <a:sym typeface="Calibri (MS)"/>
                </a:rPr>
                <a:t>Typical spending amounts, usual transaction times, frequent merchants, home location, historic velocity of payments.</a:t>
              </a:r>
            </a:p>
          </p:txBody>
        </p:sp>
      </p:grpSp>
      <p:grpSp>
        <p:nvGrpSpPr>
          <p:cNvPr name="Group 52" id="52"/>
          <p:cNvGrpSpPr/>
          <p:nvPr/>
        </p:nvGrpSpPr>
        <p:grpSpPr>
          <a:xfrm rot="0">
            <a:off x="813435" y="5161407"/>
            <a:ext cx="5340858" cy="2460498"/>
            <a:chOff x="0" y="0"/>
            <a:chExt cx="7121144" cy="3280664"/>
          </a:xfrm>
        </p:grpSpPr>
        <p:sp>
          <p:nvSpPr>
            <p:cNvPr name="Freeform 53" id="53"/>
            <p:cNvSpPr/>
            <p:nvPr/>
          </p:nvSpPr>
          <p:spPr>
            <a:xfrm flipH="false" flipV="false" rot="0">
              <a:off x="0" y="0"/>
              <a:ext cx="7121144" cy="3280664"/>
            </a:xfrm>
            <a:custGeom>
              <a:avLst/>
              <a:gdLst/>
              <a:ahLst/>
              <a:cxnLst/>
              <a:rect r="r" b="b" t="t" l="l"/>
              <a:pathLst>
                <a:path h="3280664" w="7121144">
                  <a:moveTo>
                    <a:pt x="0" y="147447"/>
                  </a:moveTo>
                  <a:cubicBezTo>
                    <a:pt x="0" y="66040"/>
                    <a:pt x="66040" y="0"/>
                    <a:pt x="147447" y="0"/>
                  </a:cubicBezTo>
                  <a:lnTo>
                    <a:pt x="6973697" y="0"/>
                  </a:lnTo>
                  <a:cubicBezTo>
                    <a:pt x="7055104" y="0"/>
                    <a:pt x="7121144" y="66040"/>
                    <a:pt x="7121144" y="147447"/>
                  </a:cubicBezTo>
                  <a:lnTo>
                    <a:pt x="7121144" y="3133217"/>
                  </a:lnTo>
                  <a:cubicBezTo>
                    <a:pt x="7121144" y="3214624"/>
                    <a:pt x="7055104" y="3280664"/>
                    <a:pt x="6973697" y="3280664"/>
                  </a:cubicBezTo>
                  <a:lnTo>
                    <a:pt x="147447" y="3280664"/>
                  </a:lnTo>
                  <a:cubicBezTo>
                    <a:pt x="66040" y="3280664"/>
                    <a:pt x="0" y="3214624"/>
                    <a:pt x="0" y="3133217"/>
                  </a:cubicBezTo>
                  <a:close/>
                </a:path>
              </a:pathLst>
            </a:custGeom>
            <a:solidFill>
              <a:srgbClr val="FFFFFF"/>
            </a:solidFill>
            <a:ln w="19050" cap="sq">
              <a:solidFill>
                <a:srgbClr val="DCE4EC"/>
              </a:solidFill>
              <a:prstDash val="solid"/>
              <a:miter/>
            </a:ln>
          </p:spPr>
        </p:sp>
      </p:grpSp>
      <p:grpSp>
        <p:nvGrpSpPr>
          <p:cNvPr name="Group 54" id="54"/>
          <p:cNvGrpSpPr/>
          <p:nvPr/>
        </p:nvGrpSpPr>
        <p:grpSpPr>
          <a:xfrm rot="0">
            <a:off x="1124712" y="5472684"/>
            <a:ext cx="493776" cy="493776"/>
            <a:chOff x="0" y="0"/>
            <a:chExt cx="658368" cy="658368"/>
          </a:xfrm>
        </p:grpSpPr>
        <p:sp>
          <p:nvSpPr>
            <p:cNvPr name="Freeform 55" id="55"/>
            <p:cNvSpPr/>
            <p:nvPr/>
          </p:nvSpPr>
          <p:spPr>
            <a:xfrm flipH="false" flipV="false" rot="0">
              <a:off x="0" y="0"/>
              <a:ext cx="658368" cy="658368"/>
            </a:xfrm>
            <a:custGeom>
              <a:avLst/>
              <a:gdLst/>
              <a:ahLst/>
              <a:cxnLst/>
              <a:rect r="r" b="b" t="t" l="l"/>
              <a:pathLst>
                <a:path h="658368" w="658368">
                  <a:moveTo>
                    <a:pt x="0" y="109728"/>
                  </a:moveTo>
                  <a:cubicBezTo>
                    <a:pt x="0" y="49149"/>
                    <a:pt x="49149" y="0"/>
                    <a:pt x="109728" y="0"/>
                  </a:cubicBezTo>
                  <a:lnTo>
                    <a:pt x="548640" y="0"/>
                  </a:lnTo>
                  <a:cubicBezTo>
                    <a:pt x="609219" y="0"/>
                    <a:pt x="658368" y="49149"/>
                    <a:pt x="658368" y="109728"/>
                  </a:cubicBezTo>
                  <a:lnTo>
                    <a:pt x="658368" y="548640"/>
                  </a:lnTo>
                  <a:cubicBezTo>
                    <a:pt x="658368" y="609219"/>
                    <a:pt x="609219" y="658368"/>
                    <a:pt x="548640" y="658368"/>
                  </a:cubicBezTo>
                  <a:lnTo>
                    <a:pt x="109728" y="658368"/>
                  </a:lnTo>
                  <a:cubicBezTo>
                    <a:pt x="49149" y="658368"/>
                    <a:pt x="0" y="609219"/>
                    <a:pt x="0" y="548640"/>
                  </a:cubicBezTo>
                  <a:close/>
                </a:path>
              </a:pathLst>
            </a:custGeom>
            <a:solidFill>
              <a:srgbClr val="004C8F"/>
            </a:solidFill>
          </p:spPr>
        </p:sp>
      </p:grpSp>
      <p:grpSp>
        <p:nvGrpSpPr>
          <p:cNvPr name="Group 56" id="56"/>
          <p:cNvGrpSpPr/>
          <p:nvPr/>
        </p:nvGrpSpPr>
        <p:grpSpPr>
          <a:xfrm rot="0">
            <a:off x="1124712" y="5472684"/>
            <a:ext cx="493776" cy="493776"/>
            <a:chOff x="0" y="0"/>
            <a:chExt cx="658368" cy="658368"/>
          </a:xfrm>
        </p:grpSpPr>
        <p:sp>
          <p:nvSpPr>
            <p:cNvPr name="Freeform 57" id="57"/>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close/>
                </a:path>
              </a:pathLst>
            </a:custGeom>
            <a:blipFill>
              <a:blip r:embed="rId2">
                <a:alphaModFix amt="0"/>
              </a:blip>
              <a:stretch>
                <a:fillRect l="-78303" t="0" r="-78303" b="0"/>
              </a:stretch>
            </a:blipFill>
          </p:spPr>
        </p:sp>
        <p:sp>
          <p:nvSpPr>
            <p:cNvPr name="TextBox 58" id="58"/>
            <p:cNvSpPr txBox="true"/>
            <p:nvPr/>
          </p:nvSpPr>
          <p:spPr>
            <a:xfrm>
              <a:off x="0" y="-38100"/>
              <a:ext cx="658368" cy="69646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4</a:t>
              </a:r>
            </a:p>
          </p:txBody>
        </p:sp>
      </p:grpSp>
      <p:grpSp>
        <p:nvGrpSpPr>
          <p:cNvPr name="Group 59" id="59"/>
          <p:cNvGrpSpPr/>
          <p:nvPr/>
        </p:nvGrpSpPr>
        <p:grpSpPr>
          <a:xfrm rot="0">
            <a:off x="1783080" y="5500116"/>
            <a:ext cx="4046220" cy="438912"/>
            <a:chOff x="0" y="0"/>
            <a:chExt cx="5394960" cy="585216"/>
          </a:xfrm>
        </p:grpSpPr>
        <p:sp>
          <p:nvSpPr>
            <p:cNvPr name="Freeform 60" id="60"/>
            <p:cNvSpPr/>
            <p:nvPr/>
          </p:nvSpPr>
          <p:spPr>
            <a:xfrm flipH="false" flipV="false" rot="0">
              <a:off x="0" y="0"/>
              <a:ext cx="5394960" cy="585216"/>
            </a:xfrm>
            <a:custGeom>
              <a:avLst/>
              <a:gdLst/>
              <a:ahLst/>
              <a:cxnLst/>
              <a:rect r="r" b="b" t="t" l="l"/>
              <a:pathLst>
                <a:path h="585216" w="5394960">
                  <a:moveTo>
                    <a:pt x="0" y="0"/>
                  </a:moveTo>
                  <a:lnTo>
                    <a:pt x="5394960" y="0"/>
                  </a:lnTo>
                  <a:lnTo>
                    <a:pt x="5394960" y="585216"/>
                  </a:lnTo>
                  <a:lnTo>
                    <a:pt x="0" y="585216"/>
                  </a:lnTo>
                  <a:close/>
                </a:path>
              </a:pathLst>
            </a:custGeom>
            <a:blipFill>
              <a:blip r:embed="rId2">
                <a:alphaModFix amt="0"/>
              </a:blip>
              <a:stretch>
                <a:fillRect l="0" t="-129627" r="0" b="-129627"/>
              </a:stretch>
            </a:blipFill>
          </p:spPr>
        </p:sp>
        <p:sp>
          <p:nvSpPr>
            <p:cNvPr name="TextBox 61" id="61"/>
            <p:cNvSpPr txBox="true"/>
            <p:nvPr/>
          </p:nvSpPr>
          <p:spPr>
            <a:xfrm>
              <a:off x="0" y="-38100"/>
              <a:ext cx="5394960" cy="623316"/>
            </a:xfrm>
            <a:prstGeom prst="rect">
              <a:avLst/>
            </a:prstGeom>
          </p:spPr>
          <p:txBody>
            <a:bodyPr anchor="ctr" rtlCol="false" tIns="0" lIns="0" bIns="0" rIns="0"/>
            <a:lstStyle/>
            <a:p>
              <a:pPr algn="l">
                <a:lnSpc>
                  <a:spcPts val="2430"/>
                </a:lnSpc>
              </a:pPr>
              <a:r>
                <a:rPr lang="en-US" sz="2025" b="true">
                  <a:solidFill>
                    <a:srgbClr val="0A2540"/>
                  </a:solidFill>
                  <a:latin typeface="Calibri (MS) Bold"/>
                  <a:ea typeface="Calibri (MS) Bold"/>
                  <a:cs typeface="Calibri (MS) Bold"/>
                  <a:sym typeface="Calibri (MS) Bold"/>
                </a:rPr>
                <a:t>Device &amp; session data</a:t>
              </a:r>
            </a:p>
          </p:txBody>
        </p:sp>
      </p:grpSp>
      <p:grpSp>
        <p:nvGrpSpPr>
          <p:cNvPr name="Group 62" id="62"/>
          <p:cNvGrpSpPr/>
          <p:nvPr/>
        </p:nvGrpSpPr>
        <p:grpSpPr>
          <a:xfrm rot="0">
            <a:off x="1124712" y="6158484"/>
            <a:ext cx="4732020" cy="1303020"/>
            <a:chOff x="0" y="0"/>
            <a:chExt cx="6309360" cy="1737360"/>
          </a:xfrm>
        </p:grpSpPr>
        <p:sp>
          <p:nvSpPr>
            <p:cNvPr name="Freeform 63" id="63"/>
            <p:cNvSpPr/>
            <p:nvPr/>
          </p:nvSpPr>
          <p:spPr>
            <a:xfrm flipH="false" flipV="false" rot="0">
              <a:off x="0" y="0"/>
              <a:ext cx="6309360" cy="1737360"/>
            </a:xfrm>
            <a:custGeom>
              <a:avLst/>
              <a:gdLst/>
              <a:ahLst/>
              <a:cxnLst/>
              <a:rect r="r" b="b" t="t" l="l"/>
              <a:pathLst>
                <a:path h="1737360" w="6309360">
                  <a:moveTo>
                    <a:pt x="0" y="0"/>
                  </a:moveTo>
                  <a:lnTo>
                    <a:pt x="6309360" y="0"/>
                  </a:lnTo>
                  <a:lnTo>
                    <a:pt x="6309360" y="1737360"/>
                  </a:lnTo>
                  <a:lnTo>
                    <a:pt x="0" y="1737360"/>
                  </a:lnTo>
                  <a:close/>
                </a:path>
              </a:pathLst>
            </a:custGeom>
            <a:blipFill>
              <a:blip r:embed="rId2">
                <a:alphaModFix amt="0"/>
              </a:blip>
              <a:stretch>
                <a:fillRect l="0" t="-20761" r="0" b="-20761"/>
              </a:stretch>
            </a:blipFill>
          </p:spPr>
        </p:sp>
        <p:sp>
          <p:nvSpPr>
            <p:cNvPr name="TextBox 64" id="64"/>
            <p:cNvSpPr txBox="true"/>
            <p:nvPr/>
          </p:nvSpPr>
          <p:spPr>
            <a:xfrm>
              <a:off x="0" y="-57150"/>
              <a:ext cx="6309360" cy="1794510"/>
            </a:xfrm>
            <a:prstGeom prst="rect">
              <a:avLst/>
            </a:prstGeom>
          </p:spPr>
          <p:txBody>
            <a:bodyPr anchor="ctr" rtlCol="false" tIns="0" lIns="0" bIns="0" rIns="0"/>
            <a:lstStyle/>
            <a:p>
              <a:pPr algn="l">
                <a:lnSpc>
                  <a:spcPts val="2250"/>
                </a:lnSpc>
              </a:pPr>
              <a:r>
                <a:rPr lang="en-US" sz="1650">
                  <a:solidFill>
                    <a:srgbClr val="5A6B7C"/>
                  </a:solidFill>
                  <a:latin typeface="Calibri (MS)"/>
                  <a:ea typeface="Calibri (MS)"/>
                  <a:cs typeface="Calibri (MS)"/>
                  <a:sym typeface="Calibri (MS)"/>
                </a:rPr>
                <a:t>Device fingerprint, SIM change, login location, typing and swipe patterns (behavioural biometrics).</a:t>
              </a:r>
            </a:p>
          </p:txBody>
        </p:sp>
      </p:grpSp>
      <p:grpSp>
        <p:nvGrpSpPr>
          <p:cNvPr name="Group 65" id="65"/>
          <p:cNvGrpSpPr/>
          <p:nvPr/>
        </p:nvGrpSpPr>
        <p:grpSpPr>
          <a:xfrm rot="0">
            <a:off x="6464427" y="5161407"/>
            <a:ext cx="5340858" cy="2460498"/>
            <a:chOff x="0" y="0"/>
            <a:chExt cx="7121144" cy="3280664"/>
          </a:xfrm>
        </p:grpSpPr>
        <p:sp>
          <p:nvSpPr>
            <p:cNvPr name="Freeform 66" id="66"/>
            <p:cNvSpPr/>
            <p:nvPr/>
          </p:nvSpPr>
          <p:spPr>
            <a:xfrm flipH="false" flipV="false" rot="0">
              <a:off x="0" y="0"/>
              <a:ext cx="7121144" cy="3280664"/>
            </a:xfrm>
            <a:custGeom>
              <a:avLst/>
              <a:gdLst/>
              <a:ahLst/>
              <a:cxnLst/>
              <a:rect r="r" b="b" t="t" l="l"/>
              <a:pathLst>
                <a:path h="3280664" w="7121144">
                  <a:moveTo>
                    <a:pt x="0" y="147447"/>
                  </a:moveTo>
                  <a:cubicBezTo>
                    <a:pt x="0" y="66040"/>
                    <a:pt x="66040" y="0"/>
                    <a:pt x="147447" y="0"/>
                  </a:cubicBezTo>
                  <a:lnTo>
                    <a:pt x="6973697" y="0"/>
                  </a:lnTo>
                  <a:cubicBezTo>
                    <a:pt x="7055104" y="0"/>
                    <a:pt x="7121144" y="66040"/>
                    <a:pt x="7121144" y="147447"/>
                  </a:cubicBezTo>
                  <a:lnTo>
                    <a:pt x="7121144" y="3133217"/>
                  </a:lnTo>
                  <a:cubicBezTo>
                    <a:pt x="7121144" y="3214624"/>
                    <a:pt x="7055104" y="3280664"/>
                    <a:pt x="6973697" y="3280664"/>
                  </a:cubicBezTo>
                  <a:lnTo>
                    <a:pt x="147447" y="3280664"/>
                  </a:lnTo>
                  <a:cubicBezTo>
                    <a:pt x="66040" y="3280664"/>
                    <a:pt x="0" y="3214624"/>
                    <a:pt x="0" y="3133217"/>
                  </a:cubicBezTo>
                  <a:close/>
                </a:path>
              </a:pathLst>
            </a:custGeom>
            <a:solidFill>
              <a:srgbClr val="FFFFFF"/>
            </a:solidFill>
            <a:ln w="19050" cap="sq">
              <a:solidFill>
                <a:srgbClr val="DCE4EC"/>
              </a:solidFill>
              <a:prstDash val="solid"/>
              <a:miter/>
            </a:ln>
          </p:spPr>
        </p:sp>
      </p:grpSp>
      <p:grpSp>
        <p:nvGrpSpPr>
          <p:cNvPr name="Group 67" id="67"/>
          <p:cNvGrpSpPr/>
          <p:nvPr/>
        </p:nvGrpSpPr>
        <p:grpSpPr>
          <a:xfrm rot="0">
            <a:off x="6775704" y="5472684"/>
            <a:ext cx="493776" cy="493776"/>
            <a:chOff x="0" y="0"/>
            <a:chExt cx="658368" cy="658368"/>
          </a:xfrm>
        </p:grpSpPr>
        <p:sp>
          <p:nvSpPr>
            <p:cNvPr name="Freeform 68" id="68"/>
            <p:cNvSpPr/>
            <p:nvPr/>
          </p:nvSpPr>
          <p:spPr>
            <a:xfrm flipH="false" flipV="false" rot="0">
              <a:off x="0" y="0"/>
              <a:ext cx="658368" cy="658368"/>
            </a:xfrm>
            <a:custGeom>
              <a:avLst/>
              <a:gdLst/>
              <a:ahLst/>
              <a:cxnLst/>
              <a:rect r="r" b="b" t="t" l="l"/>
              <a:pathLst>
                <a:path h="658368" w="658368">
                  <a:moveTo>
                    <a:pt x="0" y="109728"/>
                  </a:moveTo>
                  <a:cubicBezTo>
                    <a:pt x="0" y="49149"/>
                    <a:pt x="49149" y="0"/>
                    <a:pt x="109728" y="0"/>
                  </a:cubicBezTo>
                  <a:lnTo>
                    <a:pt x="548640" y="0"/>
                  </a:lnTo>
                  <a:cubicBezTo>
                    <a:pt x="609219" y="0"/>
                    <a:pt x="658368" y="49149"/>
                    <a:pt x="658368" y="109728"/>
                  </a:cubicBezTo>
                  <a:lnTo>
                    <a:pt x="658368" y="548640"/>
                  </a:lnTo>
                  <a:cubicBezTo>
                    <a:pt x="658368" y="609219"/>
                    <a:pt x="609219" y="658368"/>
                    <a:pt x="548640" y="658368"/>
                  </a:cubicBezTo>
                  <a:lnTo>
                    <a:pt x="109728" y="658368"/>
                  </a:lnTo>
                  <a:cubicBezTo>
                    <a:pt x="49149" y="658368"/>
                    <a:pt x="0" y="609219"/>
                    <a:pt x="0" y="548640"/>
                  </a:cubicBezTo>
                  <a:close/>
                </a:path>
              </a:pathLst>
            </a:custGeom>
            <a:solidFill>
              <a:srgbClr val="004C8F"/>
            </a:solidFill>
          </p:spPr>
        </p:sp>
      </p:grpSp>
      <p:grpSp>
        <p:nvGrpSpPr>
          <p:cNvPr name="Group 69" id="69"/>
          <p:cNvGrpSpPr/>
          <p:nvPr/>
        </p:nvGrpSpPr>
        <p:grpSpPr>
          <a:xfrm rot="0">
            <a:off x="6775704" y="5472684"/>
            <a:ext cx="493776" cy="493776"/>
            <a:chOff x="0" y="0"/>
            <a:chExt cx="658368" cy="658368"/>
          </a:xfrm>
        </p:grpSpPr>
        <p:sp>
          <p:nvSpPr>
            <p:cNvPr name="Freeform 70" id="70"/>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close/>
                </a:path>
              </a:pathLst>
            </a:custGeom>
            <a:blipFill>
              <a:blip r:embed="rId2">
                <a:alphaModFix amt="0"/>
              </a:blip>
              <a:stretch>
                <a:fillRect l="-78303" t="0" r="-78303" b="0"/>
              </a:stretch>
            </a:blipFill>
          </p:spPr>
        </p:sp>
        <p:sp>
          <p:nvSpPr>
            <p:cNvPr name="TextBox 71" id="71"/>
            <p:cNvSpPr txBox="true"/>
            <p:nvPr/>
          </p:nvSpPr>
          <p:spPr>
            <a:xfrm>
              <a:off x="0" y="-38100"/>
              <a:ext cx="658368" cy="69646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5</a:t>
              </a:r>
            </a:p>
          </p:txBody>
        </p:sp>
      </p:grpSp>
      <p:grpSp>
        <p:nvGrpSpPr>
          <p:cNvPr name="Group 72" id="72"/>
          <p:cNvGrpSpPr/>
          <p:nvPr/>
        </p:nvGrpSpPr>
        <p:grpSpPr>
          <a:xfrm rot="0">
            <a:off x="7434072" y="5500116"/>
            <a:ext cx="4046220" cy="438912"/>
            <a:chOff x="0" y="0"/>
            <a:chExt cx="5394960" cy="585216"/>
          </a:xfrm>
        </p:grpSpPr>
        <p:sp>
          <p:nvSpPr>
            <p:cNvPr name="Freeform 73" id="73"/>
            <p:cNvSpPr/>
            <p:nvPr/>
          </p:nvSpPr>
          <p:spPr>
            <a:xfrm flipH="false" flipV="false" rot="0">
              <a:off x="0" y="0"/>
              <a:ext cx="5394960" cy="585216"/>
            </a:xfrm>
            <a:custGeom>
              <a:avLst/>
              <a:gdLst/>
              <a:ahLst/>
              <a:cxnLst/>
              <a:rect r="r" b="b" t="t" l="l"/>
              <a:pathLst>
                <a:path h="585216" w="5394960">
                  <a:moveTo>
                    <a:pt x="0" y="0"/>
                  </a:moveTo>
                  <a:lnTo>
                    <a:pt x="5394960" y="0"/>
                  </a:lnTo>
                  <a:lnTo>
                    <a:pt x="5394960" y="585216"/>
                  </a:lnTo>
                  <a:lnTo>
                    <a:pt x="0" y="585216"/>
                  </a:lnTo>
                  <a:close/>
                </a:path>
              </a:pathLst>
            </a:custGeom>
            <a:blipFill>
              <a:blip r:embed="rId2">
                <a:alphaModFix amt="0"/>
              </a:blip>
              <a:stretch>
                <a:fillRect l="0" t="-129627" r="0" b="-129627"/>
              </a:stretch>
            </a:blipFill>
          </p:spPr>
        </p:sp>
        <p:sp>
          <p:nvSpPr>
            <p:cNvPr name="TextBox 74" id="74"/>
            <p:cNvSpPr txBox="true"/>
            <p:nvPr/>
          </p:nvSpPr>
          <p:spPr>
            <a:xfrm>
              <a:off x="0" y="-38100"/>
              <a:ext cx="5394960" cy="623316"/>
            </a:xfrm>
            <a:prstGeom prst="rect">
              <a:avLst/>
            </a:prstGeom>
          </p:spPr>
          <p:txBody>
            <a:bodyPr anchor="ctr" rtlCol="false" tIns="0" lIns="0" bIns="0" rIns="0"/>
            <a:lstStyle/>
            <a:p>
              <a:pPr algn="l">
                <a:lnSpc>
                  <a:spcPts val="2430"/>
                </a:lnSpc>
              </a:pPr>
              <a:r>
                <a:rPr lang="en-US" sz="2025" b="true">
                  <a:solidFill>
                    <a:srgbClr val="0A2540"/>
                  </a:solidFill>
                  <a:latin typeface="Calibri (MS) Bold"/>
                  <a:ea typeface="Calibri (MS) Bold"/>
                  <a:cs typeface="Calibri (MS) Bold"/>
                  <a:sym typeface="Calibri (MS) Bold"/>
                </a:rPr>
                <a:t>Historic fraud labels</a:t>
              </a:r>
            </a:p>
          </p:txBody>
        </p:sp>
      </p:grpSp>
      <p:grpSp>
        <p:nvGrpSpPr>
          <p:cNvPr name="Group 75" id="75"/>
          <p:cNvGrpSpPr/>
          <p:nvPr/>
        </p:nvGrpSpPr>
        <p:grpSpPr>
          <a:xfrm rot="0">
            <a:off x="6775704" y="6158484"/>
            <a:ext cx="4732020" cy="1303020"/>
            <a:chOff x="0" y="0"/>
            <a:chExt cx="6309360" cy="1737360"/>
          </a:xfrm>
        </p:grpSpPr>
        <p:sp>
          <p:nvSpPr>
            <p:cNvPr name="Freeform 76" id="76"/>
            <p:cNvSpPr/>
            <p:nvPr/>
          </p:nvSpPr>
          <p:spPr>
            <a:xfrm flipH="false" flipV="false" rot="0">
              <a:off x="0" y="0"/>
              <a:ext cx="6309360" cy="1737360"/>
            </a:xfrm>
            <a:custGeom>
              <a:avLst/>
              <a:gdLst/>
              <a:ahLst/>
              <a:cxnLst/>
              <a:rect r="r" b="b" t="t" l="l"/>
              <a:pathLst>
                <a:path h="1737360" w="6309360">
                  <a:moveTo>
                    <a:pt x="0" y="0"/>
                  </a:moveTo>
                  <a:lnTo>
                    <a:pt x="6309360" y="0"/>
                  </a:lnTo>
                  <a:lnTo>
                    <a:pt x="6309360" y="1737360"/>
                  </a:lnTo>
                  <a:lnTo>
                    <a:pt x="0" y="1737360"/>
                  </a:lnTo>
                  <a:close/>
                </a:path>
              </a:pathLst>
            </a:custGeom>
            <a:blipFill>
              <a:blip r:embed="rId2">
                <a:alphaModFix amt="0"/>
              </a:blip>
              <a:stretch>
                <a:fillRect l="0" t="-20761" r="0" b="-20761"/>
              </a:stretch>
            </a:blipFill>
          </p:spPr>
        </p:sp>
        <p:sp>
          <p:nvSpPr>
            <p:cNvPr name="TextBox 77" id="77"/>
            <p:cNvSpPr txBox="true"/>
            <p:nvPr/>
          </p:nvSpPr>
          <p:spPr>
            <a:xfrm>
              <a:off x="0" y="-57150"/>
              <a:ext cx="6309360" cy="1794510"/>
            </a:xfrm>
            <a:prstGeom prst="rect">
              <a:avLst/>
            </a:prstGeom>
          </p:spPr>
          <p:txBody>
            <a:bodyPr anchor="ctr" rtlCol="false" tIns="0" lIns="0" bIns="0" rIns="0"/>
            <a:lstStyle/>
            <a:p>
              <a:pPr algn="l">
                <a:lnSpc>
                  <a:spcPts val="2250"/>
                </a:lnSpc>
              </a:pPr>
              <a:r>
                <a:rPr lang="en-US" sz="1650">
                  <a:solidFill>
                    <a:srgbClr val="5A6B7C"/>
                  </a:solidFill>
                  <a:latin typeface="Calibri (MS)"/>
                  <a:ea typeface="Calibri (MS)"/>
                  <a:cs typeface="Calibri (MS)"/>
                  <a:sym typeface="Calibri (MS)"/>
                </a:rPr>
                <a:t>Past confirmed fraud cases and disputed transactions — the labelled examples the model trains on.</a:t>
              </a:r>
            </a:p>
          </p:txBody>
        </p:sp>
      </p:grpSp>
      <p:grpSp>
        <p:nvGrpSpPr>
          <p:cNvPr name="Group 78" id="78"/>
          <p:cNvGrpSpPr/>
          <p:nvPr/>
        </p:nvGrpSpPr>
        <p:grpSpPr>
          <a:xfrm rot="0">
            <a:off x="12115419" y="5161407"/>
            <a:ext cx="5340858" cy="2460498"/>
            <a:chOff x="0" y="0"/>
            <a:chExt cx="7121144" cy="3280664"/>
          </a:xfrm>
        </p:grpSpPr>
        <p:sp>
          <p:nvSpPr>
            <p:cNvPr name="Freeform 79" id="79"/>
            <p:cNvSpPr/>
            <p:nvPr/>
          </p:nvSpPr>
          <p:spPr>
            <a:xfrm flipH="false" flipV="false" rot="0">
              <a:off x="0" y="0"/>
              <a:ext cx="7121144" cy="3280664"/>
            </a:xfrm>
            <a:custGeom>
              <a:avLst/>
              <a:gdLst/>
              <a:ahLst/>
              <a:cxnLst/>
              <a:rect r="r" b="b" t="t" l="l"/>
              <a:pathLst>
                <a:path h="3280664" w="7121144">
                  <a:moveTo>
                    <a:pt x="0" y="147447"/>
                  </a:moveTo>
                  <a:cubicBezTo>
                    <a:pt x="0" y="66040"/>
                    <a:pt x="66040" y="0"/>
                    <a:pt x="147447" y="0"/>
                  </a:cubicBezTo>
                  <a:lnTo>
                    <a:pt x="6973697" y="0"/>
                  </a:lnTo>
                  <a:cubicBezTo>
                    <a:pt x="7055104" y="0"/>
                    <a:pt x="7121144" y="66040"/>
                    <a:pt x="7121144" y="147447"/>
                  </a:cubicBezTo>
                  <a:lnTo>
                    <a:pt x="7121144" y="3133217"/>
                  </a:lnTo>
                  <a:cubicBezTo>
                    <a:pt x="7121144" y="3214624"/>
                    <a:pt x="7055104" y="3280664"/>
                    <a:pt x="6973697" y="3280664"/>
                  </a:cubicBezTo>
                  <a:lnTo>
                    <a:pt x="147447" y="3280664"/>
                  </a:lnTo>
                  <a:cubicBezTo>
                    <a:pt x="66040" y="3280664"/>
                    <a:pt x="0" y="3214624"/>
                    <a:pt x="0" y="3133217"/>
                  </a:cubicBezTo>
                  <a:close/>
                </a:path>
              </a:pathLst>
            </a:custGeom>
            <a:solidFill>
              <a:srgbClr val="FFFFFF"/>
            </a:solidFill>
            <a:ln w="19050" cap="sq">
              <a:solidFill>
                <a:srgbClr val="DCE4EC"/>
              </a:solidFill>
              <a:prstDash val="solid"/>
              <a:miter/>
            </a:ln>
          </p:spPr>
        </p:sp>
      </p:grpSp>
      <p:grpSp>
        <p:nvGrpSpPr>
          <p:cNvPr name="Group 80" id="80"/>
          <p:cNvGrpSpPr/>
          <p:nvPr/>
        </p:nvGrpSpPr>
        <p:grpSpPr>
          <a:xfrm rot="0">
            <a:off x="12426696" y="5472684"/>
            <a:ext cx="493776" cy="493776"/>
            <a:chOff x="0" y="0"/>
            <a:chExt cx="658368" cy="658368"/>
          </a:xfrm>
        </p:grpSpPr>
        <p:sp>
          <p:nvSpPr>
            <p:cNvPr name="Freeform 81" id="81"/>
            <p:cNvSpPr/>
            <p:nvPr/>
          </p:nvSpPr>
          <p:spPr>
            <a:xfrm flipH="false" flipV="false" rot="0">
              <a:off x="0" y="0"/>
              <a:ext cx="658368" cy="658368"/>
            </a:xfrm>
            <a:custGeom>
              <a:avLst/>
              <a:gdLst/>
              <a:ahLst/>
              <a:cxnLst/>
              <a:rect r="r" b="b" t="t" l="l"/>
              <a:pathLst>
                <a:path h="658368" w="658368">
                  <a:moveTo>
                    <a:pt x="0" y="109728"/>
                  </a:moveTo>
                  <a:cubicBezTo>
                    <a:pt x="0" y="49149"/>
                    <a:pt x="49149" y="0"/>
                    <a:pt x="109728" y="0"/>
                  </a:cubicBezTo>
                  <a:lnTo>
                    <a:pt x="548640" y="0"/>
                  </a:lnTo>
                  <a:cubicBezTo>
                    <a:pt x="609219" y="0"/>
                    <a:pt x="658368" y="49149"/>
                    <a:pt x="658368" y="109728"/>
                  </a:cubicBezTo>
                  <a:lnTo>
                    <a:pt x="658368" y="548640"/>
                  </a:lnTo>
                  <a:cubicBezTo>
                    <a:pt x="658368" y="609219"/>
                    <a:pt x="609219" y="658368"/>
                    <a:pt x="548640" y="658368"/>
                  </a:cubicBezTo>
                  <a:lnTo>
                    <a:pt x="109728" y="658368"/>
                  </a:lnTo>
                  <a:cubicBezTo>
                    <a:pt x="49149" y="658368"/>
                    <a:pt x="0" y="609219"/>
                    <a:pt x="0" y="548640"/>
                  </a:cubicBezTo>
                  <a:close/>
                </a:path>
              </a:pathLst>
            </a:custGeom>
            <a:solidFill>
              <a:srgbClr val="004C8F"/>
            </a:solidFill>
          </p:spPr>
        </p:sp>
      </p:grpSp>
      <p:grpSp>
        <p:nvGrpSpPr>
          <p:cNvPr name="Group 82" id="82"/>
          <p:cNvGrpSpPr/>
          <p:nvPr/>
        </p:nvGrpSpPr>
        <p:grpSpPr>
          <a:xfrm rot="0">
            <a:off x="12426696" y="5472684"/>
            <a:ext cx="493776" cy="493776"/>
            <a:chOff x="0" y="0"/>
            <a:chExt cx="658368" cy="658368"/>
          </a:xfrm>
        </p:grpSpPr>
        <p:sp>
          <p:nvSpPr>
            <p:cNvPr name="Freeform 83" id="83"/>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close/>
                </a:path>
              </a:pathLst>
            </a:custGeom>
            <a:blipFill>
              <a:blip r:embed="rId2">
                <a:alphaModFix amt="0"/>
              </a:blip>
              <a:stretch>
                <a:fillRect l="-78303" t="0" r="-78303" b="0"/>
              </a:stretch>
            </a:blipFill>
          </p:spPr>
        </p:sp>
        <p:sp>
          <p:nvSpPr>
            <p:cNvPr name="TextBox 84" id="84"/>
            <p:cNvSpPr txBox="true"/>
            <p:nvPr/>
          </p:nvSpPr>
          <p:spPr>
            <a:xfrm>
              <a:off x="0" y="-38100"/>
              <a:ext cx="658368" cy="69646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6</a:t>
              </a:r>
            </a:p>
          </p:txBody>
        </p:sp>
      </p:grpSp>
      <p:grpSp>
        <p:nvGrpSpPr>
          <p:cNvPr name="Group 85" id="85"/>
          <p:cNvGrpSpPr/>
          <p:nvPr/>
        </p:nvGrpSpPr>
        <p:grpSpPr>
          <a:xfrm rot="0">
            <a:off x="13085064" y="5500116"/>
            <a:ext cx="4046220" cy="438912"/>
            <a:chOff x="0" y="0"/>
            <a:chExt cx="5394960" cy="585216"/>
          </a:xfrm>
        </p:grpSpPr>
        <p:sp>
          <p:nvSpPr>
            <p:cNvPr name="Freeform 86" id="86"/>
            <p:cNvSpPr/>
            <p:nvPr/>
          </p:nvSpPr>
          <p:spPr>
            <a:xfrm flipH="false" flipV="false" rot="0">
              <a:off x="0" y="0"/>
              <a:ext cx="5394960" cy="585216"/>
            </a:xfrm>
            <a:custGeom>
              <a:avLst/>
              <a:gdLst/>
              <a:ahLst/>
              <a:cxnLst/>
              <a:rect r="r" b="b" t="t" l="l"/>
              <a:pathLst>
                <a:path h="585216" w="5394960">
                  <a:moveTo>
                    <a:pt x="0" y="0"/>
                  </a:moveTo>
                  <a:lnTo>
                    <a:pt x="5394960" y="0"/>
                  </a:lnTo>
                  <a:lnTo>
                    <a:pt x="5394960" y="585216"/>
                  </a:lnTo>
                  <a:lnTo>
                    <a:pt x="0" y="585216"/>
                  </a:lnTo>
                  <a:close/>
                </a:path>
              </a:pathLst>
            </a:custGeom>
            <a:blipFill>
              <a:blip r:embed="rId2">
                <a:alphaModFix amt="0"/>
              </a:blip>
              <a:stretch>
                <a:fillRect l="0" t="-129627" r="0" b="-129627"/>
              </a:stretch>
            </a:blipFill>
          </p:spPr>
        </p:sp>
        <p:sp>
          <p:nvSpPr>
            <p:cNvPr name="TextBox 87" id="87"/>
            <p:cNvSpPr txBox="true"/>
            <p:nvPr/>
          </p:nvSpPr>
          <p:spPr>
            <a:xfrm>
              <a:off x="0" y="-38100"/>
              <a:ext cx="5394960" cy="623316"/>
            </a:xfrm>
            <a:prstGeom prst="rect">
              <a:avLst/>
            </a:prstGeom>
          </p:spPr>
          <p:txBody>
            <a:bodyPr anchor="ctr" rtlCol="false" tIns="0" lIns="0" bIns="0" rIns="0"/>
            <a:lstStyle/>
            <a:p>
              <a:pPr algn="l">
                <a:lnSpc>
                  <a:spcPts val="2430"/>
                </a:lnSpc>
              </a:pPr>
              <a:r>
                <a:rPr lang="en-US" sz="2025" b="true">
                  <a:solidFill>
                    <a:srgbClr val="0A2540"/>
                  </a:solidFill>
                  <a:latin typeface="Calibri (MS) Bold"/>
                  <a:ea typeface="Calibri (MS) Bold"/>
                  <a:cs typeface="Calibri (MS) Bold"/>
                  <a:sym typeface="Calibri (MS) Bold"/>
                </a:rPr>
                <a:t>External signals</a:t>
              </a:r>
            </a:p>
          </p:txBody>
        </p:sp>
      </p:grpSp>
      <p:grpSp>
        <p:nvGrpSpPr>
          <p:cNvPr name="Group 88" id="88"/>
          <p:cNvGrpSpPr/>
          <p:nvPr/>
        </p:nvGrpSpPr>
        <p:grpSpPr>
          <a:xfrm rot="0">
            <a:off x="12426696" y="6158484"/>
            <a:ext cx="4732020" cy="1303020"/>
            <a:chOff x="0" y="0"/>
            <a:chExt cx="6309360" cy="1737360"/>
          </a:xfrm>
        </p:grpSpPr>
        <p:sp>
          <p:nvSpPr>
            <p:cNvPr name="Freeform 89" id="89"/>
            <p:cNvSpPr/>
            <p:nvPr/>
          </p:nvSpPr>
          <p:spPr>
            <a:xfrm flipH="false" flipV="false" rot="0">
              <a:off x="0" y="0"/>
              <a:ext cx="6309360" cy="1737360"/>
            </a:xfrm>
            <a:custGeom>
              <a:avLst/>
              <a:gdLst/>
              <a:ahLst/>
              <a:cxnLst/>
              <a:rect r="r" b="b" t="t" l="l"/>
              <a:pathLst>
                <a:path h="1737360" w="6309360">
                  <a:moveTo>
                    <a:pt x="0" y="0"/>
                  </a:moveTo>
                  <a:lnTo>
                    <a:pt x="6309360" y="0"/>
                  </a:lnTo>
                  <a:lnTo>
                    <a:pt x="6309360" y="1737360"/>
                  </a:lnTo>
                  <a:lnTo>
                    <a:pt x="0" y="1737360"/>
                  </a:lnTo>
                  <a:close/>
                </a:path>
              </a:pathLst>
            </a:custGeom>
            <a:blipFill>
              <a:blip r:embed="rId2">
                <a:alphaModFix amt="0"/>
              </a:blip>
              <a:stretch>
                <a:fillRect l="0" t="-20761" r="0" b="-20761"/>
              </a:stretch>
            </a:blipFill>
          </p:spPr>
        </p:sp>
        <p:sp>
          <p:nvSpPr>
            <p:cNvPr name="TextBox 90" id="90"/>
            <p:cNvSpPr txBox="true"/>
            <p:nvPr/>
          </p:nvSpPr>
          <p:spPr>
            <a:xfrm>
              <a:off x="0" y="-57150"/>
              <a:ext cx="6309360" cy="1794510"/>
            </a:xfrm>
            <a:prstGeom prst="rect">
              <a:avLst/>
            </a:prstGeom>
          </p:spPr>
          <p:txBody>
            <a:bodyPr anchor="ctr" rtlCol="false" tIns="0" lIns="0" bIns="0" rIns="0"/>
            <a:lstStyle/>
            <a:p>
              <a:pPr algn="l">
                <a:lnSpc>
                  <a:spcPts val="2250"/>
                </a:lnSpc>
              </a:pPr>
              <a:r>
                <a:rPr lang="en-US" sz="1650">
                  <a:solidFill>
                    <a:srgbClr val="5A6B7C"/>
                  </a:solidFill>
                  <a:latin typeface="Calibri (MS)"/>
                  <a:ea typeface="Calibri (MS)"/>
                  <a:cs typeface="Calibri (MS)"/>
                  <a:sym typeface="Calibri (MS)"/>
                </a:rPr>
                <a:t>Mule account lists, RBI and NPCI fraud advisories, blacklisted VPAs and merchant IDs.</a:t>
              </a:r>
            </a:p>
          </p:txBody>
        </p:sp>
      </p:grpSp>
      <p:grpSp>
        <p:nvGrpSpPr>
          <p:cNvPr name="Group 91" id="91"/>
          <p:cNvGrpSpPr/>
          <p:nvPr/>
        </p:nvGrpSpPr>
        <p:grpSpPr>
          <a:xfrm rot="0">
            <a:off x="813435" y="8288655"/>
            <a:ext cx="16656558" cy="1088898"/>
            <a:chOff x="0" y="0"/>
            <a:chExt cx="22208744" cy="1451864"/>
          </a:xfrm>
        </p:grpSpPr>
        <p:sp>
          <p:nvSpPr>
            <p:cNvPr name="Freeform 92" id="92"/>
            <p:cNvSpPr/>
            <p:nvPr/>
          </p:nvSpPr>
          <p:spPr>
            <a:xfrm flipH="false" flipV="false" rot="0">
              <a:off x="0" y="0"/>
              <a:ext cx="22208744" cy="1451864"/>
            </a:xfrm>
            <a:custGeom>
              <a:avLst/>
              <a:gdLst/>
              <a:ahLst/>
              <a:cxnLst/>
              <a:rect r="r" b="b" t="t" l="l"/>
              <a:pathLst>
                <a:path h="1451864" w="22208744">
                  <a:moveTo>
                    <a:pt x="0" y="148844"/>
                  </a:moveTo>
                  <a:cubicBezTo>
                    <a:pt x="0" y="66675"/>
                    <a:pt x="66675" y="0"/>
                    <a:pt x="148844" y="0"/>
                  </a:cubicBezTo>
                  <a:lnTo>
                    <a:pt x="22059900" y="0"/>
                  </a:lnTo>
                  <a:cubicBezTo>
                    <a:pt x="22142196" y="0"/>
                    <a:pt x="22208744" y="66675"/>
                    <a:pt x="22208744" y="148844"/>
                  </a:cubicBezTo>
                  <a:lnTo>
                    <a:pt x="22208744" y="1303020"/>
                  </a:lnTo>
                  <a:cubicBezTo>
                    <a:pt x="22208744" y="1385316"/>
                    <a:pt x="22142069" y="1451864"/>
                    <a:pt x="22059900" y="1451864"/>
                  </a:cubicBezTo>
                  <a:lnTo>
                    <a:pt x="148844" y="1451864"/>
                  </a:lnTo>
                  <a:cubicBezTo>
                    <a:pt x="66675" y="1451864"/>
                    <a:pt x="0" y="1385189"/>
                    <a:pt x="0" y="1303020"/>
                  </a:cubicBezTo>
                  <a:close/>
                </a:path>
              </a:pathLst>
            </a:custGeom>
            <a:solidFill>
              <a:srgbClr val="FDF2F2"/>
            </a:solidFill>
            <a:ln w="19050" cap="sq">
              <a:solidFill>
                <a:srgbClr val="F5C6C7"/>
              </a:solidFill>
              <a:prstDash val="solid"/>
              <a:miter/>
            </a:ln>
          </p:spPr>
        </p:sp>
      </p:grpSp>
      <p:grpSp>
        <p:nvGrpSpPr>
          <p:cNvPr name="Group 93" id="93"/>
          <p:cNvGrpSpPr/>
          <p:nvPr/>
        </p:nvGrpSpPr>
        <p:grpSpPr>
          <a:xfrm rot="0">
            <a:off x="1234440" y="8476488"/>
            <a:ext cx="15773400" cy="754380"/>
            <a:chOff x="0" y="0"/>
            <a:chExt cx="21031200" cy="1005840"/>
          </a:xfrm>
        </p:grpSpPr>
        <p:sp>
          <p:nvSpPr>
            <p:cNvPr name="Freeform 94" id="94"/>
            <p:cNvSpPr/>
            <p:nvPr/>
          </p:nvSpPr>
          <p:spPr>
            <a:xfrm flipH="false" flipV="false" rot="0">
              <a:off x="0" y="0"/>
              <a:ext cx="21031200" cy="1005840"/>
            </a:xfrm>
            <a:custGeom>
              <a:avLst/>
              <a:gdLst/>
              <a:ahLst/>
              <a:cxnLst/>
              <a:rect r="r" b="b" t="t" l="l"/>
              <a:pathLst>
                <a:path h="1005840" w="21031200">
                  <a:moveTo>
                    <a:pt x="0" y="0"/>
                  </a:moveTo>
                  <a:lnTo>
                    <a:pt x="21031200" y="0"/>
                  </a:lnTo>
                  <a:lnTo>
                    <a:pt x="21031200" y="1005840"/>
                  </a:lnTo>
                  <a:lnTo>
                    <a:pt x="0" y="1005840"/>
                  </a:lnTo>
                  <a:close/>
                </a:path>
              </a:pathLst>
            </a:custGeom>
            <a:blipFill>
              <a:blip r:embed="rId2">
                <a:alphaModFix amt="0"/>
              </a:blip>
              <a:stretch>
                <a:fillRect l="0" t="-357414" r="0" b="-357414"/>
              </a:stretch>
            </a:blipFill>
          </p:spPr>
        </p:sp>
        <p:sp>
          <p:nvSpPr>
            <p:cNvPr name="TextBox 95" id="95"/>
            <p:cNvSpPr txBox="true"/>
            <p:nvPr/>
          </p:nvSpPr>
          <p:spPr>
            <a:xfrm>
              <a:off x="0" y="-57150"/>
              <a:ext cx="21031200" cy="1062990"/>
            </a:xfrm>
            <a:prstGeom prst="rect">
              <a:avLst/>
            </a:prstGeom>
          </p:spPr>
          <p:txBody>
            <a:bodyPr anchor="ctr" rtlCol="false" tIns="0" lIns="0" bIns="0" rIns="0"/>
            <a:lstStyle/>
            <a:p>
              <a:pPr algn="l">
                <a:lnSpc>
                  <a:spcPts val="2399"/>
                </a:lnSpc>
              </a:pPr>
              <a:r>
                <a:rPr lang="en-US" sz="1800">
                  <a:solidFill>
                    <a:srgbClr val="8B1F24"/>
                  </a:solidFill>
                  <a:latin typeface="Calibri (MS)"/>
                  <a:ea typeface="Calibri (MS)"/>
                  <a:cs typeface="Calibri (MS)"/>
                  <a:sym typeface="Calibri (MS)"/>
                </a:rPr>
                <a:t>Key data challenge: fraud is extremely rare — typically well under 1% of all transactions. This class imbalance means a model that labels everything "genuine" would still appear over 99% accurate, so recall and precision matter far more than accuracy.</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4264640" cy="822960"/>
            <a:chOff x="0" y="0"/>
            <a:chExt cx="19019520" cy="1097280"/>
          </a:xfrm>
        </p:grpSpPr>
        <p:sp>
          <p:nvSpPr>
            <p:cNvPr name="Freeform 3" id="3"/>
            <p:cNvSpPr/>
            <p:nvPr/>
          </p:nvSpPr>
          <p:spPr>
            <a:xfrm flipH="false" flipV="false" rot="0">
              <a:off x="0" y="0"/>
              <a:ext cx="19019520" cy="1097280"/>
            </a:xfrm>
            <a:custGeom>
              <a:avLst/>
              <a:gdLst/>
              <a:ahLst/>
              <a:cxnLst/>
              <a:rect r="r" b="b" t="t" l="l"/>
              <a:pathLst>
                <a:path h="1097280" w="19019520">
                  <a:moveTo>
                    <a:pt x="0" y="0"/>
                  </a:moveTo>
                  <a:lnTo>
                    <a:pt x="19019520" y="0"/>
                  </a:lnTo>
                  <a:lnTo>
                    <a:pt x="19019520" y="1097280"/>
                  </a:lnTo>
                  <a:lnTo>
                    <a:pt x="0" y="1097280"/>
                  </a:lnTo>
                  <a:close/>
                </a:path>
              </a:pathLst>
            </a:custGeom>
            <a:blipFill>
              <a:blip r:embed="rId2">
                <a:alphaModFix amt="0"/>
              </a:blip>
              <a:stretch>
                <a:fillRect l="0" t="-287740" r="0" b="-287740"/>
              </a:stretch>
            </a:blipFill>
          </p:spPr>
        </p:sp>
        <p:sp>
          <p:nvSpPr>
            <p:cNvPr name="TextBox 4" id="4"/>
            <p:cNvSpPr txBox="true"/>
            <p:nvPr/>
          </p:nvSpPr>
          <p:spPr>
            <a:xfrm>
              <a:off x="0" y="-9525"/>
              <a:ext cx="19019520" cy="1106805"/>
            </a:xfrm>
            <a:prstGeom prst="rect">
              <a:avLst/>
            </a:prstGeom>
          </p:spPr>
          <p:txBody>
            <a:bodyPr anchor="ctr" rtlCol="false" tIns="0" lIns="0" bIns="0" rIns="0"/>
            <a:lstStyle/>
            <a:p>
              <a:pPr algn="l">
                <a:lnSpc>
                  <a:spcPts val="5759"/>
                </a:lnSpc>
              </a:pPr>
              <a:r>
                <a:rPr lang="en-US" sz="4800" b="true">
                  <a:solidFill>
                    <a:srgbClr val="0A2540"/>
                  </a:solidFill>
                  <a:latin typeface="Cambria Bold"/>
                  <a:ea typeface="Cambria Bold"/>
                  <a:cs typeface="Cambria Bold"/>
                  <a:sym typeface="Cambria Bold"/>
                </a:rPr>
                <a:t>The Proposed AI/ML Solution</a:t>
              </a:r>
            </a:p>
          </p:txBody>
        </p:sp>
      </p:grpSp>
      <p:grpSp>
        <p:nvGrpSpPr>
          <p:cNvPr name="Group 5" id="5"/>
          <p:cNvGrpSpPr/>
          <p:nvPr/>
        </p:nvGrpSpPr>
        <p:grpSpPr>
          <a:xfrm rot="0">
            <a:off x="822960" y="1426464"/>
            <a:ext cx="14264640" cy="438912"/>
            <a:chOff x="0" y="0"/>
            <a:chExt cx="19019520" cy="585216"/>
          </a:xfrm>
        </p:grpSpPr>
        <p:sp>
          <p:nvSpPr>
            <p:cNvPr name="Freeform 6" id="6"/>
            <p:cNvSpPr/>
            <p:nvPr/>
          </p:nvSpPr>
          <p:spPr>
            <a:xfrm flipH="false" flipV="false" rot="0">
              <a:off x="0" y="0"/>
              <a:ext cx="19019520" cy="585216"/>
            </a:xfrm>
            <a:custGeom>
              <a:avLst/>
              <a:gdLst/>
              <a:ahLst/>
              <a:cxnLst/>
              <a:rect r="r" b="b" t="t" l="l"/>
              <a:pathLst>
                <a:path h="585216" w="19019520">
                  <a:moveTo>
                    <a:pt x="0" y="0"/>
                  </a:moveTo>
                  <a:lnTo>
                    <a:pt x="19019520" y="0"/>
                  </a:lnTo>
                  <a:lnTo>
                    <a:pt x="19019520" y="585216"/>
                  </a:lnTo>
                  <a:lnTo>
                    <a:pt x="0" y="585216"/>
                  </a:lnTo>
                  <a:close/>
                </a:path>
              </a:pathLst>
            </a:custGeom>
            <a:blipFill>
              <a:blip r:embed="rId2">
                <a:alphaModFix amt="0"/>
              </a:blip>
              <a:stretch>
                <a:fillRect l="0" t="-583263" r="0" b="-583263"/>
              </a:stretch>
            </a:blipFill>
          </p:spPr>
        </p:sp>
        <p:sp>
          <p:nvSpPr>
            <p:cNvPr name="TextBox 7" id="7"/>
            <p:cNvSpPr txBox="true"/>
            <p:nvPr/>
          </p:nvSpPr>
          <p:spPr>
            <a:xfrm>
              <a:off x="0" y="-47625"/>
              <a:ext cx="19019520" cy="632841"/>
            </a:xfrm>
            <a:prstGeom prst="rect">
              <a:avLst/>
            </a:prstGeom>
          </p:spPr>
          <p:txBody>
            <a:bodyPr anchor="ctr" rtlCol="false" tIns="0" lIns="0" bIns="0" rIns="0"/>
            <a:lstStyle/>
            <a:p>
              <a:pPr algn="l">
                <a:lnSpc>
                  <a:spcPts val="2340"/>
                </a:lnSpc>
              </a:pPr>
              <a:r>
                <a:rPr lang="en-US" sz="1950" i="true">
                  <a:solidFill>
                    <a:srgbClr val="5A6B7C"/>
                  </a:solidFill>
                  <a:latin typeface="Calibri (MS) Italics"/>
                  <a:ea typeface="Calibri (MS) Italics"/>
                  <a:cs typeface="Calibri (MS) Italics"/>
                  <a:sym typeface="Calibri (MS) Italics"/>
                </a:rPr>
                <a:t>Supervised classification, supported by unsupervised anomaly detection</a:t>
              </a:r>
            </a:p>
          </p:txBody>
        </p:sp>
      </p:grpSp>
      <p:grpSp>
        <p:nvGrpSpPr>
          <p:cNvPr name="Group 8" id="8"/>
          <p:cNvGrpSpPr/>
          <p:nvPr/>
        </p:nvGrpSpPr>
        <p:grpSpPr>
          <a:xfrm rot="0">
            <a:off x="16664940" y="576072"/>
            <a:ext cx="850392" cy="850392"/>
            <a:chOff x="0" y="0"/>
            <a:chExt cx="1133856" cy="1133856"/>
          </a:xfrm>
        </p:grpSpPr>
        <p:sp>
          <p:nvSpPr>
            <p:cNvPr name="Freeform 9" id="9"/>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F1F5F9"/>
            </a:solidFill>
          </p:spPr>
        </p:sp>
      </p:grpSp>
      <p:grpSp>
        <p:nvGrpSpPr>
          <p:cNvPr name="Group 10" id="10"/>
          <p:cNvGrpSpPr/>
          <p:nvPr/>
        </p:nvGrpSpPr>
        <p:grpSpPr>
          <a:xfrm rot="0">
            <a:off x="16664940" y="576072"/>
            <a:ext cx="850392" cy="850392"/>
            <a:chOff x="0" y="0"/>
            <a:chExt cx="1133856" cy="1133856"/>
          </a:xfrm>
        </p:grpSpPr>
        <p:sp>
          <p:nvSpPr>
            <p:cNvPr name="Freeform 11" id="11"/>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2">
                <a:alphaModFix amt="0"/>
              </a:blip>
              <a:stretch>
                <a:fillRect l="-78303" t="0" r="-78303" b="0"/>
              </a:stretch>
            </a:blipFill>
          </p:spPr>
        </p:sp>
        <p:sp>
          <p:nvSpPr>
            <p:cNvPr name="TextBox 12" id="12"/>
            <p:cNvSpPr txBox="true"/>
            <p:nvPr/>
          </p:nvSpPr>
          <p:spPr>
            <a:xfrm>
              <a:off x="0" y="-9525"/>
              <a:ext cx="1133856" cy="1143381"/>
            </a:xfrm>
            <a:prstGeom prst="rect">
              <a:avLst/>
            </a:prstGeom>
          </p:spPr>
          <p:txBody>
            <a:bodyPr anchor="ctr" rtlCol="false" tIns="0" lIns="0" bIns="0" rIns="0"/>
            <a:lstStyle/>
            <a:p>
              <a:pPr algn="ctr">
                <a:lnSpc>
                  <a:spcPts val="2879"/>
                </a:lnSpc>
              </a:pPr>
              <a:r>
                <a:rPr lang="en-US" sz="2400" b="true">
                  <a:solidFill>
                    <a:srgbClr val="004C8F"/>
                  </a:solidFill>
                  <a:latin typeface="Cambria Bold"/>
                  <a:ea typeface="Cambria Bold"/>
                  <a:cs typeface="Cambria Bold"/>
                  <a:sym typeface="Cambria Bold"/>
                </a:rPr>
                <a:t>5</a:t>
              </a:r>
            </a:p>
          </p:txBody>
        </p:sp>
      </p:grpSp>
      <p:grpSp>
        <p:nvGrpSpPr>
          <p:cNvPr name="Group 13" id="13"/>
          <p:cNvGrpSpPr/>
          <p:nvPr/>
        </p:nvGrpSpPr>
        <p:grpSpPr>
          <a:xfrm rot="0">
            <a:off x="813435" y="2294763"/>
            <a:ext cx="8248650" cy="5779770"/>
            <a:chOff x="0" y="0"/>
            <a:chExt cx="10998200" cy="7706360"/>
          </a:xfrm>
        </p:grpSpPr>
        <p:sp>
          <p:nvSpPr>
            <p:cNvPr name="Freeform 14" id="14"/>
            <p:cNvSpPr/>
            <p:nvPr/>
          </p:nvSpPr>
          <p:spPr>
            <a:xfrm flipH="false" flipV="false" rot="0">
              <a:off x="0" y="0"/>
              <a:ext cx="10998200" cy="7706360"/>
            </a:xfrm>
            <a:custGeom>
              <a:avLst/>
              <a:gdLst/>
              <a:ahLst/>
              <a:cxnLst/>
              <a:rect r="r" b="b" t="t" l="l"/>
              <a:pathLst>
                <a:path h="7706360" w="10998200">
                  <a:moveTo>
                    <a:pt x="0" y="146812"/>
                  </a:moveTo>
                  <a:cubicBezTo>
                    <a:pt x="0" y="65786"/>
                    <a:pt x="65786" y="0"/>
                    <a:pt x="146812" y="0"/>
                  </a:cubicBezTo>
                  <a:lnTo>
                    <a:pt x="10851388" y="0"/>
                  </a:lnTo>
                  <a:cubicBezTo>
                    <a:pt x="10932414" y="0"/>
                    <a:pt x="10998200" y="65786"/>
                    <a:pt x="10998200" y="146812"/>
                  </a:cubicBezTo>
                  <a:lnTo>
                    <a:pt x="10998200" y="7559548"/>
                  </a:lnTo>
                  <a:cubicBezTo>
                    <a:pt x="10998200" y="7640574"/>
                    <a:pt x="10932414" y="7706360"/>
                    <a:pt x="10851388" y="7706360"/>
                  </a:cubicBezTo>
                  <a:lnTo>
                    <a:pt x="146812" y="7706360"/>
                  </a:lnTo>
                  <a:cubicBezTo>
                    <a:pt x="65786" y="7706360"/>
                    <a:pt x="0" y="7640574"/>
                    <a:pt x="0" y="7559548"/>
                  </a:cubicBezTo>
                  <a:close/>
                </a:path>
              </a:pathLst>
            </a:custGeom>
            <a:solidFill>
              <a:srgbClr val="F1F5F9"/>
            </a:solidFill>
            <a:ln w="19050" cap="sq">
              <a:solidFill>
                <a:srgbClr val="F1F5F9"/>
              </a:solidFill>
              <a:prstDash val="solid"/>
              <a:miter/>
            </a:ln>
          </p:spPr>
        </p:sp>
      </p:grpSp>
      <p:grpSp>
        <p:nvGrpSpPr>
          <p:cNvPr name="Group 15" id="15"/>
          <p:cNvGrpSpPr/>
          <p:nvPr/>
        </p:nvGrpSpPr>
        <p:grpSpPr>
          <a:xfrm rot="0">
            <a:off x="1261872" y="2606040"/>
            <a:ext cx="7406640" cy="480060"/>
            <a:chOff x="0" y="0"/>
            <a:chExt cx="9875520" cy="640080"/>
          </a:xfrm>
        </p:grpSpPr>
        <p:sp>
          <p:nvSpPr>
            <p:cNvPr name="Freeform 16" id="16"/>
            <p:cNvSpPr/>
            <p:nvPr/>
          </p:nvSpPr>
          <p:spPr>
            <a:xfrm flipH="false" flipV="false" rot="0">
              <a:off x="0" y="0"/>
              <a:ext cx="9875520" cy="640080"/>
            </a:xfrm>
            <a:custGeom>
              <a:avLst/>
              <a:gdLst/>
              <a:ahLst/>
              <a:cxnLst/>
              <a:rect r="r" b="b" t="t" l="l"/>
              <a:pathLst>
                <a:path h="640080" w="9875520">
                  <a:moveTo>
                    <a:pt x="0" y="0"/>
                  </a:moveTo>
                  <a:lnTo>
                    <a:pt x="9875520" y="0"/>
                  </a:lnTo>
                  <a:lnTo>
                    <a:pt x="9875520" y="640080"/>
                  </a:lnTo>
                  <a:lnTo>
                    <a:pt x="0" y="640080"/>
                  </a:lnTo>
                  <a:close/>
                </a:path>
              </a:pathLst>
            </a:custGeom>
            <a:blipFill>
              <a:blip r:embed="rId2">
                <a:alphaModFix amt="0"/>
              </a:blip>
              <a:stretch>
                <a:fillRect l="0" t="-250626" r="0" b="-250626"/>
              </a:stretch>
            </a:blipFill>
          </p:spPr>
        </p:sp>
        <p:sp>
          <p:nvSpPr>
            <p:cNvPr name="TextBox 17" id="17"/>
            <p:cNvSpPr txBox="true"/>
            <p:nvPr/>
          </p:nvSpPr>
          <p:spPr>
            <a:xfrm>
              <a:off x="0" y="-57150"/>
              <a:ext cx="9875520" cy="697230"/>
            </a:xfrm>
            <a:prstGeom prst="rect">
              <a:avLst/>
            </a:prstGeom>
          </p:spPr>
          <p:txBody>
            <a:bodyPr anchor="ctr" rtlCol="false" tIns="0" lIns="0" bIns="0" rIns="0"/>
            <a:lstStyle/>
            <a:p>
              <a:pPr algn="l">
                <a:lnSpc>
                  <a:spcPts val="2700"/>
                </a:lnSpc>
              </a:pPr>
              <a:r>
                <a:rPr lang="en-US" sz="2250" b="true">
                  <a:solidFill>
                    <a:srgbClr val="004C8F"/>
                  </a:solidFill>
                  <a:latin typeface="Calibri (MS) Bold"/>
                  <a:ea typeface="Calibri (MS) Bold"/>
                  <a:cs typeface="Calibri (MS) Bold"/>
                  <a:sym typeface="Calibri (MS) Bold"/>
                </a:rPr>
                <a:t>Primary approach: Binary classification</a:t>
              </a:r>
            </a:p>
          </p:txBody>
        </p:sp>
      </p:grpSp>
      <p:grpSp>
        <p:nvGrpSpPr>
          <p:cNvPr name="Group 18" id="18"/>
          <p:cNvGrpSpPr/>
          <p:nvPr/>
        </p:nvGrpSpPr>
        <p:grpSpPr>
          <a:xfrm rot="0">
            <a:off x="1261872" y="3154680"/>
            <a:ext cx="7406640" cy="1234440"/>
            <a:chOff x="0" y="0"/>
            <a:chExt cx="9875520" cy="1645920"/>
          </a:xfrm>
        </p:grpSpPr>
        <p:sp>
          <p:nvSpPr>
            <p:cNvPr name="Freeform 19" id="19"/>
            <p:cNvSpPr/>
            <p:nvPr/>
          </p:nvSpPr>
          <p:spPr>
            <a:xfrm flipH="false" flipV="false" rot="0">
              <a:off x="0" y="0"/>
              <a:ext cx="9875520" cy="1645920"/>
            </a:xfrm>
            <a:custGeom>
              <a:avLst/>
              <a:gdLst/>
              <a:ahLst/>
              <a:cxnLst/>
              <a:rect r="r" b="b" t="t" l="l"/>
              <a:pathLst>
                <a:path h="1645920" w="9875520">
                  <a:moveTo>
                    <a:pt x="0" y="0"/>
                  </a:moveTo>
                  <a:lnTo>
                    <a:pt x="9875520" y="0"/>
                  </a:lnTo>
                  <a:lnTo>
                    <a:pt x="9875520" y="1645920"/>
                  </a:lnTo>
                  <a:lnTo>
                    <a:pt x="0" y="1645920"/>
                  </a:lnTo>
                  <a:close/>
                </a:path>
              </a:pathLst>
            </a:custGeom>
            <a:blipFill>
              <a:blip r:embed="rId2">
                <a:alphaModFix amt="0"/>
              </a:blip>
              <a:stretch>
                <a:fillRect l="0" t="-66910" r="0" b="-66910"/>
              </a:stretch>
            </a:blipFill>
          </p:spPr>
        </p:sp>
        <p:sp>
          <p:nvSpPr>
            <p:cNvPr name="TextBox 20" id="20"/>
            <p:cNvSpPr txBox="true"/>
            <p:nvPr/>
          </p:nvSpPr>
          <p:spPr>
            <a:xfrm>
              <a:off x="0" y="-76200"/>
              <a:ext cx="9875520" cy="1722120"/>
            </a:xfrm>
            <a:prstGeom prst="rect">
              <a:avLst/>
            </a:prstGeom>
          </p:spPr>
          <p:txBody>
            <a:bodyPr anchor="ctr" rtlCol="false" tIns="0" lIns="0" bIns="0" rIns="0"/>
            <a:lstStyle/>
            <a:p>
              <a:pPr algn="l">
                <a:lnSpc>
                  <a:spcPts val="2550"/>
                </a:lnSpc>
              </a:pPr>
              <a:r>
                <a:rPr lang="en-US" sz="1800">
                  <a:solidFill>
                    <a:srgbClr val="3D4C5A"/>
                  </a:solidFill>
                  <a:latin typeface="Calibri (MS)"/>
                  <a:ea typeface="Calibri (MS)"/>
                  <a:cs typeface="Calibri (MS)"/>
                  <a:sym typeface="Calibri (MS)"/>
                </a:rPr>
                <a:t>Each transaction is scored as genuine or fraudulent, producing a fraud probability between 0 and 1. The bank sets a threshold above which a transaction is challenged or blocked.</a:t>
              </a:r>
            </a:p>
          </p:txBody>
        </p:sp>
      </p:grpSp>
      <p:grpSp>
        <p:nvGrpSpPr>
          <p:cNvPr name="Group 21" id="21"/>
          <p:cNvGrpSpPr/>
          <p:nvPr/>
        </p:nvGrpSpPr>
        <p:grpSpPr>
          <a:xfrm rot="0">
            <a:off x="1261872" y="4389120"/>
            <a:ext cx="7406640" cy="411480"/>
            <a:chOff x="0" y="0"/>
            <a:chExt cx="9875520" cy="548640"/>
          </a:xfrm>
        </p:grpSpPr>
        <p:sp>
          <p:nvSpPr>
            <p:cNvPr name="Freeform 22" id="22"/>
            <p:cNvSpPr/>
            <p:nvPr/>
          </p:nvSpPr>
          <p:spPr>
            <a:xfrm flipH="false" flipV="false" rot="0">
              <a:off x="0" y="0"/>
              <a:ext cx="9875520" cy="548640"/>
            </a:xfrm>
            <a:custGeom>
              <a:avLst/>
              <a:gdLst/>
              <a:ahLst/>
              <a:cxnLst/>
              <a:rect r="r" b="b" t="t" l="l"/>
              <a:pathLst>
                <a:path h="548640" w="9875520">
                  <a:moveTo>
                    <a:pt x="0" y="0"/>
                  </a:moveTo>
                  <a:lnTo>
                    <a:pt x="9875520" y="0"/>
                  </a:lnTo>
                  <a:lnTo>
                    <a:pt x="9875520" y="548640"/>
                  </a:lnTo>
                  <a:lnTo>
                    <a:pt x="0" y="548640"/>
                  </a:lnTo>
                  <a:close/>
                </a:path>
              </a:pathLst>
            </a:custGeom>
            <a:blipFill>
              <a:blip r:embed="rId2">
                <a:alphaModFix amt="0"/>
              </a:blip>
              <a:stretch>
                <a:fillRect l="0" t="-300730" r="0" b="-300730"/>
              </a:stretch>
            </a:blipFill>
          </p:spPr>
        </p:sp>
        <p:sp>
          <p:nvSpPr>
            <p:cNvPr name="TextBox 23" id="23"/>
            <p:cNvSpPr txBox="true"/>
            <p:nvPr/>
          </p:nvSpPr>
          <p:spPr>
            <a:xfrm>
              <a:off x="0" y="-47625"/>
              <a:ext cx="9875520" cy="596265"/>
            </a:xfrm>
            <a:prstGeom prst="rect">
              <a:avLst/>
            </a:prstGeom>
          </p:spPr>
          <p:txBody>
            <a:bodyPr anchor="ctr" rtlCol="false" tIns="0" lIns="0" bIns="0" rIns="0"/>
            <a:lstStyle/>
            <a:p>
              <a:pPr algn="l">
                <a:lnSpc>
                  <a:spcPts val="2340"/>
                </a:lnSpc>
              </a:pPr>
              <a:r>
                <a:rPr lang="en-US" sz="1950" b="true">
                  <a:solidFill>
                    <a:srgbClr val="0A2540"/>
                  </a:solidFill>
                  <a:latin typeface="Calibri (MS) Bold"/>
                  <a:ea typeface="Calibri (MS) Bold"/>
                  <a:cs typeface="Calibri (MS) Bold"/>
                  <a:sym typeface="Calibri (MS) Bold"/>
                </a:rPr>
                <a:t>Suitable algorithms</a:t>
              </a:r>
            </a:p>
          </p:txBody>
        </p:sp>
      </p:grpSp>
      <p:grpSp>
        <p:nvGrpSpPr>
          <p:cNvPr name="Group 24" id="24"/>
          <p:cNvGrpSpPr/>
          <p:nvPr/>
        </p:nvGrpSpPr>
        <p:grpSpPr>
          <a:xfrm rot="0">
            <a:off x="1261872" y="4869180"/>
            <a:ext cx="7406640" cy="2948940"/>
            <a:chOff x="0" y="0"/>
            <a:chExt cx="9875520" cy="3931920"/>
          </a:xfrm>
        </p:grpSpPr>
        <p:sp>
          <p:nvSpPr>
            <p:cNvPr name="Freeform 25" id="25"/>
            <p:cNvSpPr/>
            <p:nvPr/>
          </p:nvSpPr>
          <p:spPr>
            <a:xfrm flipH="false" flipV="false" rot="0">
              <a:off x="0" y="0"/>
              <a:ext cx="9875520" cy="3931920"/>
            </a:xfrm>
            <a:custGeom>
              <a:avLst/>
              <a:gdLst/>
              <a:ahLst/>
              <a:cxnLst/>
              <a:rect r="r" b="b" t="t" l="l"/>
              <a:pathLst>
                <a:path h="3931920" w="9875520">
                  <a:moveTo>
                    <a:pt x="0" y="0"/>
                  </a:moveTo>
                  <a:lnTo>
                    <a:pt x="9875520" y="0"/>
                  </a:lnTo>
                  <a:lnTo>
                    <a:pt x="9875520" y="3931920"/>
                  </a:lnTo>
                  <a:lnTo>
                    <a:pt x="0" y="3931920"/>
                  </a:lnTo>
                  <a:close/>
                </a:path>
              </a:pathLst>
            </a:custGeom>
            <a:blipFill>
              <a:blip r:embed="rId2">
                <a:alphaModFix amt="0"/>
              </a:blip>
              <a:stretch>
                <a:fillRect l="-1083" t="0" r="-1083" b="0"/>
              </a:stretch>
            </a:blipFill>
          </p:spPr>
        </p:sp>
        <p:sp>
          <p:nvSpPr>
            <p:cNvPr name="TextBox 26" id="26"/>
            <p:cNvSpPr txBox="true"/>
            <p:nvPr/>
          </p:nvSpPr>
          <p:spPr>
            <a:xfrm>
              <a:off x="0" y="-57150"/>
              <a:ext cx="9875520" cy="3989070"/>
            </a:xfrm>
            <a:prstGeom prst="rect">
              <a:avLst/>
            </a:prstGeom>
          </p:spPr>
          <p:txBody>
            <a:bodyPr anchor="ctr" rtlCol="false" tIns="0" lIns="0" bIns="0" rIns="0"/>
            <a:lstStyle/>
            <a:p>
              <a:pPr algn="l" marL="312182" indent="-156091" lvl="1">
                <a:lnSpc>
                  <a:spcPts val="2250"/>
                </a:lnSpc>
                <a:buFont typeface="Arial"/>
                <a:buChar char="•"/>
              </a:pPr>
              <a:r>
                <a:rPr lang="en-US" sz="1725">
                  <a:solidFill>
                    <a:srgbClr val="3D4C5A"/>
                  </a:solidFill>
                  <a:latin typeface="Calibri (MS)"/>
                  <a:ea typeface="Calibri (MS)"/>
                  <a:cs typeface="Calibri (MS)"/>
                  <a:sym typeface="Calibri (MS)"/>
                </a:rPr>
                <a:t>Logistic regression — interpretable baseline, easy to explain to regulators</a:t>
              </a:r>
            </a:p>
            <a:p>
              <a:pPr algn="l" marL="312182" indent="-156091" lvl="1">
                <a:lnSpc>
                  <a:spcPts val="2250"/>
                </a:lnSpc>
                <a:buFont typeface="Arial"/>
                <a:buChar char="•"/>
              </a:pPr>
              <a:r>
                <a:rPr lang="en-US" sz="1725">
                  <a:solidFill>
                    <a:srgbClr val="3D4C5A"/>
                  </a:solidFill>
                  <a:latin typeface="Calibri (MS)"/>
                  <a:ea typeface="Calibri (MS)"/>
                  <a:cs typeface="Calibri (MS)"/>
                  <a:sym typeface="Calibri (MS)"/>
                </a:rPr>
                <a:t>Random Forest / XGBoost — handles non-linear patterns and mixed data types well</a:t>
              </a:r>
            </a:p>
            <a:p>
              <a:pPr algn="l" marL="312182" indent="-156091" lvl="1">
                <a:lnSpc>
                  <a:spcPts val="2250"/>
                </a:lnSpc>
                <a:buFont typeface="Arial"/>
                <a:buChar char="•"/>
              </a:pPr>
              <a:r>
                <a:rPr lang="en-US" sz="1725">
                  <a:solidFill>
                    <a:srgbClr val="3D4C5A"/>
                  </a:solidFill>
                  <a:latin typeface="Calibri (MS)"/>
                  <a:ea typeface="Calibri (MS)"/>
                  <a:cs typeface="Calibri (MS)"/>
                  <a:sym typeface="Calibri (MS)"/>
                </a:rPr>
                <a:t>Isolation Forest / autoencoders — unsupervised, flags never-before-seen fraud patterns without labels</a:t>
              </a:r>
            </a:p>
            <a:p>
              <a:pPr algn="l" marL="312182" indent="-156091" lvl="1">
                <a:lnSpc>
                  <a:spcPts val="2250"/>
                </a:lnSpc>
                <a:buFont typeface="Arial"/>
                <a:buChar char="•"/>
              </a:pPr>
              <a:r>
                <a:rPr lang="en-US" sz="1725">
                  <a:solidFill>
                    <a:srgbClr val="3D4C5A"/>
                  </a:solidFill>
                  <a:latin typeface="Calibri (MS)"/>
                  <a:ea typeface="Calibri (MS)"/>
                  <a:cs typeface="Calibri (MS)"/>
                  <a:sym typeface="Calibri (MS)"/>
                </a:rPr>
                <a:t>Recurrent neural networks — model the sequence of a customer's transactions over time</a:t>
              </a:r>
            </a:p>
          </p:txBody>
        </p:sp>
      </p:grpSp>
      <p:grpSp>
        <p:nvGrpSpPr>
          <p:cNvPr name="Group 27" id="27"/>
          <p:cNvGrpSpPr/>
          <p:nvPr/>
        </p:nvGrpSpPr>
        <p:grpSpPr>
          <a:xfrm rot="0">
            <a:off x="9532620" y="2359152"/>
            <a:ext cx="7955280" cy="480060"/>
            <a:chOff x="0" y="0"/>
            <a:chExt cx="10607040" cy="640080"/>
          </a:xfrm>
        </p:grpSpPr>
        <p:sp>
          <p:nvSpPr>
            <p:cNvPr name="Freeform 28" id="28"/>
            <p:cNvSpPr/>
            <p:nvPr/>
          </p:nvSpPr>
          <p:spPr>
            <a:xfrm flipH="false" flipV="false" rot="0">
              <a:off x="0" y="0"/>
              <a:ext cx="10607040" cy="640080"/>
            </a:xfrm>
            <a:custGeom>
              <a:avLst/>
              <a:gdLst/>
              <a:ahLst/>
              <a:cxnLst/>
              <a:rect r="r" b="b" t="t" l="l"/>
              <a:pathLst>
                <a:path h="640080" w="10607040">
                  <a:moveTo>
                    <a:pt x="0" y="0"/>
                  </a:moveTo>
                  <a:lnTo>
                    <a:pt x="10607040" y="0"/>
                  </a:lnTo>
                  <a:lnTo>
                    <a:pt x="10607040" y="640080"/>
                  </a:lnTo>
                  <a:lnTo>
                    <a:pt x="0" y="640080"/>
                  </a:lnTo>
                  <a:close/>
                </a:path>
              </a:pathLst>
            </a:custGeom>
            <a:blipFill>
              <a:blip r:embed="rId2">
                <a:alphaModFix amt="0"/>
              </a:blip>
              <a:stretch>
                <a:fillRect l="0" t="-272894" r="0" b="-272894"/>
              </a:stretch>
            </a:blipFill>
          </p:spPr>
        </p:sp>
        <p:sp>
          <p:nvSpPr>
            <p:cNvPr name="TextBox 29" id="29"/>
            <p:cNvSpPr txBox="true"/>
            <p:nvPr/>
          </p:nvSpPr>
          <p:spPr>
            <a:xfrm>
              <a:off x="0" y="-57150"/>
              <a:ext cx="10607040" cy="697230"/>
            </a:xfrm>
            <a:prstGeom prst="rect">
              <a:avLst/>
            </a:prstGeom>
          </p:spPr>
          <p:txBody>
            <a:bodyPr anchor="ctr" rtlCol="false" tIns="0" lIns="0" bIns="0" rIns="0"/>
            <a:lstStyle/>
            <a:p>
              <a:pPr algn="l">
                <a:lnSpc>
                  <a:spcPts val="2700"/>
                </a:lnSpc>
              </a:pPr>
              <a:r>
                <a:rPr lang="en-US" sz="2250" b="true">
                  <a:solidFill>
                    <a:srgbClr val="0A2540"/>
                  </a:solidFill>
                  <a:latin typeface="Calibri (MS) Bold"/>
                  <a:ea typeface="Calibri (MS) Bold"/>
                  <a:cs typeface="Calibri (MS) Bold"/>
                  <a:sym typeface="Calibri (MS) Bold"/>
                </a:rPr>
                <a:t>Why this approach fits the problem</a:t>
              </a:r>
            </a:p>
          </p:txBody>
        </p:sp>
      </p:grpSp>
      <p:grpSp>
        <p:nvGrpSpPr>
          <p:cNvPr name="Group 30" id="30"/>
          <p:cNvGrpSpPr/>
          <p:nvPr/>
        </p:nvGrpSpPr>
        <p:grpSpPr>
          <a:xfrm rot="0">
            <a:off x="9532620" y="3086100"/>
            <a:ext cx="384048" cy="384048"/>
            <a:chOff x="0" y="0"/>
            <a:chExt cx="512064" cy="512064"/>
          </a:xfrm>
        </p:grpSpPr>
        <p:sp>
          <p:nvSpPr>
            <p:cNvPr name="Freeform 31" id="31"/>
            <p:cNvSpPr/>
            <p:nvPr/>
          </p:nvSpPr>
          <p:spPr>
            <a:xfrm flipH="false" flipV="false" rot="0">
              <a:off x="0" y="0"/>
              <a:ext cx="512064" cy="512064"/>
            </a:xfrm>
            <a:custGeom>
              <a:avLst/>
              <a:gdLst/>
              <a:ahLst/>
              <a:cxnLst/>
              <a:rect r="r" b="b" t="t" l="l"/>
              <a:pathLst>
                <a:path h="512064" w="512064">
                  <a:moveTo>
                    <a:pt x="0" y="256032"/>
                  </a:moveTo>
                  <a:cubicBezTo>
                    <a:pt x="0" y="114681"/>
                    <a:pt x="114681" y="0"/>
                    <a:pt x="256032" y="0"/>
                  </a:cubicBezTo>
                  <a:cubicBezTo>
                    <a:pt x="397383" y="0"/>
                    <a:pt x="512064" y="114681"/>
                    <a:pt x="512064" y="256032"/>
                  </a:cubicBezTo>
                  <a:cubicBezTo>
                    <a:pt x="512064" y="397383"/>
                    <a:pt x="397383" y="512064"/>
                    <a:pt x="256032" y="512064"/>
                  </a:cubicBezTo>
                  <a:cubicBezTo>
                    <a:pt x="114681" y="512064"/>
                    <a:pt x="0" y="397383"/>
                    <a:pt x="0" y="256032"/>
                  </a:cubicBezTo>
                  <a:close/>
                </a:path>
              </a:pathLst>
            </a:custGeom>
            <a:solidFill>
              <a:srgbClr val="ED232A"/>
            </a:solidFill>
          </p:spPr>
        </p:sp>
      </p:grpSp>
      <p:grpSp>
        <p:nvGrpSpPr>
          <p:cNvPr name="Group 32" id="32"/>
          <p:cNvGrpSpPr/>
          <p:nvPr/>
        </p:nvGrpSpPr>
        <p:grpSpPr>
          <a:xfrm rot="0">
            <a:off x="10122408" y="3017520"/>
            <a:ext cx="7338060" cy="411480"/>
            <a:chOff x="0" y="0"/>
            <a:chExt cx="9784080" cy="548640"/>
          </a:xfrm>
        </p:grpSpPr>
        <p:sp>
          <p:nvSpPr>
            <p:cNvPr name="Freeform 33" id="33"/>
            <p:cNvSpPr/>
            <p:nvPr/>
          </p:nvSpPr>
          <p:spPr>
            <a:xfrm flipH="false" flipV="false" rot="0">
              <a:off x="0" y="0"/>
              <a:ext cx="9784080" cy="548640"/>
            </a:xfrm>
            <a:custGeom>
              <a:avLst/>
              <a:gdLst/>
              <a:ahLst/>
              <a:cxnLst/>
              <a:rect r="r" b="b" t="t" l="l"/>
              <a:pathLst>
                <a:path h="548640" w="9784080">
                  <a:moveTo>
                    <a:pt x="0" y="0"/>
                  </a:moveTo>
                  <a:lnTo>
                    <a:pt x="9784080" y="0"/>
                  </a:lnTo>
                  <a:lnTo>
                    <a:pt x="9784080" y="548640"/>
                  </a:lnTo>
                  <a:lnTo>
                    <a:pt x="0" y="548640"/>
                  </a:lnTo>
                  <a:close/>
                </a:path>
              </a:pathLst>
            </a:custGeom>
            <a:blipFill>
              <a:blip r:embed="rId2">
                <a:alphaModFix amt="0"/>
              </a:blip>
              <a:stretch>
                <a:fillRect l="0" t="-297483" r="0" b="-297483"/>
              </a:stretch>
            </a:blipFill>
          </p:spPr>
        </p:sp>
        <p:sp>
          <p:nvSpPr>
            <p:cNvPr name="TextBox 34" id="34"/>
            <p:cNvSpPr txBox="true"/>
            <p:nvPr/>
          </p:nvSpPr>
          <p:spPr>
            <a:xfrm>
              <a:off x="0" y="-47625"/>
              <a:ext cx="9784080" cy="596265"/>
            </a:xfrm>
            <a:prstGeom prst="rect">
              <a:avLst/>
            </a:prstGeom>
          </p:spPr>
          <p:txBody>
            <a:bodyPr anchor="ctr" rtlCol="false" tIns="0" lIns="0" bIns="0" rIns="0"/>
            <a:lstStyle/>
            <a:p>
              <a:pPr algn="l">
                <a:lnSpc>
                  <a:spcPts val="2340"/>
                </a:lnSpc>
              </a:pPr>
              <a:r>
                <a:rPr lang="en-US" sz="1950" b="true">
                  <a:solidFill>
                    <a:srgbClr val="0A2540"/>
                  </a:solidFill>
                  <a:latin typeface="Calibri (MS) Bold"/>
                  <a:ea typeface="Calibri (MS) Bold"/>
                  <a:cs typeface="Calibri (MS) Bold"/>
                  <a:sym typeface="Calibri (MS) Bold"/>
                </a:rPr>
                <a:t>Labelled history already exists</a:t>
              </a:r>
            </a:p>
          </p:txBody>
        </p:sp>
      </p:grpSp>
      <p:grpSp>
        <p:nvGrpSpPr>
          <p:cNvPr name="Group 35" id="35"/>
          <p:cNvGrpSpPr/>
          <p:nvPr/>
        </p:nvGrpSpPr>
        <p:grpSpPr>
          <a:xfrm rot="0">
            <a:off x="10122408" y="3429000"/>
            <a:ext cx="7338060" cy="822960"/>
            <a:chOff x="0" y="0"/>
            <a:chExt cx="9784080" cy="1097280"/>
          </a:xfrm>
        </p:grpSpPr>
        <p:sp>
          <p:nvSpPr>
            <p:cNvPr name="Freeform 36" id="36"/>
            <p:cNvSpPr/>
            <p:nvPr/>
          </p:nvSpPr>
          <p:spPr>
            <a:xfrm flipH="false" flipV="false" rot="0">
              <a:off x="0" y="0"/>
              <a:ext cx="9784080" cy="1097280"/>
            </a:xfrm>
            <a:custGeom>
              <a:avLst/>
              <a:gdLst/>
              <a:ahLst/>
              <a:cxnLst/>
              <a:rect r="r" b="b" t="t" l="l"/>
              <a:pathLst>
                <a:path h="1097280" w="9784080">
                  <a:moveTo>
                    <a:pt x="0" y="0"/>
                  </a:moveTo>
                  <a:lnTo>
                    <a:pt x="9784080" y="0"/>
                  </a:lnTo>
                  <a:lnTo>
                    <a:pt x="9784080" y="1097280"/>
                  </a:lnTo>
                  <a:lnTo>
                    <a:pt x="0" y="1097280"/>
                  </a:lnTo>
                  <a:close/>
                </a:path>
              </a:pathLst>
            </a:custGeom>
            <a:blipFill>
              <a:blip r:embed="rId2">
                <a:alphaModFix amt="0"/>
              </a:blip>
              <a:stretch>
                <a:fillRect l="0" t="-123741" r="0" b="-123741"/>
              </a:stretch>
            </a:blipFill>
          </p:spPr>
        </p:sp>
        <p:sp>
          <p:nvSpPr>
            <p:cNvPr name="TextBox 37" id="37"/>
            <p:cNvSpPr txBox="true"/>
            <p:nvPr/>
          </p:nvSpPr>
          <p:spPr>
            <a:xfrm>
              <a:off x="0" y="-57150"/>
              <a:ext cx="9784080" cy="1154430"/>
            </a:xfrm>
            <a:prstGeom prst="rect">
              <a:avLst/>
            </a:prstGeom>
          </p:spPr>
          <p:txBody>
            <a:bodyPr anchor="ctr" rtlCol="false" tIns="0" lIns="0" bIns="0" rIns="0"/>
            <a:lstStyle/>
            <a:p>
              <a:pPr algn="l">
                <a:lnSpc>
                  <a:spcPts val="2250"/>
                </a:lnSpc>
              </a:pPr>
              <a:r>
                <a:rPr lang="en-US" sz="1650">
                  <a:solidFill>
                    <a:srgbClr val="5A6B7C"/>
                  </a:solidFill>
                  <a:latin typeface="Calibri (MS)"/>
                  <a:ea typeface="Calibri (MS)"/>
                  <a:cs typeface="Calibri (MS)"/>
                  <a:sym typeface="Calibri (MS)"/>
                </a:rPr>
                <a:t>The bank holds years of confirmed fraud and dispute records, which is exactly what supervised learning requires.</a:t>
              </a:r>
            </a:p>
          </p:txBody>
        </p:sp>
      </p:grpSp>
      <p:grpSp>
        <p:nvGrpSpPr>
          <p:cNvPr name="Group 38" id="38"/>
          <p:cNvGrpSpPr/>
          <p:nvPr/>
        </p:nvGrpSpPr>
        <p:grpSpPr>
          <a:xfrm rot="0">
            <a:off x="9532620" y="4389120"/>
            <a:ext cx="384048" cy="384048"/>
            <a:chOff x="0" y="0"/>
            <a:chExt cx="512064" cy="512064"/>
          </a:xfrm>
        </p:grpSpPr>
        <p:sp>
          <p:nvSpPr>
            <p:cNvPr name="Freeform 39" id="39"/>
            <p:cNvSpPr/>
            <p:nvPr/>
          </p:nvSpPr>
          <p:spPr>
            <a:xfrm flipH="false" flipV="false" rot="0">
              <a:off x="0" y="0"/>
              <a:ext cx="512064" cy="512064"/>
            </a:xfrm>
            <a:custGeom>
              <a:avLst/>
              <a:gdLst/>
              <a:ahLst/>
              <a:cxnLst/>
              <a:rect r="r" b="b" t="t" l="l"/>
              <a:pathLst>
                <a:path h="512064" w="512064">
                  <a:moveTo>
                    <a:pt x="0" y="256032"/>
                  </a:moveTo>
                  <a:cubicBezTo>
                    <a:pt x="0" y="114681"/>
                    <a:pt x="114681" y="0"/>
                    <a:pt x="256032" y="0"/>
                  </a:cubicBezTo>
                  <a:cubicBezTo>
                    <a:pt x="397383" y="0"/>
                    <a:pt x="512064" y="114681"/>
                    <a:pt x="512064" y="256032"/>
                  </a:cubicBezTo>
                  <a:cubicBezTo>
                    <a:pt x="512064" y="397383"/>
                    <a:pt x="397383" y="512064"/>
                    <a:pt x="256032" y="512064"/>
                  </a:cubicBezTo>
                  <a:cubicBezTo>
                    <a:pt x="114681" y="512064"/>
                    <a:pt x="0" y="397383"/>
                    <a:pt x="0" y="256032"/>
                  </a:cubicBezTo>
                  <a:close/>
                </a:path>
              </a:pathLst>
            </a:custGeom>
            <a:solidFill>
              <a:srgbClr val="ED232A"/>
            </a:solidFill>
          </p:spPr>
        </p:sp>
      </p:grpSp>
      <p:grpSp>
        <p:nvGrpSpPr>
          <p:cNvPr name="Group 40" id="40"/>
          <p:cNvGrpSpPr/>
          <p:nvPr/>
        </p:nvGrpSpPr>
        <p:grpSpPr>
          <a:xfrm rot="0">
            <a:off x="10122408" y="4320540"/>
            <a:ext cx="7338060" cy="411480"/>
            <a:chOff x="0" y="0"/>
            <a:chExt cx="9784080" cy="548640"/>
          </a:xfrm>
        </p:grpSpPr>
        <p:sp>
          <p:nvSpPr>
            <p:cNvPr name="Freeform 41" id="41"/>
            <p:cNvSpPr/>
            <p:nvPr/>
          </p:nvSpPr>
          <p:spPr>
            <a:xfrm flipH="false" flipV="false" rot="0">
              <a:off x="0" y="0"/>
              <a:ext cx="9784080" cy="548640"/>
            </a:xfrm>
            <a:custGeom>
              <a:avLst/>
              <a:gdLst/>
              <a:ahLst/>
              <a:cxnLst/>
              <a:rect r="r" b="b" t="t" l="l"/>
              <a:pathLst>
                <a:path h="548640" w="9784080">
                  <a:moveTo>
                    <a:pt x="0" y="0"/>
                  </a:moveTo>
                  <a:lnTo>
                    <a:pt x="9784080" y="0"/>
                  </a:lnTo>
                  <a:lnTo>
                    <a:pt x="9784080" y="548640"/>
                  </a:lnTo>
                  <a:lnTo>
                    <a:pt x="0" y="548640"/>
                  </a:lnTo>
                  <a:close/>
                </a:path>
              </a:pathLst>
            </a:custGeom>
            <a:blipFill>
              <a:blip r:embed="rId2">
                <a:alphaModFix amt="0"/>
              </a:blip>
              <a:stretch>
                <a:fillRect l="0" t="-297483" r="0" b="-297483"/>
              </a:stretch>
            </a:blipFill>
          </p:spPr>
        </p:sp>
        <p:sp>
          <p:nvSpPr>
            <p:cNvPr name="TextBox 42" id="42"/>
            <p:cNvSpPr txBox="true"/>
            <p:nvPr/>
          </p:nvSpPr>
          <p:spPr>
            <a:xfrm>
              <a:off x="0" y="-47625"/>
              <a:ext cx="9784080" cy="596265"/>
            </a:xfrm>
            <a:prstGeom prst="rect">
              <a:avLst/>
            </a:prstGeom>
          </p:spPr>
          <p:txBody>
            <a:bodyPr anchor="ctr" rtlCol="false" tIns="0" lIns="0" bIns="0" rIns="0"/>
            <a:lstStyle/>
            <a:p>
              <a:pPr algn="l">
                <a:lnSpc>
                  <a:spcPts val="2340"/>
                </a:lnSpc>
              </a:pPr>
              <a:r>
                <a:rPr lang="en-US" sz="1950" b="true">
                  <a:solidFill>
                    <a:srgbClr val="0A2540"/>
                  </a:solidFill>
                  <a:latin typeface="Calibri (MS) Bold"/>
                  <a:ea typeface="Calibri (MS) Bold"/>
                  <a:cs typeface="Calibri (MS) Bold"/>
                  <a:sym typeface="Calibri (MS) Bold"/>
                </a:rPr>
                <a:t>Decisions must be made in milliseconds</a:t>
              </a:r>
            </a:p>
          </p:txBody>
        </p:sp>
      </p:grpSp>
      <p:grpSp>
        <p:nvGrpSpPr>
          <p:cNvPr name="Group 43" id="43"/>
          <p:cNvGrpSpPr/>
          <p:nvPr/>
        </p:nvGrpSpPr>
        <p:grpSpPr>
          <a:xfrm rot="0">
            <a:off x="10122408" y="4732020"/>
            <a:ext cx="7338060" cy="822960"/>
            <a:chOff x="0" y="0"/>
            <a:chExt cx="9784080" cy="1097280"/>
          </a:xfrm>
        </p:grpSpPr>
        <p:sp>
          <p:nvSpPr>
            <p:cNvPr name="Freeform 44" id="44"/>
            <p:cNvSpPr/>
            <p:nvPr/>
          </p:nvSpPr>
          <p:spPr>
            <a:xfrm flipH="false" flipV="false" rot="0">
              <a:off x="0" y="0"/>
              <a:ext cx="9784080" cy="1097280"/>
            </a:xfrm>
            <a:custGeom>
              <a:avLst/>
              <a:gdLst/>
              <a:ahLst/>
              <a:cxnLst/>
              <a:rect r="r" b="b" t="t" l="l"/>
              <a:pathLst>
                <a:path h="1097280" w="9784080">
                  <a:moveTo>
                    <a:pt x="0" y="0"/>
                  </a:moveTo>
                  <a:lnTo>
                    <a:pt x="9784080" y="0"/>
                  </a:lnTo>
                  <a:lnTo>
                    <a:pt x="9784080" y="1097280"/>
                  </a:lnTo>
                  <a:lnTo>
                    <a:pt x="0" y="1097280"/>
                  </a:lnTo>
                  <a:close/>
                </a:path>
              </a:pathLst>
            </a:custGeom>
            <a:blipFill>
              <a:blip r:embed="rId2">
                <a:alphaModFix amt="0"/>
              </a:blip>
              <a:stretch>
                <a:fillRect l="0" t="-123741" r="0" b="-123741"/>
              </a:stretch>
            </a:blipFill>
          </p:spPr>
        </p:sp>
        <p:sp>
          <p:nvSpPr>
            <p:cNvPr name="TextBox 45" id="45"/>
            <p:cNvSpPr txBox="true"/>
            <p:nvPr/>
          </p:nvSpPr>
          <p:spPr>
            <a:xfrm>
              <a:off x="0" y="-57150"/>
              <a:ext cx="9784080" cy="1154430"/>
            </a:xfrm>
            <a:prstGeom prst="rect">
              <a:avLst/>
            </a:prstGeom>
          </p:spPr>
          <p:txBody>
            <a:bodyPr anchor="ctr" rtlCol="false" tIns="0" lIns="0" bIns="0" rIns="0"/>
            <a:lstStyle/>
            <a:p>
              <a:pPr algn="l">
                <a:lnSpc>
                  <a:spcPts val="2250"/>
                </a:lnSpc>
              </a:pPr>
              <a:r>
                <a:rPr lang="en-US" sz="1650">
                  <a:solidFill>
                    <a:srgbClr val="5A6B7C"/>
                  </a:solidFill>
                  <a:latin typeface="Calibri (MS)"/>
                  <a:ea typeface="Calibri (MS)"/>
                  <a:cs typeface="Calibri (MS)"/>
                  <a:sym typeface="Calibri (MS)"/>
                </a:rPr>
                <a:t>A trained model scores a transaction before the payment is authorised — humans cannot review at that speed.</a:t>
              </a:r>
            </a:p>
          </p:txBody>
        </p:sp>
      </p:grpSp>
      <p:grpSp>
        <p:nvGrpSpPr>
          <p:cNvPr name="Group 46" id="46"/>
          <p:cNvGrpSpPr/>
          <p:nvPr/>
        </p:nvGrpSpPr>
        <p:grpSpPr>
          <a:xfrm rot="0">
            <a:off x="9532620" y="5692140"/>
            <a:ext cx="384048" cy="384048"/>
            <a:chOff x="0" y="0"/>
            <a:chExt cx="512064" cy="512064"/>
          </a:xfrm>
        </p:grpSpPr>
        <p:sp>
          <p:nvSpPr>
            <p:cNvPr name="Freeform 47" id="47"/>
            <p:cNvSpPr/>
            <p:nvPr/>
          </p:nvSpPr>
          <p:spPr>
            <a:xfrm flipH="false" flipV="false" rot="0">
              <a:off x="0" y="0"/>
              <a:ext cx="512064" cy="512064"/>
            </a:xfrm>
            <a:custGeom>
              <a:avLst/>
              <a:gdLst/>
              <a:ahLst/>
              <a:cxnLst/>
              <a:rect r="r" b="b" t="t" l="l"/>
              <a:pathLst>
                <a:path h="512064" w="512064">
                  <a:moveTo>
                    <a:pt x="0" y="256032"/>
                  </a:moveTo>
                  <a:cubicBezTo>
                    <a:pt x="0" y="114681"/>
                    <a:pt x="114681" y="0"/>
                    <a:pt x="256032" y="0"/>
                  </a:cubicBezTo>
                  <a:cubicBezTo>
                    <a:pt x="397383" y="0"/>
                    <a:pt x="512064" y="114681"/>
                    <a:pt x="512064" y="256032"/>
                  </a:cubicBezTo>
                  <a:cubicBezTo>
                    <a:pt x="512064" y="397383"/>
                    <a:pt x="397383" y="512064"/>
                    <a:pt x="256032" y="512064"/>
                  </a:cubicBezTo>
                  <a:cubicBezTo>
                    <a:pt x="114681" y="512064"/>
                    <a:pt x="0" y="397383"/>
                    <a:pt x="0" y="256032"/>
                  </a:cubicBezTo>
                  <a:close/>
                </a:path>
              </a:pathLst>
            </a:custGeom>
            <a:solidFill>
              <a:srgbClr val="ED232A"/>
            </a:solidFill>
          </p:spPr>
        </p:sp>
      </p:grpSp>
      <p:grpSp>
        <p:nvGrpSpPr>
          <p:cNvPr name="Group 48" id="48"/>
          <p:cNvGrpSpPr/>
          <p:nvPr/>
        </p:nvGrpSpPr>
        <p:grpSpPr>
          <a:xfrm rot="0">
            <a:off x="10122408" y="5623560"/>
            <a:ext cx="7338060" cy="411480"/>
            <a:chOff x="0" y="0"/>
            <a:chExt cx="9784080" cy="548640"/>
          </a:xfrm>
        </p:grpSpPr>
        <p:sp>
          <p:nvSpPr>
            <p:cNvPr name="Freeform 49" id="49"/>
            <p:cNvSpPr/>
            <p:nvPr/>
          </p:nvSpPr>
          <p:spPr>
            <a:xfrm flipH="false" flipV="false" rot="0">
              <a:off x="0" y="0"/>
              <a:ext cx="9784080" cy="548640"/>
            </a:xfrm>
            <a:custGeom>
              <a:avLst/>
              <a:gdLst/>
              <a:ahLst/>
              <a:cxnLst/>
              <a:rect r="r" b="b" t="t" l="l"/>
              <a:pathLst>
                <a:path h="548640" w="9784080">
                  <a:moveTo>
                    <a:pt x="0" y="0"/>
                  </a:moveTo>
                  <a:lnTo>
                    <a:pt x="9784080" y="0"/>
                  </a:lnTo>
                  <a:lnTo>
                    <a:pt x="9784080" y="548640"/>
                  </a:lnTo>
                  <a:lnTo>
                    <a:pt x="0" y="548640"/>
                  </a:lnTo>
                  <a:close/>
                </a:path>
              </a:pathLst>
            </a:custGeom>
            <a:blipFill>
              <a:blip r:embed="rId2">
                <a:alphaModFix amt="0"/>
              </a:blip>
              <a:stretch>
                <a:fillRect l="0" t="-297483" r="0" b="-297483"/>
              </a:stretch>
            </a:blipFill>
          </p:spPr>
        </p:sp>
        <p:sp>
          <p:nvSpPr>
            <p:cNvPr name="TextBox 50" id="50"/>
            <p:cNvSpPr txBox="true"/>
            <p:nvPr/>
          </p:nvSpPr>
          <p:spPr>
            <a:xfrm>
              <a:off x="0" y="-47625"/>
              <a:ext cx="9784080" cy="596265"/>
            </a:xfrm>
            <a:prstGeom prst="rect">
              <a:avLst/>
            </a:prstGeom>
          </p:spPr>
          <p:txBody>
            <a:bodyPr anchor="ctr" rtlCol="false" tIns="0" lIns="0" bIns="0" rIns="0"/>
            <a:lstStyle/>
            <a:p>
              <a:pPr algn="l">
                <a:lnSpc>
                  <a:spcPts val="2340"/>
                </a:lnSpc>
              </a:pPr>
              <a:r>
                <a:rPr lang="en-US" sz="1950" b="true">
                  <a:solidFill>
                    <a:srgbClr val="0A2540"/>
                  </a:solidFill>
                  <a:latin typeface="Calibri (MS) Bold"/>
                  <a:ea typeface="Calibri (MS) Bold"/>
                  <a:cs typeface="Calibri (MS) Bold"/>
                  <a:sym typeface="Calibri (MS) Bold"/>
                </a:rPr>
                <a:t>Fraud patterns keep changing</a:t>
              </a:r>
            </a:p>
          </p:txBody>
        </p:sp>
      </p:grpSp>
      <p:grpSp>
        <p:nvGrpSpPr>
          <p:cNvPr name="Group 51" id="51"/>
          <p:cNvGrpSpPr/>
          <p:nvPr/>
        </p:nvGrpSpPr>
        <p:grpSpPr>
          <a:xfrm rot="0">
            <a:off x="10122408" y="6035040"/>
            <a:ext cx="7338060" cy="822960"/>
            <a:chOff x="0" y="0"/>
            <a:chExt cx="9784080" cy="1097280"/>
          </a:xfrm>
        </p:grpSpPr>
        <p:sp>
          <p:nvSpPr>
            <p:cNvPr name="Freeform 52" id="52"/>
            <p:cNvSpPr/>
            <p:nvPr/>
          </p:nvSpPr>
          <p:spPr>
            <a:xfrm flipH="false" flipV="false" rot="0">
              <a:off x="0" y="0"/>
              <a:ext cx="9784080" cy="1097280"/>
            </a:xfrm>
            <a:custGeom>
              <a:avLst/>
              <a:gdLst/>
              <a:ahLst/>
              <a:cxnLst/>
              <a:rect r="r" b="b" t="t" l="l"/>
              <a:pathLst>
                <a:path h="1097280" w="9784080">
                  <a:moveTo>
                    <a:pt x="0" y="0"/>
                  </a:moveTo>
                  <a:lnTo>
                    <a:pt x="9784080" y="0"/>
                  </a:lnTo>
                  <a:lnTo>
                    <a:pt x="9784080" y="1097280"/>
                  </a:lnTo>
                  <a:lnTo>
                    <a:pt x="0" y="1097280"/>
                  </a:lnTo>
                  <a:close/>
                </a:path>
              </a:pathLst>
            </a:custGeom>
            <a:blipFill>
              <a:blip r:embed="rId2">
                <a:alphaModFix amt="0"/>
              </a:blip>
              <a:stretch>
                <a:fillRect l="0" t="-123741" r="0" b="-123741"/>
              </a:stretch>
            </a:blipFill>
          </p:spPr>
        </p:sp>
        <p:sp>
          <p:nvSpPr>
            <p:cNvPr name="TextBox 53" id="53"/>
            <p:cNvSpPr txBox="true"/>
            <p:nvPr/>
          </p:nvSpPr>
          <p:spPr>
            <a:xfrm>
              <a:off x="0" y="-57150"/>
              <a:ext cx="9784080" cy="1154430"/>
            </a:xfrm>
            <a:prstGeom prst="rect">
              <a:avLst/>
            </a:prstGeom>
          </p:spPr>
          <p:txBody>
            <a:bodyPr anchor="ctr" rtlCol="false" tIns="0" lIns="0" bIns="0" rIns="0"/>
            <a:lstStyle/>
            <a:p>
              <a:pPr algn="l">
                <a:lnSpc>
                  <a:spcPts val="2250"/>
                </a:lnSpc>
              </a:pPr>
              <a:r>
                <a:rPr lang="en-US" sz="1650">
                  <a:solidFill>
                    <a:srgbClr val="5A6B7C"/>
                  </a:solidFill>
                  <a:latin typeface="Calibri (MS)"/>
                  <a:ea typeface="Calibri (MS)"/>
                  <a:cs typeface="Calibri (MS)"/>
                  <a:sym typeface="Calibri (MS)"/>
                </a:rPr>
                <a:t>Models are retrained on new fraud cases; static rules have to be rewritten manually each time.</a:t>
              </a:r>
            </a:p>
          </p:txBody>
        </p:sp>
      </p:grpSp>
      <p:grpSp>
        <p:nvGrpSpPr>
          <p:cNvPr name="Group 54" id="54"/>
          <p:cNvGrpSpPr/>
          <p:nvPr/>
        </p:nvGrpSpPr>
        <p:grpSpPr>
          <a:xfrm rot="0">
            <a:off x="9532620" y="6995160"/>
            <a:ext cx="384048" cy="384048"/>
            <a:chOff x="0" y="0"/>
            <a:chExt cx="512064" cy="512064"/>
          </a:xfrm>
        </p:grpSpPr>
        <p:sp>
          <p:nvSpPr>
            <p:cNvPr name="Freeform 55" id="55"/>
            <p:cNvSpPr/>
            <p:nvPr/>
          </p:nvSpPr>
          <p:spPr>
            <a:xfrm flipH="false" flipV="false" rot="0">
              <a:off x="0" y="0"/>
              <a:ext cx="512064" cy="512064"/>
            </a:xfrm>
            <a:custGeom>
              <a:avLst/>
              <a:gdLst/>
              <a:ahLst/>
              <a:cxnLst/>
              <a:rect r="r" b="b" t="t" l="l"/>
              <a:pathLst>
                <a:path h="512064" w="512064">
                  <a:moveTo>
                    <a:pt x="0" y="256032"/>
                  </a:moveTo>
                  <a:cubicBezTo>
                    <a:pt x="0" y="114681"/>
                    <a:pt x="114681" y="0"/>
                    <a:pt x="256032" y="0"/>
                  </a:cubicBezTo>
                  <a:cubicBezTo>
                    <a:pt x="397383" y="0"/>
                    <a:pt x="512064" y="114681"/>
                    <a:pt x="512064" y="256032"/>
                  </a:cubicBezTo>
                  <a:cubicBezTo>
                    <a:pt x="512064" y="397383"/>
                    <a:pt x="397383" y="512064"/>
                    <a:pt x="256032" y="512064"/>
                  </a:cubicBezTo>
                  <a:cubicBezTo>
                    <a:pt x="114681" y="512064"/>
                    <a:pt x="0" y="397383"/>
                    <a:pt x="0" y="256032"/>
                  </a:cubicBezTo>
                  <a:close/>
                </a:path>
              </a:pathLst>
            </a:custGeom>
            <a:solidFill>
              <a:srgbClr val="ED232A"/>
            </a:solidFill>
          </p:spPr>
        </p:sp>
      </p:grpSp>
      <p:grpSp>
        <p:nvGrpSpPr>
          <p:cNvPr name="Group 56" id="56"/>
          <p:cNvGrpSpPr/>
          <p:nvPr/>
        </p:nvGrpSpPr>
        <p:grpSpPr>
          <a:xfrm rot="0">
            <a:off x="10122408" y="6926580"/>
            <a:ext cx="7338060" cy="411480"/>
            <a:chOff x="0" y="0"/>
            <a:chExt cx="9784080" cy="548640"/>
          </a:xfrm>
        </p:grpSpPr>
        <p:sp>
          <p:nvSpPr>
            <p:cNvPr name="Freeform 57" id="57"/>
            <p:cNvSpPr/>
            <p:nvPr/>
          </p:nvSpPr>
          <p:spPr>
            <a:xfrm flipH="false" flipV="false" rot="0">
              <a:off x="0" y="0"/>
              <a:ext cx="9784080" cy="548640"/>
            </a:xfrm>
            <a:custGeom>
              <a:avLst/>
              <a:gdLst/>
              <a:ahLst/>
              <a:cxnLst/>
              <a:rect r="r" b="b" t="t" l="l"/>
              <a:pathLst>
                <a:path h="548640" w="9784080">
                  <a:moveTo>
                    <a:pt x="0" y="0"/>
                  </a:moveTo>
                  <a:lnTo>
                    <a:pt x="9784080" y="0"/>
                  </a:lnTo>
                  <a:lnTo>
                    <a:pt x="9784080" y="548640"/>
                  </a:lnTo>
                  <a:lnTo>
                    <a:pt x="0" y="548640"/>
                  </a:lnTo>
                  <a:close/>
                </a:path>
              </a:pathLst>
            </a:custGeom>
            <a:blipFill>
              <a:blip r:embed="rId2">
                <a:alphaModFix amt="0"/>
              </a:blip>
              <a:stretch>
                <a:fillRect l="0" t="-297483" r="0" b="-297483"/>
              </a:stretch>
            </a:blipFill>
          </p:spPr>
        </p:sp>
        <p:sp>
          <p:nvSpPr>
            <p:cNvPr name="TextBox 58" id="58"/>
            <p:cNvSpPr txBox="true"/>
            <p:nvPr/>
          </p:nvSpPr>
          <p:spPr>
            <a:xfrm>
              <a:off x="0" y="-47625"/>
              <a:ext cx="9784080" cy="596265"/>
            </a:xfrm>
            <a:prstGeom prst="rect">
              <a:avLst/>
            </a:prstGeom>
          </p:spPr>
          <p:txBody>
            <a:bodyPr anchor="ctr" rtlCol="false" tIns="0" lIns="0" bIns="0" rIns="0"/>
            <a:lstStyle/>
            <a:p>
              <a:pPr algn="l">
                <a:lnSpc>
                  <a:spcPts val="2340"/>
                </a:lnSpc>
              </a:pPr>
              <a:r>
                <a:rPr lang="en-US" sz="1950" b="true">
                  <a:solidFill>
                    <a:srgbClr val="0A2540"/>
                  </a:solidFill>
                  <a:latin typeface="Calibri (MS) Bold"/>
                  <a:ea typeface="Calibri (MS) Bold"/>
                  <a:cs typeface="Calibri (MS) Bold"/>
                  <a:sym typeface="Calibri (MS) Bold"/>
                </a:rPr>
                <a:t>A hybrid design covers both cases</a:t>
              </a:r>
            </a:p>
          </p:txBody>
        </p:sp>
      </p:grpSp>
      <p:grpSp>
        <p:nvGrpSpPr>
          <p:cNvPr name="Group 59" id="59"/>
          <p:cNvGrpSpPr/>
          <p:nvPr/>
        </p:nvGrpSpPr>
        <p:grpSpPr>
          <a:xfrm rot="0">
            <a:off x="10122408" y="7338060"/>
            <a:ext cx="7338060" cy="822960"/>
            <a:chOff x="0" y="0"/>
            <a:chExt cx="9784080" cy="1097280"/>
          </a:xfrm>
        </p:grpSpPr>
        <p:sp>
          <p:nvSpPr>
            <p:cNvPr name="Freeform 60" id="60"/>
            <p:cNvSpPr/>
            <p:nvPr/>
          </p:nvSpPr>
          <p:spPr>
            <a:xfrm flipH="false" flipV="false" rot="0">
              <a:off x="0" y="0"/>
              <a:ext cx="9784080" cy="1097280"/>
            </a:xfrm>
            <a:custGeom>
              <a:avLst/>
              <a:gdLst/>
              <a:ahLst/>
              <a:cxnLst/>
              <a:rect r="r" b="b" t="t" l="l"/>
              <a:pathLst>
                <a:path h="1097280" w="9784080">
                  <a:moveTo>
                    <a:pt x="0" y="0"/>
                  </a:moveTo>
                  <a:lnTo>
                    <a:pt x="9784080" y="0"/>
                  </a:lnTo>
                  <a:lnTo>
                    <a:pt x="9784080" y="1097280"/>
                  </a:lnTo>
                  <a:lnTo>
                    <a:pt x="0" y="1097280"/>
                  </a:lnTo>
                  <a:close/>
                </a:path>
              </a:pathLst>
            </a:custGeom>
            <a:blipFill>
              <a:blip r:embed="rId2">
                <a:alphaModFix amt="0"/>
              </a:blip>
              <a:stretch>
                <a:fillRect l="0" t="-123741" r="0" b="-123741"/>
              </a:stretch>
            </a:blipFill>
          </p:spPr>
        </p:sp>
        <p:sp>
          <p:nvSpPr>
            <p:cNvPr name="TextBox 61" id="61"/>
            <p:cNvSpPr txBox="true"/>
            <p:nvPr/>
          </p:nvSpPr>
          <p:spPr>
            <a:xfrm>
              <a:off x="0" y="-57150"/>
              <a:ext cx="9784080" cy="1154430"/>
            </a:xfrm>
            <a:prstGeom prst="rect">
              <a:avLst/>
            </a:prstGeom>
          </p:spPr>
          <p:txBody>
            <a:bodyPr anchor="ctr" rtlCol="false" tIns="0" lIns="0" bIns="0" rIns="0"/>
            <a:lstStyle/>
            <a:p>
              <a:pPr algn="l">
                <a:lnSpc>
                  <a:spcPts val="2250"/>
                </a:lnSpc>
              </a:pPr>
              <a:r>
                <a:rPr lang="en-US" sz="1650">
                  <a:solidFill>
                    <a:srgbClr val="5A6B7C"/>
                  </a:solidFill>
                  <a:latin typeface="Calibri (MS)"/>
                  <a:ea typeface="Calibri (MS)"/>
                  <a:cs typeface="Calibri (MS)"/>
                  <a:sym typeface="Calibri (MS)"/>
                </a:rPr>
                <a:t>Supervised models catch known fraud types; anomaly detection catches novel ones the labels have never seen.</a:t>
              </a:r>
            </a:p>
          </p:txBody>
        </p:sp>
      </p:grpSp>
      <p:grpSp>
        <p:nvGrpSpPr>
          <p:cNvPr name="Group 62" id="62"/>
          <p:cNvGrpSpPr/>
          <p:nvPr/>
        </p:nvGrpSpPr>
        <p:grpSpPr>
          <a:xfrm rot="0">
            <a:off x="822960" y="8366760"/>
            <a:ext cx="16596360" cy="480060"/>
            <a:chOff x="0" y="0"/>
            <a:chExt cx="22128480" cy="640080"/>
          </a:xfrm>
        </p:grpSpPr>
        <p:sp>
          <p:nvSpPr>
            <p:cNvPr name="Freeform 63" id="63"/>
            <p:cNvSpPr/>
            <p:nvPr/>
          </p:nvSpPr>
          <p:spPr>
            <a:xfrm flipH="false" flipV="false" rot="0">
              <a:off x="0" y="0"/>
              <a:ext cx="22128480" cy="640080"/>
            </a:xfrm>
            <a:custGeom>
              <a:avLst/>
              <a:gdLst/>
              <a:ahLst/>
              <a:cxnLst/>
              <a:rect r="r" b="b" t="t" l="l"/>
              <a:pathLst>
                <a:path h="640080" w="22128480">
                  <a:moveTo>
                    <a:pt x="0" y="0"/>
                  </a:moveTo>
                  <a:lnTo>
                    <a:pt x="22128480" y="0"/>
                  </a:lnTo>
                  <a:lnTo>
                    <a:pt x="22128480" y="640080"/>
                  </a:lnTo>
                  <a:lnTo>
                    <a:pt x="0" y="640080"/>
                  </a:lnTo>
                  <a:close/>
                </a:path>
              </a:pathLst>
            </a:custGeom>
            <a:blipFill>
              <a:blip r:embed="rId2">
                <a:alphaModFix amt="0"/>
              </a:blip>
              <a:stretch>
                <a:fillRect l="0" t="-623625" r="0" b="-623625"/>
              </a:stretch>
            </a:blipFill>
          </p:spPr>
        </p:sp>
        <p:sp>
          <p:nvSpPr>
            <p:cNvPr name="TextBox 64" id="64"/>
            <p:cNvSpPr txBox="true"/>
            <p:nvPr/>
          </p:nvSpPr>
          <p:spPr>
            <a:xfrm>
              <a:off x="0" y="-38100"/>
              <a:ext cx="22128480" cy="678180"/>
            </a:xfrm>
            <a:prstGeom prst="rect">
              <a:avLst/>
            </a:prstGeom>
          </p:spPr>
          <p:txBody>
            <a:bodyPr anchor="ctr" rtlCol="false" tIns="0" lIns="0" bIns="0" rIns="0"/>
            <a:lstStyle/>
            <a:p>
              <a:pPr algn="l">
                <a:lnSpc>
                  <a:spcPts val="2070"/>
                </a:lnSpc>
              </a:pPr>
              <a:r>
                <a:rPr lang="en-US" sz="1725" i="true">
                  <a:solidFill>
                    <a:srgbClr val="004C8F"/>
                  </a:solidFill>
                  <a:latin typeface="Calibri (MS) Italics"/>
                  <a:ea typeface="Calibri (MS) Italics"/>
                  <a:cs typeface="Calibri (MS) Italics"/>
                  <a:sym typeface="Calibri (MS) Italics"/>
                </a:rPr>
                <a:t>HDFC Bank has publicly described AI and ML as an active area for fraud detection, including behavioural analysis and real-time anomaly detection.</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4264640" cy="822960"/>
            <a:chOff x="0" y="0"/>
            <a:chExt cx="19019520" cy="1097280"/>
          </a:xfrm>
        </p:grpSpPr>
        <p:sp>
          <p:nvSpPr>
            <p:cNvPr name="Freeform 3" id="3"/>
            <p:cNvSpPr/>
            <p:nvPr/>
          </p:nvSpPr>
          <p:spPr>
            <a:xfrm flipH="false" flipV="false" rot="0">
              <a:off x="0" y="0"/>
              <a:ext cx="19019520" cy="1097280"/>
            </a:xfrm>
            <a:custGeom>
              <a:avLst/>
              <a:gdLst/>
              <a:ahLst/>
              <a:cxnLst/>
              <a:rect r="r" b="b" t="t" l="l"/>
              <a:pathLst>
                <a:path h="1097280" w="19019520">
                  <a:moveTo>
                    <a:pt x="0" y="0"/>
                  </a:moveTo>
                  <a:lnTo>
                    <a:pt x="19019520" y="0"/>
                  </a:lnTo>
                  <a:lnTo>
                    <a:pt x="19019520" y="1097280"/>
                  </a:lnTo>
                  <a:lnTo>
                    <a:pt x="0" y="1097280"/>
                  </a:lnTo>
                  <a:close/>
                </a:path>
              </a:pathLst>
            </a:custGeom>
            <a:blipFill>
              <a:blip r:embed="rId2">
                <a:alphaModFix amt="0"/>
              </a:blip>
              <a:stretch>
                <a:fillRect l="0" t="-287740" r="0" b="-287740"/>
              </a:stretch>
            </a:blipFill>
          </p:spPr>
        </p:sp>
        <p:sp>
          <p:nvSpPr>
            <p:cNvPr name="TextBox 4" id="4"/>
            <p:cNvSpPr txBox="true"/>
            <p:nvPr/>
          </p:nvSpPr>
          <p:spPr>
            <a:xfrm>
              <a:off x="0" y="-9525"/>
              <a:ext cx="19019520" cy="1106805"/>
            </a:xfrm>
            <a:prstGeom prst="rect">
              <a:avLst/>
            </a:prstGeom>
          </p:spPr>
          <p:txBody>
            <a:bodyPr anchor="ctr" rtlCol="false" tIns="0" lIns="0" bIns="0" rIns="0"/>
            <a:lstStyle/>
            <a:p>
              <a:pPr algn="l">
                <a:lnSpc>
                  <a:spcPts val="5759"/>
                </a:lnSpc>
              </a:pPr>
              <a:r>
                <a:rPr lang="en-US" sz="4800" b="true">
                  <a:solidFill>
                    <a:srgbClr val="0A2540"/>
                  </a:solidFill>
                  <a:latin typeface="Cambria Bold"/>
                  <a:ea typeface="Cambria Bold"/>
                  <a:cs typeface="Cambria Bold"/>
                  <a:sym typeface="Cambria Bold"/>
                </a:rPr>
                <a:t>How the AI Solution Works</a:t>
              </a:r>
            </a:p>
          </p:txBody>
        </p:sp>
      </p:grpSp>
      <p:grpSp>
        <p:nvGrpSpPr>
          <p:cNvPr name="Group 5" id="5"/>
          <p:cNvGrpSpPr/>
          <p:nvPr/>
        </p:nvGrpSpPr>
        <p:grpSpPr>
          <a:xfrm rot="0">
            <a:off x="822960" y="1426464"/>
            <a:ext cx="14264640" cy="438912"/>
            <a:chOff x="0" y="0"/>
            <a:chExt cx="19019520" cy="585216"/>
          </a:xfrm>
        </p:grpSpPr>
        <p:sp>
          <p:nvSpPr>
            <p:cNvPr name="Freeform 6" id="6"/>
            <p:cNvSpPr/>
            <p:nvPr/>
          </p:nvSpPr>
          <p:spPr>
            <a:xfrm flipH="false" flipV="false" rot="0">
              <a:off x="0" y="0"/>
              <a:ext cx="19019520" cy="585216"/>
            </a:xfrm>
            <a:custGeom>
              <a:avLst/>
              <a:gdLst/>
              <a:ahLst/>
              <a:cxnLst/>
              <a:rect r="r" b="b" t="t" l="l"/>
              <a:pathLst>
                <a:path h="585216" w="19019520">
                  <a:moveTo>
                    <a:pt x="0" y="0"/>
                  </a:moveTo>
                  <a:lnTo>
                    <a:pt x="19019520" y="0"/>
                  </a:lnTo>
                  <a:lnTo>
                    <a:pt x="19019520" y="585216"/>
                  </a:lnTo>
                  <a:lnTo>
                    <a:pt x="0" y="585216"/>
                  </a:lnTo>
                  <a:close/>
                </a:path>
              </a:pathLst>
            </a:custGeom>
            <a:blipFill>
              <a:blip r:embed="rId2">
                <a:alphaModFix amt="0"/>
              </a:blip>
              <a:stretch>
                <a:fillRect l="0" t="-583263" r="0" b="-583263"/>
              </a:stretch>
            </a:blipFill>
          </p:spPr>
        </p:sp>
        <p:sp>
          <p:nvSpPr>
            <p:cNvPr name="TextBox 7" id="7"/>
            <p:cNvSpPr txBox="true"/>
            <p:nvPr/>
          </p:nvSpPr>
          <p:spPr>
            <a:xfrm>
              <a:off x="0" y="-47625"/>
              <a:ext cx="19019520" cy="632841"/>
            </a:xfrm>
            <a:prstGeom prst="rect">
              <a:avLst/>
            </a:prstGeom>
          </p:spPr>
          <p:txBody>
            <a:bodyPr anchor="ctr" rtlCol="false" tIns="0" lIns="0" bIns="0" rIns="0"/>
            <a:lstStyle/>
            <a:p>
              <a:pPr algn="l">
                <a:lnSpc>
                  <a:spcPts val="2340"/>
                </a:lnSpc>
              </a:pPr>
              <a:r>
                <a:rPr lang="en-US" sz="1950" i="true">
                  <a:solidFill>
                    <a:srgbClr val="5A6B7C"/>
                  </a:solidFill>
                  <a:latin typeface="Calibri (MS) Italics"/>
                  <a:ea typeface="Calibri (MS) Italics"/>
                  <a:cs typeface="Calibri (MS) Italics"/>
                  <a:sym typeface="Calibri (MS) Italics"/>
                </a:rPr>
                <a:t>From transaction to business outcome in under a second</a:t>
              </a:r>
            </a:p>
          </p:txBody>
        </p:sp>
      </p:grpSp>
      <p:grpSp>
        <p:nvGrpSpPr>
          <p:cNvPr name="Group 8" id="8"/>
          <p:cNvGrpSpPr/>
          <p:nvPr/>
        </p:nvGrpSpPr>
        <p:grpSpPr>
          <a:xfrm rot="0">
            <a:off x="16664940" y="576072"/>
            <a:ext cx="850392" cy="850392"/>
            <a:chOff x="0" y="0"/>
            <a:chExt cx="1133856" cy="1133856"/>
          </a:xfrm>
        </p:grpSpPr>
        <p:sp>
          <p:nvSpPr>
            <p:cNvPr name="Freeform 9" id="9"/>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F1F5F9"/>
            </a:solidFill>
          </p:spPr>
        </p:sp>
      </p:grpSp>
      <p:grpSp>
        <p:nvGrpSpPr>
          <p:cNvPr name="Group 10" id="10"/>
          <p:cNvGrpSpPr/>
          <p:nvPr/>
        </p:nvGrpSpPr>
        <p:grpSpPr>
          <a:xfrm rot="0">
            <a:off x="16664940" y="576072"/>
            <a:ext cx="850392" cy="850392"/>
            <a:chOff x="0" y="0"/>
            <a:chExt cx="1133856" cy="1133856"/>
          </a:xfrm>
        </p:grpSpPr>
        <p:sp>
          <p:nvSpPr>
            <p:cNvPr name="Freeform 11" id="11"/>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2">
                <a:alphaModFix amt="0"/>
              </a:blip>
              <a:stretch>
                <a:fillRect l="-78303" t="0" r="-78303" b="0"/>
              </a:stretch>
            </a:blipFill>
          </p:spPr>
        </p:sp>
        <p:sp>
          <p:nvSpPr>
            <p:cNvPr name="TextBox 12" id="12"/>
            <p:cNvSpPr txBox="true"/>
            <p:nvPr/>
          </p:nvSpPr>
          <p:spPr>
            <a:xfrm>
              <a:off x="0" y="-9525"/>
              <a:ext cx="1133856" cy="1143381"/>
            </a:xfrm>
            <a:prstGeom prst="rect">
              <a:avLst/>
            </a:prstGeom>
          </p:spPr>
          <p:txBody>
            <a:bodyPr anchor="ctr" rtlCol="false" tIns="0" lIns="0" bIns="0" rIns="0"/>
            <a:lstStyle/>
            <a:p>
              <a:pPr algn="ctr">
                <a:lnSpc>
                  <a:spcPts val="2879"/>
                </a:lnSpc>
              </a:pPr>
              <a:r>
                <a:rPr lang="en-US" sz="2400" b="true">
                  <a:solidFill>
                    <a:srgbClr val="004C8F"/>
                  </a:solidFill>
                  <a:latin typeface="Cambria Bold"/>
                  <a:ea typeface="Cambria Bold"/>
                  <a:cs typeface="Cambria Bold"/>
                  <a:sym typeface="Cambria Bold"/>
                </a:rPr>
                <a:t>6</a:t>
              </a:r>
            </a:p>
          </p:txBody>
        </p:sp>
      </p:grpSp>
      <p:grpSp>
        <p:nvGrpSpPr>
          <p:cNvPr name="Group 13" id="13"/>
          <p:cNvGrpSpPr/>
          <p:nvPr/>
        </p:nvGrpSpPr>
        <p:grpSpPr>
          <a:xfrm rot="0">
            <a:off x="427006" y="2525554"/>
            <a:ext cx="3109912" cy="3452812"/>
            <a:chOff x="0" y="0"/>
            <a:chExt cx="4146550" cy="4603750"/>
          </a:xfrm>
        </p:grpSpPr>
        <p:sp>
          <p:nvSpPr>
            <p:cNvPr name="Freeform 14" id="14"/>
            <p:cNvSpPr/>
            <p:nvPr/>
          </p:nvSpPr>
          <p:spPr>
            <a:xfrm flipH="false" flipV="false" rot="0">
              <a:off x="0" y="0"/>
              <a:ext cx="4146550" cy="4603750"/>
            </a:xfrm>
            <a:custGeom>
              <a:avLst/>
              <a:gdLst/>
              <a:ahLst/>
              <a:cxnLst/>
              <a:rect r="r" b="b" t="t" l="l"/>
              <a:pathLst>
                <a:path h="4603750" w="4146550">
                  <a:moveTo>
                    <a:pt x="0" y="147447"/>
                  </a:moveTo>
                  <a:cubicBezTo>
                    <a:pt x="0" y="66040"/>
                    <a:pt x="66040" y="0"/>
                    <a:pt x="147447" y="0"/>
                  </a:cubicBezTo>
                  <a:lnTo>
                    <a:pt x="3999103" y="0"/>
                  </a:lnTo>
                  <a:cubicBezTo>
                    <a:pt x="4080510" y="0"/>
                    <a:pt x="4146550" y="66040"/>
                    <a:pt x="4146550" y="147447"/>
                  </a:cubicBezTo>
                  <a:lnTo>
                    <a:pt x="4146550" y="4456303"/>
                  </a:lnTo>
                  <a:cubicBezTo>
                    <a:pt x="4146550" y="4537710"/>
                    <a:pt x="4080510" y="4603750"/>
                    <a:pt x="3999103" y="4603750"/>
                  </a:cubicBezTo>
                  <a:lnTo>
                    <a:pt x="147447" y="4603750"/>
                  </a:lnTo>
                  <a:cubicBezTo>
                    <a:pt x="66040" y="4603750"/>
                    <a:pt x="0" y="4537710"/>
                    <a:pt x="0" y="4456303"/>
                  </a:cubicBezTo>
                  <a:close/>
                </a:path>
              </a:pathLst>
            </a:custGeom>
            <a:solidFill>
              <a:srgbClr val="FFFFFF"/>
            </a:solidFill>
            <a:ln w="23812" cap="sq">
              <a:solidFill>
                <a:srgbClr val="C9D6E3"/>
              </a:solidFill>
              <a:prstDash val="solid"/>
              <a:miter/>
            </a:ln>
          </p:spPr>
        </p:sp>
      </p:grpSp>
      <p:grpSp>
        <p:nvGrpSpPr>
          <p:cNvPr name="Group 15" id="15"/>
          <p:cNvGrpSpPr/>
          <p:nvPr/>
        </p:nvGrpSpPr>
        <p:grpSpPr>
          <a:xfrm rot="0">
            <a:off x="1680210" y="2194560"/>
            <a:ext cx="603504" cy="603504"/>
            <a:chOff x="0" y="0"/>
            <a:chExt cx="804672" cy="804672"/>
          </a:xfrm>
        </p:grpSpPr>
        <p:sp>
          <p:nvSpPr>
            <p:cNvPr name="Freeform 16" id="16"/>
            <p:cNvSpPr/>
            <p:nvPr/>
          </p:nvSpPr>
          <p:spPr>
            <a:xfrm flipH="false" flipV="false" rot="0">
              <a:off x="0" y="0"/>
              <a:ext cx="804672" cy="804672"/>
            </a:xfrm>
            <a:custGeom>
              <a:avLst/>
              <a:gdLst/>
              <a:ahLst/>
              <a:cxnLst/>
              <a:rect r="r" b="b" t="t" l="l"/>
              <a:pathLst>
                <a:path h="804672" w="804672">
                  <a:moveTo>
                    <a:pt x="0" y="402336"/>
                  </a:moveTo>
                  <a:cubicBezTo>
                    <a:pt x="0" y="180086"/>
                    <a:pt x="180086" y="0"/>
                    <a:pt x="402336" y="0"/>
                  </a:cubicBezTo>
                  <a:cubicBezTo>
                    <a:pt x="624586" y="0"/>
                    <a:pt x="804672" y="180086"/>
                    <a:pt x="804672" y="402336"/>
                  </a:cubicBezTo>
                  <a:cubicBezTo>
                    <a:pt x="804672" y="624586"/>
                    <a:pt x="624586" y="804672"/>
                    <a:pt x="402336" y="804672"/>
                  </a:cubicBezTo>
                  <a:cubicBezTo>
                    <a:pt x="180086" y="804672"/>
                    <a:pt x="0" y="624586"/>
                    <a:pt x="0" y="402336"/>
                  </a:cubicBezTo>
                  <a:close/>
                </a:path>
              </a:pathLst>
            </a:custGeom>
            <a:solidFill>
              <a:srgbClr val="004C8F"/>
            </a:solidFill>
          </p:spPr>
        </p:sp>
      </p:grpSp>
      <p:grpSp>
        <p:nvGrpSpPr>
          <p:cNvPr name="Group 17" id="17"/>
          <p:cNvGrpSpPr/>
          <p:nvPr/>
        </p:nvGrpSpPr>
        <p:grpSpPr>
          <a:xfrm rot="0">
            <a:off x="1680210" y="2194560"/>
            <a:ext cx="603504" cy="603504"/>
            <a:chOff x="0" y="0"/>
            <a:chExt cx="804672" cy="804672"/>
          </a:xfrm>
        </p:grpSpPr>
        <p:sp>
          <p:nvSpPr>
            <p:cNvPr name="Freeform 18" id="18"/>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close/>
                </a:path>
              </a:pathLst>
            </a:custGeom>
            <a:blipFill>
              <a:blip r:embed="rId2">
                <a:alphaModFix amt="0"/>
              </a:blip>
              <a:stretch>
                <a:fillRect l="-78303" t="0" r="-78303" b="0"/>
              </a:stretch>
            </a:blipFill>
          </p:spPr>
        </p:sp>
        <p:sp>
          <p:nvSpPr>
            <p:cNvPr name="TextBox 19" id="19"/>
            <p:cNvSpPr txBox="true"/>
            <p:nvPr/>
          </p:nvSpPr>
          <p:spPr>
            <a:xfrm>
              <a:off x="0" y="-47625"/>
              <a:ext cx="804672" cy="852297"/>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1</a:t>
              </a:r>
            </a:p>
          </p:txBody>
        </p:sp>
      </p:grpSp>
      <p:grpSp>
        <p:nvGrpSpPr>
          <p:cNvPr name="Group 20" id="20"/>
          <p:cNvGrpSpPr/>
          <p:nvPr/>
        </p:nvGrpSpPr>
        <p:grpSpPr>
          <a:xfrm rot="0">
            <a:off x="603504" y="3154680"/>
            <a:ext cx="2756916" cy="493776"/>
            <a:chOff x="0" y="0"/>
            <a:chExt cx="3675888" cy="658368"/>
          </a:xfrm>
        </p:grpSpPr>
        <p:sp>
          <p:nvSpPr>
            <p:cNvPr name="Freeform 21" id="21"/>
            <p:cNvSpPr/>
            <p:nvPr/>
          </p:nvSpPr>
          <p:spPr>
            <a:xfrm flipH="false" flipV="false" rot="0">
              <a:off x="0" y="0"/>
              <a:ext cx="3675888" cy="658368"/>
            </a:xfrm>
            <a:custGeom>
              <a:avLst/>
              <a:gdLst/>
              <a:ahLst/>
              <a:cxnLst/>
              <a:rect r="r" b="b" t="t" l="l"/>
              <a:pathLst>
                <a:path h="658368" w="3675888">
                  <a:moveTo>
                    <a:pt x="0" y="0"/>
                  </a:moveTo>
                  <a:lnTo>
                    <a:pt x="3675888" y="0"/>
                  </a:lnTo>
                  <a:lnTo>
                    <a:pt x="3675888" y="658368"/>
                  </a:lnTo>
                  <a:lnTo>
                    <a:pt x="0" y="658368"/>
                  </a:lnTo>
                  <a:close/>
                </a:path>
              </a:pathLst>
            </a:custGeom>
            <a:blipFill>
              <a:blip r:embed="rId2">
                <a:alphaModFix amt="0"/>
              </a:blip>
              <a:stretch>
                <a:fillRect l="0" t="-58791" r="0" b="-58791"/>
              </a:stretch>
            </a:blipFill>
          </p:spPr>
        </p:sp>
        <p:sp>
          <p:nvSpPr>
            <p:cNvPr name="TextBox 22" id="22"/>
            <p:cNvSpPr txBox="true"/>
            <p:nvPr/>
          </p:nvSpPr>
          <p:spPr>
            <a:xfrm>
              <a:off x="0" y="-19050"/>
              <a:ext cx="3675888" cy="677418"/>
            </a:xfrm>
            <a:prstGeom prst="rect">
              <a:avLst/>
            </a:prstGeom>
          </p:spPr>
          <p:txBody>
            <a:bodyPr anchor="ctr" rtlCol="false" tIns="0" lIns="0" bIns="0" rIns="0"/>
            <a:lstStyle/>
            <a:p>
              <a:pPr algn="ctr">
                <a:lnSpc>
                  <a:spcPts val="2520"/>
                </a:lnSpc>
              </a:pPr>
              <a:r>
                <a:rPr lang="en-US" sz="2100" b="true">
                  <a:solidFill>
                    <a:srgbClr val="0A2540"/>
                  </a:solidFill>
                  <a:latin typeface="Cambria Bold"/>
                  <a:ea typeface="Cambria Bold"/>
                  <a:cs typeface="Cambria Bold"/>
                  <a:sym typeface="Cambria Bold"/>
                </a:rPr>
                <a:t>Business Data</a:t>
              </a:r>
            </a:p>
          </p:txBody>
        </p:sp>
      </p:grpSp>
      <p:grpSp>
        <p:nvGrpSpPr>
          <p:cNvPr name="Group 23" id="23"/>
          <p:cNvGrpSpPr/>
          <p:nvPr/>
        </p:nvGrpSpPr>
        <p:grpSpPr>
          <a:xfrm rot="0">
            <a:off x="630936" y="3771900"/>
            <a:ext cx="2702052" cy="1988820"/>
            <a:chOff x="0" y="0"/>
            <a:chExt cx="3602736" cy="2651760"/>
          </a:xfrm>
        </p:grpSpPr>
        <p:sp>
          <p:nvSpPr>
            <p:cNvPr name="Freeform 24" id="24"/>
            <p:cNvSpPr/>
            <p:nvPr/>
          </p:nvSpPr>
          <p:spPr>
            <a:xfrm flipH="false" flipV="false" rot="0">
              <a:off x="0" y="0"/>
              <a:ext cx="3602736" cy="2651760"/>
            </a:xfrm>
            <a:custGeom>
              <a:avLst/>
              <a:gdLst/>
              <a:ahLst/>
              <a:cxnLst/>
              <a:rect r="r" b="b" t="t" l="l"/>
              <a:pathLst>
                <a:path h="2651760" w="3602736">
                  <a:moveTo>
                    <a:pt x="0" y="0"/>
                  </a:moveTo>
                  <a:lnTo>
                    <a:pt x="3602736" y="0"/>
                  </a:lnTo>
                  <a:lnTo>
                    <a:pt x="3602736" y="2651760"/>
                  </a:lnTo>
                  <a:lnTo>
                    <a:pt x="0" y="2651760"/>
                  </a:lnTo>
                  <a:close/>
                </a:path>
              </a:pathLst>
            </a:custGeom>
            <a:blipFill>
              <a:blip r:embed="rId2">
                <a:alphaModFix amt="0"/>
              </a:blip>
              <a:stretch>
                <a:fillRect l="-44436" t="0" r="-44436" b="0"/>
              </a:stretch>
            </a:blipFill>
          </p:spPr>
        </p:sp>
        <p:sp>
          <p:nvSpPr>
            <p:cNvPr name="TextBox 25" id="25"/>
            <p:cNvSpPr txBox="true"/>
            <p:nvPr/>
          </p:nvSpPr>
          <p:spPr>
            <a:xfrm>
              <a:off x="0" y="-38100"/>
              <a:ext cx="3602736" cy="2689860"/>
            </a:xfrm>
            <a:prstGeom prst="rect">
              <a:avLst/>
            </a:prstGeom>
          </p:spPr>
          <p:txBody>
            <a:bodyPr anchor="ctr" rtlCol="false" tIns="0" lIns="0" bIns="0" rIns="0"/>
            <a:lstStyle/>
            <a:p>
              <a:pPr algn="ctr">
                <a:lnSpc>
                  <a:spcPts val="2099"/>
                </a:lnSpc>
              </a:pPr>
              <a:r>
                <a:rPr lang="en-US" sz="1575">
                  <a:solidFill>
                    <a:srgbClr val="5A6B7C"/>
                  </a:solidFill>
                  <a:latin typeface="Calibri (MS)"/>
                  <a:ea typeface="Calibri (MS)"/>
                  <a:cs typeface="Calibri (MS)"/>
                  <a:sym typeface="Calibri (MS)"/>
                </a:rPr>
                <a:t>Transaction, customer,</a:t>
              </a:r>
            </a:p>
            <a:p>
              <a:pPr algn="ctr">
                <a:lnSpc>
                  <a:spcPts val="2099"/>
                </a:lnSpc>
              </a:pPr>
              <a:r>
                <a:rPr lang="en-US" sz="1575">
                  <a:solidFill>
                    <a:srgbClr val="5A6B7C"/>
                  </a:solidFill>
                  <a:latin typeface="Calibri (MS)"/>
                  <a:ea typeface="Calibri (MS)"/>
                  <a:cs typeface="Calibri (MS)"/>
                  <a:sym typeface="Calibri (MS)"/>
                </a:rPr>
                <a:t>device and history data</a:t>
              </a:r>
            </a:p>
            <a:p>
              <a:pPr algn="ctr">
                <a:lnSpc>
                  <a:spcPts val="2099"/>
                </a:lnSpc>
              </a:pPr>
              <a:r>
                <a:rPr lang="en-US" sz="1575">
                  <a:solidFill>
                    <a:srgbClr val="5A6B7C"/>
                  </a:solidFill>
                  <a:latin typeface="Calibri (MS)"/>
                  <a:ea typeface="Calibri (MS)"/>
                  <a:cs typeface="Calibri (MS)"/>
                  <a:sym typeface="Calibri (MS)"/>
                </a:rPr>
                <a:t>streamed in real time</a:t>
              </a:r>
            </a:p>
          </p:txBody>
        </p:sp>
      </p:grpSp>
      <p:grpSp>
        <p:nvGrpSpPr>
          <p:cNvPr name="Group 26" id="26"/>
          <p:cNvGrpSpPr/>
          <p:nvPr/>
        </p:nvGrpSpPr>
        <p:grpSpPr>
          <a:xfrm rot="0">
            <a:off x="3607308" y="4046220"/>
            <a:ext cx="329184" cy="411480"/>
            <a:chOff x="0" y="0"/>
            <a:chExt cx="438912" cy="548640"/>
          </a:xfrm>
        </p:grpSpPr>
        <p:sp>
          <p:nvSpPr>
            <p:cNvPr name="Freeform 27" id="27"/>
            <p:cNvSpPr/>
            <p:nvPr/>
          </p:nvSpPr>
          <p:spPr>
            <a:xfrm flipH="false" flipV="false" rot="0">
              <a:off x="0" y="0"/>
              <a:ext cx="438912" cy="548640"/>
            </a:xfrm>
            <a:custGeom>
              <a:avLst/>
              <a:gdLst/>
              <a:ahLst/>
              <a:cxnLst/>
              <a:rect r="r" b="b" t="t" l="l"/>
              <a:pathLst>
                <a:path h="548640" w="438912">
                  <a:moveTo>
                    <a:pt x="0" y="137160"/>
                  </a:moveTo>
                  <a:lnTo>
                    <a:pt x="219456" y="137160"/>
                  </a:lnTo>
                  <a:lnTo>
                    <a:pt x="219456" y="0"/>
                  </a:lnTo>
                  <a:lnTo>
                    <a:pt x="438912" y="274320"/>
                  </a:lnTo>
                  <a:lnTo>
                    <a:pt x="219456" y="548640"/>
                  </a:lnTo>
                  <a:lnTo>
                    <a:pt x="219456" y="411480"/>
                  </a:lnTo>
                  <a:lnTo>
                    <a:pt x="0" y="411480"/>
                  </a:lnTo>
                  <a:close/>
                </a:path>
              </a:pathLst>
            </a:custGeom>
            <a:solidFill>
              <a:srgbClr val="9FB3C8"/>
            </a:solidFill>
          </p:spPr>
        </p:sp>
      </p:grpSp>
      <p:grpSp>
        <p:nvGrpSpPr>
          <p:cNvPr name="Group 28" id="28"/>
          <p:cNvGrpSpPr/>
          <p:nvPr/>
        </p:nvGrpSpPr>
        <p:grpSpPr>
          <a:xfrm rot="0">
            <a:off x="4006882" y="2525554"/>
            <a:ext cx="3109912" cy="3452812"/>
            <a:chOff x="0" y="0"/>
            <a:chExt cx="4146550" cy="4603750"/>
          </a:xfrm>
        </p:grpSpPr>
        <p:sp>
          <p:nvSpPr>
            <p:cNvPr name="Freeform 29" id="29"/>
            <p:cNvSpPr/>
            <p:nvPr/>
          </p:nvSpPr>
          <p:spPr>
            <a:xfrm flipH="false" flipV="false" rot="0">
              <a:off x="0" y="0"/>
              <a:ext cx="4146550" cy="4603750"/>
            </a:xfrm>
            <a:custGeom>
              <a:avLst/>
              <a:gdLst/>
              <a:ahLst/>
              <a:cxnLst/>
              <a:rect r="r" b="b" t="t" l="l"/>
              <a:pathLst>
                <a:path h="4603750" w="4146550">
                  <a:moveTo>
                    <a:pt x="0" y="147447"/>
                  </a:moveTo>
                  <a:cubicBezTo>
                    <a:pt x="0" y="66040"/>
                    <a:pt x="66040" y="0"/>
                    <a:pt x="147447" y="0"/>
                  </a:cubicBezTo>
                  <a:lnTo>
                    <a:pt x="3999103" y="0"/>
                  </a:lnTo>
                  <a:cubicBezTo>
                    <a:pt x="4080510" y="0"/>
                    <a:pt x="4146550" y="66040"/>
                    <a:pt x="4146550" y="147447"/>
                  </a:cubicBezTo>
                  <a:lnTo>
                    <a:pt x="4146550" y="4456303"/>
                  </a:lnTo>
                  <a:cubicBezTo>
                    <a:pt x="4146550" y="4537710"/>
                    <a:pt x="4080510" y="4603750"/>
                    <a:pt x="3999103" y="4603750"/>
                  </a:cubicBezTo>
                  <a:lnTo>
                    <a:pt x="147447" y="4603750"/>
                  </a:lnTo>
                  <a:cubicBezTo>
                    <a:pt x="66040" y="4603750"/>
                    <a:pt x="0" y="4537710"/>
                    <a:pt x="0" y="4456303"/>
                  </a:cubicBezTo>
                  <a:close/>
                </a:path>
              </a:pathLst>
            </a:custGeom>
            <a:solidFill>
              <a:srgbClr val="FFFFFF"/>
            </a:solidFill>
            <a:ln w="23812" cap="sq">
              <a:solidFill>
                <a:srgbClr val="C9D6E3"/>
              </a:solidFill>
              <a:prstDash val="solid"/>
              <a:miter/>
            </a:ln>
          </p:spPr>
        </p:sp>
      </p:grpSp>
      <p:grpSp>
        <p:nvGrpSpPr>
          <p:cNvPr name="Group 30" id="30"/>
          <p:cNvGrpSpPr/>
          <p:nvPr/>
        </p:nvGrpSpPr>
        <p:grpSpPr>
          <a:xfrm rot="0">
            <a:off x="5260086" y="2194560"/>
            <a:ext cx="603504" cy="603504"/>
            <a:chOff x="0" y="0"/>
            <a:chExt cx="804672" cy="804672"/>
          </a:xfrm>
        </p:grpSpPr>
        <p:sp>
          <p:nvSpPr>
            <p:cNvPr name="Freeform 31" id="31"/>
            <p:cNvSpPr/>
            <p:nvPr/>
          </p:nvSpPr>
          <p:spPr>
            <a:xfrm flipH="false" flipV="false" rot="0">
              <a:off x="0" y="0"/>
              <a:ext cx="804672" cy="804672"/>
            </a:xfrm>
            <a:custGeom>
              <a:avLst/>
              <a:gdLst/>
              <a:ahLst/>
              <a:cxnLst/>
              <a:rect r="r" b="b" t="t" l="l"/>
              <a:pathLst>
                <a:path h="804672" w="804672">
                  <a:moveTo>
                    <a:pt x="0" y="402336"/>
                  </a:moveTo>
                  <a:cubicBezTo>
                    <a:pt x="0" y="180086"/>
                    <a:pt x="180086" y="0"/>
                    <a:pt x="402336" y="0"/>
                  </a:cubicBezTo>
                  <a:cubicBezTo>
                    <a:pt x="624586" y="0"/>
                    <a:pt x="804672" y="180086"/>
                    <a:pt x="804672" y="402336"/>
                  </a:cubicBezTo>
                  <a:cubicBezTo>
                    <a:pt x="804672" y="624586"/>
                    <a:pt x="624586" y="804672"/>
                    <a:pt x="402336" y="804672"/>
                  </a:cubicBezTo>
                  <a:cubicBezTo>
                    <a:pt x="180086" y="804672"/>
                    <a:pt x="0" y="624586"/>
                    <a:pt x="0" y="402336"/>
                  </a:cubicBezTo>
                  <a:close/>
                </a:path>
              </a:pathLst>
            </a:custGeom>
            <a:solidFill>
              <a:srgbClr val="004C8F"/>
            </a:solidFill>
          </p:spPr>
        </p:sp>
      </p:grpSp>
      <p:grpSp>
        <p:nvGrpSpPr>
          <p:cNvPr name="Group 32" id="32"/>
          <p:cNvGrpSpPr/>
          <p:nvPr/>
        </p:nvGrpSpPr>
        <p:grpSpPr>
          <a:xfrm rot="0">
            <a:off x="5260086" y="2194560"/>
            <a:ext cx="603504" cy="603504"/>
            <a:chOff x="0" y="0"/>
            <a:chExt cx="804672" cy="804672"/>
          </a:xfrm>
        </p:grpSpPr>
        <p:sp>
          <p:nvSpPr>
            <p:cNvPr name="Freeform 33" id="33"/>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close/>
                </a:path>
              </a:pathLst>
            </a:custGeom>
            <a:blipFill>
              <a:blip r:embed="rId2">
                <a:alphaModFix amt="0"/>
              </a:blip>
              <a:stretch>
                <a:fillRect l="-78303" t="0" r="-78303" b="0"/>
              </a:stretch>
            </a:blipFill>
          </p:spPr>
        </p:sp>
        <p:sp>
          <p:nvSpPr>
            <p:cNvPr name="TextBox 34" id="34"/>
            <p:cNvSpPr txBox="true"/>
            <p:nvPr/>
          </p:nvSpPr>
          <p:spPr>
            <a:xfrm>
              <a:off x="0" y="-47625"/>
              <a:ext cx="804672" cy="852297"/>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2</a:t>
              </a:r>
            </a:p>
          </p:txBody>
        </p:sp>
      </p:grpSp>
      <p:grpSp>
        <p:nvGrpSpPr>
          <p:cNvPr name="Group 35" id="35"/>
          <p:cNvGrpSpPr/>
          <p:nvPr/>
        </p:nvGrpSpPr>
        <p:grpSpPr>
          <a:xfrm rot="0">
            <a:off x="4183380" y="3154680"/>
            <a:ext cx="2756916" cy="493776"/>
            <a:chOff x="0" y="0"/>
            <a:chExt cx="3675888" cy="658368"/>
          </a:xfrm>
        </p:grpSpPr>
        <p:sp>
          <p:nvSpPr>
            <p:cNvPr name="Freeform 36" id="36"/>
            <p:cNvSpPr/>
            <p:nvPr/>
          </p:nvSpPr>
          <p:spPr>
            <a:xfrm flipH="false" flipV="false" rot="0">
              <a:off x="0" y="0"/>
              <a:ext cx="3675888" cy="658368"/>
            </a:xfrm>
            <a:custGeom>
              <a:avLst/>
              <a:gdLst/>
              <a:ahLst/>
              <a:cxnLst/>
              <a:rect r="r" b="b" t="t" l="l"/>
              <a:pathLst>
                <a:path h="658368" w="3675888">
                  <a:moveTo>
                    <a:pt x="0" y="0"/>
                  </a:moveTo>
                  <a:lnTo>
                    <a:pt x="3675888" y="0"/>
                  </a:lnTo>
                  <a:lnTo>
                    <a:pt x="3675888" y="658368"/>
                  </a:lnTo>
                  <a:lnTo>
                    <a:pt x="0" y="658368"/>
                  </a:lnTo>
                  <a:close/>
                </a:path>
              </a:pathLst>
            </a:custGeom>
            <a:blipFill>
              <a:blip r:embed="rId2">
                <a:alphaModFix amt="0"/>
              </a:blip>
              <a:stretch>
                <a:fillRect l="0" t="-58791" r="0" b="-58791"/>
              </a:stretch>
            </a:blipFill>
          </p:spPr>
        </p:sp>
        <p:sp>
          <p:nvSpPr>
            <p:cNvPr name="TextBox 37" id="37"/>
            <p:cNvSpPr txBox="true"/>
            <p:nvPr/>
          </p:nvSpPr>
          <p:spPr>
            <a:xfrm>
              <a:off x="0" y="-19050"/>
              <a:ext cx="3675888" cy="677418"/>
            </a:xfrm>
            <a:prstGeom prst="rect">
              <a:avLst/>
            </a:prstGeom>
          </p:spPr>
          <p:txBody>
            <a:bodyPr anchor="ctr" rtlCol="false" tIns="0" lIns="0" bIns="0" rIns="0"/>
            <a:lstStyle/>
            <a:p>
              <a:pPr algn="ctr">
                <a:lnSpc>
                  <a:spcPts val="2520"/>
                </a:lnSpc>
              </a:pPr>
              <a:r>
                <a:rPr lang="en-US" sz="2100" b="true">
                  <a:solidFill>
                    <a:srgbClr val="0A2540"/>
                  </a:solidFill>
                  <a:latin typeface="Cambria Bold"/>
                  <a:ea typeface="Cambria Bold"/>
                  <a:cs typeface="Cambria Bold"/>
                  <a:sym typeface="Cambria Bold"/>
                </a:rPr>
                <a:t>AI/ML System</a:t>
              </a:r>
            </a:p>
          </p:txBody>
        </p:sp>
      </p:grpSp>
      <p:grpSp>
        <p:nvGrpSpPr>
          <p:cNvPr name="Group 38" id="38"/>
          <p:cNvGrpSpPr/>
          <p:nvPr/>
        </p:nvGrpSpPr>
        <p:grpSpPr>
          <a:xfrm rot="0">
            <a:off x="4210812" y="3771900"/>
            <a:ext cx="2702052" cy="1988820"/>
            <a:chOff x="0" y="0"/>
            <a:chExt cx="3602736" cy="2651760"/>
          </a:xfrm>
        </p:grpSpPr>
        <p:sp>
          <p:nvSpPr>
            <p:cNvPr name="Freeform 39" id="39"/>
            <p:cNvSpPr/>
            <p:nvPr/>
          </p:nvSpPr>
          <p:spPr>
            <a:xfrm flipH="false" flipV="false" rot="0">
              <a:off x="0" y="0"/>
              <a:ext cx="3602736" cy="2651760"/>
            </a:xfrm>
            <a:custGeom>
              <a:avLst/>
              <a:gdLst/>
              <a:ahLst/>
              <a:cxnLst/>
              <a:rect r="r" b="b" t="t" l="l"/>
              <a:pathLst>
                <a:path h="2651760" w="3602736">
                  <a:moveTo>
                    <a:pt x="0" y="0"/>
                  </a:moveTo>
                  <a:lnTo>
                    <a:pt x="3602736" y="0"/>
                  </a:lnTo>
                  <a:lnTo>
                    <a:pt x="3602736" y="2651760"/>
                  </a:lnTo>
                  <a:lnTo>
                    <a:pt x="0" y="2651760"/>
                  </a:lnTo>
                  <a:close/>
                </a:path>
              </a:pathLst>
            </a:custGeom>
            <a:blipFill>
              <a:blip r:embed="rId2">
                <a:alphaModFix amt="0"/>
              </a:blip>
              <a:stretch>
                <a:fillRect l="-44436" t="0" r="-44436" b="0"/>
              </a:stretch>
            </a:blipFill>
          </p:spPr>
        </p:sp>
        <p:sp>
          <p:nvSpPr>
            <p:cNvPr name="TextBox 40" id="40"/>
            <p:cNvSpPr txBox="true"/>
            <p:nvPr/>
          </p:nvSpPr>
          <p:spPr>
            <a:xfrm>
              <a:off x="0" y="-38100"/>
              <a:ext cx="3602736" cy="2689860"/>
            </a:xfrm>
            <a:prstGeom prst="rect">
              <a:avLst/>
            </a:prstGeom>
          </p:spPr>
          <p:txBody>
            <a:bodyPr anchor="ctr" rtlCol="false" tIns="0" lIns="0" bIns="0" rIns="0"/>
            <a:lstStyle/>
            <a:p>
              <a:pPr algn="ctr">
                <a:lnSpc>
                  <a:spcPts val="2099"/>
                </a:lnSpc>
              </a:pPr>
              <a:r>
                <a:rPr lang="en-US" sz="1575">
                  <a:solidFill>
                    <a:srgbClr val="5A6B7C"/>
                  </a:solidFill>
                  <a:latin typeface="Calibri (MS)"/>
                  <a:ea typeface="Calibri (MS)"/>
                  <a:cs typeface="Calibri (MS)"/>
                  <a:sym typeface="Calibri (MS)"/>
                </a:rPr>
                <a:t>Model scores the</a:t>
              </a:r>
            </a:p>
            <a:p>
              <a:pPr algn="ctr">
                <a:lnSpc>
                  <a:spcPts val="2099"/>
                </a:lnSpc>
              </a:pPr>
              <a:r>
                <a:rPr lang="en-US" sz="1575">
                  <a:solidFill>
                    <a:srgbClr val="5A6B7C"/>
                  </a:solidFill>
                  <a:latin typeface="Calibri (MS)"/>
                  <a:ea typeface="Calibri (MS)"/>
                  <a:cs typeface="Calibri (MS)"/>
                  <a:sym typeface="Calibri (MS)"/>
                </a:rPr>
                <a:t>transaction and returns a</a:t>
              </a:r>
            </a:p>
            <a:p>
              <a:pPr algn="ctr">
                <a:lnSpc>
                  <a:spcPts val="2099"/>
                </a:lnSpc>
              </a:pPr>
              <a:r>
                <a:rPr lang="en-US" sz="1575">
                  <a:solidFill>
                    <a:srgbClr val="5A6B7C"/>
                  </a:solidFill>
                  <a:latin typeface="Calibri (MS)"/>
                  <a:ea typeface="Calibri (MS)"/>
                  <a:cs typeface="Calibri (MS)"/>
                  <a:sym typeface="Calibri (MS)"/>
                </a:rPr>
                <a:t>fraud probability</a:t>
              </a:r>
            </a:p>
          </p:txBody>
        </p:sp>
      </p:grpSp>
      <p:grpSp>
        <p:nvGrpSpPr>
          <p:cNvPr name="Group 41" id="41"/>
          <p:cNvGrpSpPr/>
          <p:nvPr/>
        </p:nvGrpSpPr>
        <p:grpSpPr>
          <a:xfrm rot="0">
            <a:off x="7187184" y="4046220"/>
            <a:ext cx="329184" cy="411480"/>
            <a:chOff x="0" y="0"/>
            <a:chExt cx="438912" cy="548640"/>
          </a:xfrm>
        </p:grpSpPr>
        <p:sp>
          <p:nvSpPr>
            <p:cNvPr name="Freeform 42" id="42"/>
            <p:cNvSpPr/>
            <p:nvPr/>
          </p:nvSpPr>
          <p:spPr>
            <a:xfrm flipH="false" flipV="false" rot="0">
              <a:off x="0" y="0"/>
              <a:ext cx="438912" cy="548640"/>
            </a:xfrm>
            <a:custGeom>
              <a:avLst/>
              <a:gdLst/>
              <a:ahLst/>
              <a:cxnLst/>
              <a:rect r="r" b="b" t="t" l="l"/>
              <a:pathLst>
                <a:path h="548640" w="438912">
                  <a:moveTo>
                    <a:pt x="0" y="137160"/>
                  </a:moveTo>
                  <a:lnTo>
                    <a:pt x="219456" y="137160"/>
                  </a:lnTo>
                  <a:lnTo>
                    <a:pt x="219456" y="0"/>
                  </a:lnTo>
                  <a:lnTo>
                    <a:pt x="438912" y="274320"/>
                  </a:lnTo>
                  <a:lnTo>
                    <a:pt x="219456" y="548640"/>
                  </a:lnTo>
                  <a:lnTo>
                    <a:pt x="219456" y="411480"/>
                  </a:lnTo>
                  <a:lnTo>
                    <a:pt x="0" y="411480"/>
                  </a:lnTo>
                  <a:close/>
                </a:path>
              </a:pathLst>
            </a:custGeom>
            <a:solidFill>
              <a:srgbClr val="9FB3C8"/>
            </a:solidFill>
          </p:spPr>
        </p:sp>
      </p:grpSp>
      <p:grpSp>
        <p:nvGrpSpPr>
          <p:cNvPr name="Group 43" id="43"/>
          <p:cNvGrpSpPr/>
          <p:nvPr/>
        </p:nvGrpSpPr>
        <p:grpSpPr>
          <a:xfrm rot="0">
            <a:off x="7586758" y="2525554"/>
            <a:ext cx="3109912" cy="3452812"/>
            <a:chOff x="0" y="0"/>
            <a:chExt cx="4146550" cy="4603750"/>
          </a:xfrm>
        </p:grpSpPr>
        <p:sp>
          <p:nvSpPr>
            <p:cNvPr name="Freeform 44" id="44"/>
            <p:cNvSpPr/>
            <p:nvPr/>
          </p:nvSpPr>
          <p:spPr>
            <a:xfrm flipH="false" flipV="false" rot="0">
              <a:off x="0" y="0"/>
              <a:ext cx="4146550" cy="4603750"/>
            </a:xfrm>
            <a:custGeom>
              <a:avLst/>
              <a:gdLst/>
              <a:ahLst/>
              <a:cxnLst/>
              <a:rect r="r" b="b" t="t" l="l"/>
              <a:pathLst>
                <a:path h="4603750" w="4146550">
                  <a:moveTo>
                    <a:pt x="0" y="147447"/>
                  </a:moveTo>
                  <a:cubicBezTo>
                    <a:pt x="0" y="66040"/>
                    <a:pt x="66040" y="0"/>
                    <a:pt x="147447" y="0"/>
                  </a:cubicBezTo>
                  <a:lnTo>
                    <a:pt x="3999103" y="0"/>
                  </a:lnTo>
                  <a:cubicBezTo>
                    <a:pt x="4080510" y="0"/>
                    <a:pt x="4146550" y="66040"/>
                    <a:pt x="4146550" y="147447"/>
                  </a:cubicBezTo>
                  <a:lnTo>
                    <a:pt x="4146550" y="4456303"/>
                  </a:lnTo>
                  <a:cubicBezTo>
                    <a:pt x="4146550" y="4537710"/>
                    <a:pt x="4080510" y="4603750"/>
                    <a:pt x="3999103" y="4603750"/>
                  </a:cubicBezTo>
                  <a:lnTo>
                    <a:pt x="147447" y="4603750"/>
                  </a:lnTo>
                  <a:cubicBezTo>
                    <a:pt x="66040" y="4603750"/>
                    <a:pt x="0" y="4537710"/>
                    <a:pt x="0" y="4456303"/>
                  </a:cubicBezTo>
                  <a:close/>
                </a:path>
              </a:pathLst>
            </a:custGeom>
            <a:solidFill>
              <a:srgbClr val="FFFFFF"/>
            </a:solidFill>
            <a:ln w="23812" cap="sq">
              <a:solidFill>
                <a:srgbClr val="C9D6E3"/>
              </a:solidFill>
              <a:prstDash val="solid"/>
              <a:miter/>
            </a:ln>
          </p:spPr>
        </p:sp>
      </p:grpSp>
      <p:grpSp>
        <p:nvGrpSpPr>
          <p:cNvPr name="Group 45" id="45"/>
          <p:cNvGrpSpPr/>
          <p:nvPr/>
        </p:nvGrpSpPr>
        <p:grpSpPr>
          <a:xfrm rot="0">
            <a:off x="8839962" y="2194560"/>
            <a:ext cx="603504" cy="603504"/>
            <a:chOff x="0" y="0"/>
            <a:chExt cx="804672" cy="804672"/>
          </a:xfrm>
        </p:grpSpPr>
        <p:sp>
          <p:nvSpPr>
            <p:cNvPr name="Freeform 46" id="46"/>
            <p:cNvSpPr/>
            <p:nvPr/>
          </p:nvSpPr>
          <p:spPr>
            <a:xfrm flipH="false" flipV="false" rot="0">
              <a:off x="0" y="0"/>
              <a:ext cx="804672" cy="804672"/>
            </a:xfrm>
            <a:custGeom>
              <a:avLst/>
              <a:gdLst/>
              <a:ahLst/>
              <a:cxnLst/>
              <a:rect r="r" b="b" t="t" l="l"/>
              <a:pathLst>
                <a:path h="804672" w="804672">
                  <a:moveTo>
                    <a:pt x="0" y="402336"/>
                  </a:moveTo>
                  <a:cubicBezTo>
                    <a:pt x="0" y="180086"/>
                    <a:pt x="180086" y="0"/>
                    <a:pt x="402336" y="0"/>
                  </a:cubicBezTo>
                  <a:cubicBezTo>
                    <a:pt x="624586" y="0"/>
                    <a:pt x="804672" y="180086"/>
                    <a:pt x="804672" y="402336"/>
                  </a:cubicBezTo>
                  <a:cubicBezTo>
                    <a:pt x="804672" y="624586"/>
                    <a:pt x="624586" y="804672"/>
                    <a:pt x="402336" y="804672"/>
                  </a:cubicBezTo>
                  <a:cubicBezTo>
                    <a:pt x="180086" y="804672"/>
                    <a:pt x="0" y="624586"/>
                    <a:pt x="0" y="402336"/>
                  </a:cubicBezTo>
                  <a:close/>
                </a:path>
              </a:pathLst>
            </a:custGeom>
            <a:solidFill>
              <a:srgbClr val="004C8F"/>
            </a:solidFill>
          </p:spPr>
        </p:sp>
      </p:grpSp>
      <p:grpSp>
        <p:nvGrpSpPr>
          <p:cNvPr name="Group 47" id="47"/>
          <p:cNvGrpSpPr/>
          <p:nvPr/>
        </p:nvGrpSpPr>
        <p:grpSpPr>
          <a:xfrm rot="0">
            <a:off x="8839962" y="2194560"/>
            <a:ext cx="603504" cy="603504"/>
            <a:chOff x="0" y="0"/>
            <a:chExt cx="804672" cy="804672"/>
          </a:xfrm>
        </p:grpSpPr>
        <p:sp>
          <p:nvSpPr>
            <p:cNvPr name="Freeform 48" id="48"/>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close/>
                </a:path>
              </a:pathLst>
            </a:custGeom>
            <a:blipFill>
              <a:blip r:embed="rId2">
                <a:alphaModFix amt="0"/>
              </a:blip>
              <a:stretch>
                <a:fillRect l="-78303" t="0" r="-78303" b="0"/>
              </a:stretch>
            </a:blipFill>
          </p:spPr>
        </p:sp>
        <p:sp>
          <p:nvSpPr>
            <p:cNvPr name="TextBox 49" id="49"/>
            <p:cNvSpPr txBox="true"/>
            <p:nvPr/>
          </p:nvSpPr>
          <p:spPr>
            <a:xfrm>
              <a:off x="0" y="-47625"/>
              <a:ext cx="804672" cy="852297"/>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3</a:t>
              </a:r>
            </a:p>
          </p:txBody>
        </p:sp>
      </p:grpSp>
      <p:grpSp>
        <p:nvGrpSpPr>
          <p:cNvPr name="Group 50" id="50"/>
          <p:cNvGrpSpPr/>
          <p:nvPr/>
        </p:nvGrpSpPr>
        <p:grpSpPr>
          <a:xfrm rot="0">
            <a:off x="7763256" y="3154680"/>
            <a:ext cx="2756916" cy="493776"/>
            <a:chOff x="0" y="0"/>
            <a:chExt cx="3675888" cy="658368"/>
          </a:xfrm>
        </p:grpSpPr>
        <p:sp>
          <p:nvSpPr>
            <p:cNvPr name="Freeform 51" id="51"/>
            <p:cNvSpPr/>
            <p:nvPr/>
          </p:nvSpPr>
          <p:spPr>
            <a:xfrm flipH="false" flipV="false" rot="0">
              <a:off x="0" y="0"/>
              <a:ext cx="3675888" cy="658368"/>
            </a:xfrm>
            <a:custGeom>
              <a:avLst/>
              <a:gdLst/>
              <a:ahLst/>
              <a:cxnLst/>
              <a:rect r="r" b="b" t="t" l="l"/>
              <a:pathLst>
                <a:path h="658368" w="3675888">
                  <a:moveTo>
                    <a:pt x="0" y="0"/>
                  </a:moveTo>
                  <a:lnTo>
                    <a:pt x="3675888" y="0"/>
                  </a:lnTo>
                  <a:lnTo>
                    <a:pt x="3675888" y="658368"/>
                  </a:lnTo>
                  <a:lnTo>
                    <a:pt x="0" y="658368"/>
                  </a:lnTo>
                  <a:close/>
                </a:path>
              </a:pathLst>
            </a:custGeom>
            <a:blipFill>
              <a:blip r:embed="rId2">
                <a:alphaModFix amt="0"/>
              </a:blip>
              <a:stretch>
                <a:fillRect l="0" t="-58791" r="0" b="-58791"/>
              </a:stretch>
            </a:blipFill>
          </p:spPr>
        </p:sp>
        <p:sp>
          <p:nvSpPr>
            <p:cNvPr name="TextBox 52" id="52"/>
            <p:cNvSpPr txBox="true"/>
            <p:nvPr/>
          </p:nvSpPr>
          <p:spPr>
            <a:xfrm>
              <a:off x="0" y="-19050"/>
              <a:ext cx="3675888" cy="677418"/>
            </a:xfrm>
            <a:prstGeom prst="rect">
              <a:avLst/>
            </a:prstGeom>
          </p:spPr>
          <p:txBody>
            <a:bodyPr anchor="ctr" rtlCol="false" tIns="0" lIns="0" bIns="0" rIns="0"/>
            <a:lstStyle/>
            <a:p>
              <a:pPr algn="ctr">
                <a:lnSpc>
                  <a:spcPts val="2520"/>
                </a:lnSpc>
              </a:pPr>
              <a:r>
                <a:rPr lang="en-US" sz="2100" b="true">
                  <a:solidFill>
                    <a:srgbClr val="0A2540"/>
                  </a:solidFill>
                  <a:latin typeface="Cambria Bold"/>
                  <a:ea typeface="Cambria Bold"/>
                  <a:cs typeface="Cambria Bold"/>
                  <a:sym typeface="Cambria Bold"/>
                </a:rPr>
                <a:t>Prediction</a:t>
              </a:r>
            </a:p>
          </p:txBody>
        </p:sp>
      </p:grpSp>
      <p:grpSp>
        <p:nvGrpSpPr>
          <p:cNvPr name="Group 53" id="53"/>
          <p:cNvGrpSpPr/>
          <p:nvPr/>
        </p:nvGrpSpPr>
        <p:grpSpPr>
          <a:xfrm rot="0">
            <a:off x="7790688" y="3771900"/>
            <a:ext cx="2702052" cy="1988820"/>
            <a:chOff x="0" y="0"/>
            <a:chExt cx="3602736" cy="2651760"/>
          </a:xfrm>
        </p:grpSpPr>
        <p:sp>
          <p:nvSpPr>
            <p:cNvPr name="Freeform 54" id="54"/>
            <p:cNvSpPr/>
            <p:nvPr/>
          </p:nvSpPr>
          <p:spPr>
            <a:xfrm flipH="false" flipV="false" rot="0">
              <a:off x="0" y="0"/>
              <a:ext cx="3602736" cy="2651760"/>
            </a:xfrm>
            <a:custGeom>
              <a:avLst/>
              <a:gdLst/>
              <a:ahLst/>
              <a:cxnLst/>
              <a:rect r="r" b="b" t="t" l="l"/>
              <a:pathLst>
                <a:path h="2651760" w="3602736">
                  <a:moveTo>
                    <a:pt x="0" y="0"/>
                  </a:moveTo>
                  <a:lnTo>
                    <a:pt x="3602736" y="0"/>
                  </a:lnTo>
                  <a:lnTo>
                    <a:pt x="3602736" y="2651760"/>
                  </a:lnTo>
                  <a:lnTo>
                    <a:pt x="0" y="2651760"/>
                  </a:lnTo>
                  <a:close/>
                </a:path>
              </a:pathLst>
            </a:custGeom>
            <a:blipFill>
              <a:blip r:embed="rId2">
                <a:alphaModFix amt="0"/>
              </a:blip>
              <a:stretch>
                <a:fillRect l="-44436" t="0" r="-44436" b="0"/>
              </a:stretch>
            </a:blipFill>
          </p:spPr>
        </p:sp>
        <p:sp>
          <p:nvSpPr>
            <p:cNvPr name="TextBox 55" id="55"/>
            <p:cNvSpPr txBox="true"/>
            <p:nvPr/>
          </p:nvSpPr>
          <p:spPr>
            <a:xfrm>
              <a:off x="0" y="-38100"/>
              <a:ext cx="3602736" cy="2689860"/>
            </a:xfrm>
            <a:prstGeom prst="rect">
              <a:avLst/>
            </a:prstGeom>
          </p:spPr>
          <p:txBody>
            <a:bodyPr anchor="ctr" rtlCol="false" tIns="0" lIns="0" bIns="0" rIns="0"/>
            <a:lstStyle/>
            <a:p>
              <a:pPr algn="ctr">
                <a:lnSpc>
                  <a:spcPts val="2099"/>
                </a:lnSpc>
              </a:pPr>
              <a:r>
                <a:rPr lang="en-US" sz="1575">
                  <a:solidFill>
                    <a:srgbClr val="5A6B7C"/>
                  </a:solidFill>
                  <a:latin typeface="Calibri (MS)"/>
                  <a:ea typeface="Calibri (MS)"/>
                  <a:cs typeface="Calibri (MS)"/>
                  <a:sym typeface="Calibri (MS)"/>
                </a:rPr>
                <a:t>Low risk → approve</a:t>
              </a:r>
            </a:p>
            <a:p>
              <a:pPr algn="ctr">
                <a:lnSpc>
                  <a:spcPts val="2099"/>
                </a:lnSpc>
              </a:pPr>
              <a:r>
                <a:rPr lang="en-US" sz="1575">
                  <a:solidFill>
                    <a:srgbClr val="5A6B7C"/>
                  </a:solidFill>
                  <a:latin typeface="Calibri (MS)"/>
                  <a:ea typeface="Calibri (MS)"/>
                  <a:cs typeface="Calibri (MS)"/>
                  <a:sym typeface="Calibri (MS)"/>
                </a:rPr>
                <a:t>Medium → OTP or</a:t>
              </a:r>
            </a:p>
            <a:p>
              <a:pPr algn="ctr">
                <a:lnSpc>
                  <a:spcPts val="2099"/>
                </a:lnSpc>
              </a:pPr>
              <a:r>
                <a:rPr lang="en-US" sz="1575">
                  <a:solidFill>
                    <a:srgbClr val="5A6B7C"/>
                  </a:solidFill>
                  <a:latin typeface="Calibri (MS)"/>
                  <a:ea typeface="Calibri (MS)"/>
                  <a:cs typeface="Calibri (MS)"/>
                  <a:sym typeface="Calibri (MS)"/>
                </a:rPr>
                <a:t>step-up check</a:t>
              </a:r>
            </a:p>
            <a:p>
              <a:pPr algn="ctr">
                <a:lnSpc>
                  <a:spcPts val="2099"/>
                </a:lnSpc>
              </a:pPr>
              <a:r>
                <a:rPr lang="en-US" sz="1575">
                  <a:solidFill>
                    <a:srgbClr val="5A6B7C"/>
                  </a:solidFill>
                  <a:latin typeface="Calibri (MS)"/>
                  <a:ea typeface="Calibri (MS)"/>
                  <a:cs typeface="Calibri (MS)"/>
                  <a:sym typeface="Calibri (MS)"/>
                </a:rPr>
                <a:t>High → block</a:t>
              </a:r>
            </a:p>
          </p:txBody>
        </p:sp>
      </p:grpSp>
      <p:grpSp>
        <p:nvGrpSpPr>
          <p:cNvPr name="Group 56" id="56"/>
          <p:cNvGrpSpPr/>
          <p:nvPr/>
        </p:nvGrpSpPr>
        <p:grpSpPr>
          <a:xfrm rot="0">
            <a:off x="10767060" y="4046220"/>
            <a:ext cx="329184" cy="411480"/>
            <a:chOff x="0" y="0"/>
            <a:chExt cx="438912" cy="548640"/>
          </a:xfrm>
        </p:grpSpPr>
        <p:sp>
          <p:nvSpPr>
            <p:cNvPr name="Freeform 57" id="57"/>
            <p:cNvSpPr/>
            <p:nvPr/>
          </p:nvSpPr>
          <p:spPr>
            <a:xfrm flipH="false" flipV="false" rot="0">
              <a:off x="0" y="0"/>
              <a:ext cx="438912" cy="548640"/>
            </a:xfrm>
            <a:custGeom>
              <a:avLst/>
              <a:gdLst/>
              <a:ahLst/>
              <a:cxnLst/>
              <a:rect r="r" b="b" t="t" l="l"/>
              <a:pathLst>
                <a:path h="548640" w="438912">
                  <a:moveTo>
                    <a:pt x="0" y="137160"/>
                  </a:moveTo>
                  <a:lnTo>
                    <a:pt x="219456" y="137160"/>
                  </a:lnTo>
                  <a:lnTo>
                    <a:pt x="219456" y="0"/>
                  </a:lnTo>
                  <a:lnTo>
                    <a:pt x="438912" y="274320"/>
                  </a:lnTo>
                  <a:lnTo>
                    <a:pt x="219456" y="548640"/>
                  </a:lnTo>
                  <a:lnTo>
                    <a:pt x="219456" y="411480"/>
                  </a:lnTo>
                  <a:lnTo>
                    <a:pt x="0" y="411480"/>
                  </a:lnTo>
                  <a:close/>
                </a:path>
              </a:pathLst>
            </a:custGeom>
            <a:solidFill>
              <a:srgbClr val="9FB3C8"/>
            </a:solidFill>
          </p:spPr>
        </p:sp>
      </p:grpSp>
      <p:grpSp>
        <p:nvGrpSpPr>
          <p:cNvPr name="Group 58" id="58"/>
          <p:cNvGrpSpPr/>
          <p:nvPr/>
        </p:nvGrpSpPr>
        <p:grpSpPr>
          <a:xfrm rot="0">
            <a:off x="11166634" y="2525554"/>
            <a:ext cx="3109912" cy="3452812"/>
            <a:chOff x="0" y="0"/>
            <a:chExt cx="4146550" cy="4603750"/>
          </a:xfrm>
        </p:grpSpPr>
        <p:sp>
          <p:nvSpPr>
            <p:cNvPr name="Freeform 59" id="59"/>
            <p:cNvSpPr/>
            <p:nvPr/>
          </p:nvSpPr>
          <p:spPr>
            <a:xfrm flipH="false" flipV="false" rot="0">
              <a:off x="0" y="0"/>
              <a:ext cx="4146550" cy="4603750"/>
            </a:xfrm>
            <a:custGeom>
              <a:avLst/>
              <a:gdLst/>
              <a:ahLst/>
              <a:cxnLst/>
              <a:rect r="r" b="b" t="t" l="l"/>
              <a:pathLst>
                <a:path h="4603750" w="4146550">
                  <a:moveTo>
                    <a:pt x="0" y="147447"/>
                  </a:moveTo>
                  <a:cubicBezTo>
                    <a:pt x="0" y="66040"/>
                    <a:pt x="66040" y="0"/>
                    <a:pt x="147447" y="0"/>
                  </a:cubicBezTo>
                  <a:lnTo>
                    <a:pt x="3999103" y="0"/>
                  </a:lnTo>
                  <a:cubicBezTo>
                    <a:pt x="4080510" y="0"/>
                    <a:pt x="4146550" y="66040"/>
                    <a:pt x="4146550" y="147447"/>
                  </a:cubicBezTo>
                  <a:lnTo>
                    <a:pt x="4146550" y="4456303"/>
                  </a:lnTo>
                  <a:cubicBezTo>
                    <a:pt x="4146550" y="4537710"/>
                    <a:pt x="4080510" y="4603750"/>
                    <a:pt x="3999103" y="4603750"/>
                  </a:cubicBezTo>
                  <a:lnTo>
                    <a:pt x="147447" y="4603750"/>
                  </a:lnTo>
                  <a:cubicBezTo>
                    <a:pt x="66040" y="4603750"/>
                    <a:pt x="0" y="4537710"/>
                    <a:pt x="0" y="4456303"/>
                  </a:cubicBezTo>
                  <a:close/>
                </a:path>
              </a:pathLst>
            </a:custGeom>
            <a:solidFill>
              <a:srgbClr val="FFFFFF"/>
            </a:solidFill>
            <a:ln w="23812" cap="sq">
              <a:solidFill>
                <a:srgbClr val="C9D6E3"/>
              </a:solidFill>
              <a:prstDash val="solid"/>
              <a:miter/>
            </a:ln>
          </p:spPr>
        </p:sp>
      </p:grpSp>
      <p:grpSp>
        <p:nvGrpSpPr>
          <p:cNvPr name="Group 60" id="60"/>
          <p:cNvGrpSpPr/>
          <p:nvPr/>
        </p:nvGrpSpPr>
        <p:grpSpPr>
          <a:xfrm rot="0">
            <a:off x="12419838" y="2194560"/>
            <a:ext cx="603504" cy="603504"/>
            <a:chOff x="0" y="0"/>
            <a:chExt cx="804672" cy="804672"/>
          </a:xfrm>
        </p:grpSpPr>
        <p:sp>
          <p:nvSpPr>
            <p:cNvPr name="Freeform 61" id="61"/>
            <p:cNvSpPr/>
            <p:nvPr/>
          </p:nvSpPr>
          <p:spPr>
            <a:xfrm flipH="false" flipV="false" rot="0">
              <a:off x="0" y="0"/>
              <a:ext cx="804672" cy="804672"/>
            </a:xfrm>
            <a:custGeom>
              <a:avLst/>
              <a:gdLst/>
              <a:ahLst/>
              <a:cxnLst/>
              <a:rect r="r" b="b" t="t" l="l"/>
              <a:pathLst>
                <a:path h="804672" w="804672">
                  <a:moveTo>
                    <a:pt x="0" y="402336"/>
                  </a:moveTo>
                  <a:cubicBezTo>
                    <a:pt x="0" y="180086"/>
                    <a:pt x="180086" y="0"/>
                    <a:pt x="402336" y="0"/>
                  </a:cubicBezTo>
                  <a:cubicBezTo>
                    <a:pt x="624586" y="0"/>
                    <a:pt x="804672" y="180086"/>
                    <a:pt x="804672" y="402336"/>
                  </a:cubicBezTo>
                  <a:cubicBezTo>
                    <a:pt x="804672" y="624586"/>
                    <a:pt x="624586" y="804672"/>
                    <a:pt x="402336" y="804672"/>
                  </a:cubicBezTo>
                  <a:cubicBezTo>
                    <a:pt x="180086" y="804672"/>
                    <a:pt x="0" y="624586"/>
                    <a:pt x="0" y="402336"/>
                  </a:cubicBezTo>
                  <a:close/>
                </a:path>
              </a:pathLst>
            </a:custGeom>
            <a:solidFill>
              <a:srgbClr val="004C8F"/>
            </a:solidFill>
          </p:spPr>
        </p:sp>
      </p:grpSp>
      <p:grpSp>
        <p:nvGrpSpPr>
          <p:cNvPr name="Group 62" id="62"/>
          <p:cNvGrpSpPr/>
          <p:nvPr/>
        </p:nvGrpSpPr>
        <p:grpSpPr>
          <a:xfrm rot="0">
            <a:off x="12419838" y="2194560"/>
            <a:ext cx="603504" cy="603504"/>
            <a:chOff x="0" y="0"/>
            <a:chExt cx="804672" cy="804672"/>
          </a:xfrm>
        </p:grpSpPr>
        <p:sp>
          <p:nvSpPr>
            <p:cNvPr name="Freeform 63" id="63"/>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close/>
                </a:path>
              </a:pathLst>
            </a:custGeom>
            <a:blipFill>
              <a:blip r:embed="rId2">
                <a:alphaModFix amt="0"/>
              </a:blip>
              <a:stretch>
                <a:fillRect l="-78303" t="0" r="-78303" b="0"/>
              </a:stretch>
            </a:blipFill>
          </p:spPr>
        </p:sp>
        <p:sp>
          <p:nvSpPr>
            <p:cNvPr name="TextBox 64" id="64"/>
            <p:cNvSpPr txBox="true"/>
            <p:nvPr/>
          </p:nvSpPr>
          <p:spPr>
            <a:xfrm>
              <a:off x="0" y="-47625"/>
              <a:ext cx="804672" cy="852297"/>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4</a:t>
              </a:r>
            </a:p>
          </p:txBody>
        </p:sp>
      </p:grpSp>
      <p:grpSp>
        <p:nvGrpSpPr>
          <p:cNvPr name="Group 65" id="65"/>
          <p:cNvGrpSpPr/>
          <p:nvPr/>
        </p:nvGrpSpPr>
        <p:grpSpPr>
          <a:xfrm rot="0">
            <a:off x="11343132" y="3154680"/>
            <a:ext cx="2756916" cy="493776"/>
            <a:chOff x="0" y="0"/>
            <a:chExt cx="3675888" cy="658368"/>
          </a:xfrm>
        </p:grpSpPr>
        <p:sp>
          <p:nvSpPr>
            <p:cNvPr name="Freeform 66" id="66"/>
            <p:cNvSpPr/>
            <p:nvPr/>
          </p:nvSpPr>
          <p:spPr>
            <a:xfrm flipH="false" flipV="false" rot="0">
              <a:off x="0" y="0"/>
              <a:ext cx="3675888" cy="658368"/>
            </a:xfrm>
            <a:custGeom>
              <a:avLst/>
              <a:gdLst/>
              <a:ahLst/>
              <a:cxnLst/>
              <a:rect r="r" b="b" t="t" l="l"/>
              <a:pathLst>
                <a:path h="658368" w="3675888">
                  <a:moveTo>
                    <a:pt x="0" y="0"/>
                  </a:moveTo>
                  <a:lnTo>
                    <a:pt x="3675888" y="0"/>
                  </a:lnTo>
                  <a:lnTo>
                    <a:pt x="3675888" y="658368"/>
                  </a:lnTo>
                  <a:lnTo>
                    <a:pt x="0" y="658368"/>
                  </a:lnTo>
                  <a:close/>
                </a:path>
              </a:pathLst>
            </a:custGeom>
            <a:blipFill>
              <a:blip r:embed="rId2">
                <a:alphaModFix amt="0"/>
              </a:blip>
              <a:stretch>
                <a:fillRect l="0" t="-58791" r="0" b="-58791"/>
              </a:stretch>
            </a:blipFill>
          </p:spPr>
        </p:sp>
        <p:sp>
          <p:nvSpPr>
            <p:cNvPr name="TextBox 67" id="67"/>
            <p:cNvSpPr txBox="true"/>
            <p:nvPr/>
          </p:nvSpPr>
          <p:spPr>
            <a:xfrm>
              <a:off x="0" y="-19050"/>
              <a:ext cx="3675888" cy="677418"/>
            </a:xfrm>
            <a:prstGeom prst="rect">
              <a:avLst/>
            </a:prstGeom>
          </p:spPr>
          <p:txBody>
            <a:bodyPr anchor="ctr" rtlCol="false" tIns="0" lIns="0" bIns="0" rIns="0"/>
            <a:lstStyle/>
            <a:p>
              <a:pPr algn="ctr">
                <a:lnSpc>
                  <a:spcPts val="2520"/>
                </a:lnSpc>
              </a:pPr>
              <a:r>
                <a:rPr lang="en-US" sz="2100" b="true">
                  <a:solidFill>
                    <a:srgbClr val="0A2540"/>
                  </a:solidFill>
                  <a:latin typeface="Cambria Bold"/>
                  <a:ea typeface="Cambria Bold"/>
                  <a:cs typeface="Cambria Bold"/>
                  <a:sym typeface="Cambria Bold"/>
                </a:rPr>
                <a:t>Business Action</a:t>
              </a:r>
            </a:p>
          </p:txBody>
        </p:sp>
      </p:grpSp>
      <p:grpSp>
        <p:nvGrpSpPr>
          <p:cNvPr name="Group 68" id="68"/>
          <p:cNvGrpSpPr/>
          <p:nvPr/>
        </p:nvGrpSpPr>
        <p:grpSpPr>
          <a:xfrm rot="0">
            <a:off x="11370564" y="3771900"/>
            <a:ext cx="2702052" cy="1988820"/>
            <a:chOff x="0" y="0"/>
            <a:chExt cx="3602736" cy="2651760"/>
          </a:xfrm>
        </p:grpSpPr>
        <p:sp>
          <p:nvSpPr>
            <p:cNvPr name="Freeform 69" id="69"/>
            <p:cNvSpPr/>
            <p:nvPr/>
          </p:nvSpPr>
          <p:spPr>
            <a:xfrm flipH="false" flipV="false" rot="0">
              <a:off x="0" y="0"/>
              <a:ext cx="3602736" cy="2651760"/>
            </a:xfrm>
            <a:custGeom>
              <a:avLst/>
              <a:gdLst/>
              <a:ahLst/>
              <a:cxnLst/>
              <a:rect r="r" b="b" t="t" l="l"/>
              <a:pathLst>
                <a:path h="2651760" w="3602736">
                  <a:moveTo>
                    <a:pt x="0" y="0"/>
                  </a:moveTo>
                  <a:lnTo>
                    <a:pt x="3602736" y="0"/>
                  </a:lnTo>
                  <a:lnTo>
                    <a:pt x="3602736" y="2651760"/>
                  </a:lnTo>
                  <a:lnTo>
                    <a:pt x="0" y="2651760"/>
                  </a:lnTo>
                  <a:close/>
                </a:path>
              </a:pathLst>
            </a:custGeom>
            <a:blipFill>
              <a:blip r:embed="rId2">
                <a:alphaModFix amt="0"/>
              </a:blip>
              <a:stretch>
                <a:fillRect l="-44436" t="0" r="-44436" b="0"/>
              </a:stretch>
            </a:blipFill>
          </p:spPr>
        </p:sp>
        <p:sp>
          <p:nvSpPr>
            <p:cNvPr name="TextBox 70" id="70"/>
            <p:cNvSpPr txBox="true"/>
            <p:nvPr/>
          </p:nvSpPr>
          <p:spPr>
            <a:xfrm>
              <a:off x="0" y="-38100"/>
              <a:ext cx="3602736" cy="2689860"/>
            </a:xfrm>
            <a:prstGeom prst="rect">
              <a:avLst/>
            </a:prstGeom>
          </p:spPr>
          <p:txBody>
            <a:bodyPr anchor="ctr" rtlCol="false" tIns="0" lIns="0" bIns="0" rIns="0"/>
            <a:lstStyle/>
            <a:p>
              <a:pPr algn="ctr">
                <a:lnSpc>
                  <a:spcPts val="2099"/>
                </a:lnSpc>
              </a:pPr>
              <a:r>
                <a:rPr lang="en-US" sz="1575">
                  <a:solidFill>
                    <a:srgbClr val="5A6B7C"/>
                  </a:solidFill>
                  <a:latin typeface="Calibri (MS)"/>
                  <a:ea typeface="Calibri (MS)"/>
                  <a:cs typeface="Calibri (MS)"/>
                  <a:sym typeface="Calibri (MS)"/>
                </a:rPr>
                <a:t>Alert the customer,</a:t>
              </a:r>
            </a:p>
            <a:p>
              <a:pPr algn="ctr">
                <a:lnSpc>
                  <a:spcPts val="2099"/>
                </a:lnSpc>
              </a:pPr>
              <a:r>
                <a:rPr lang="en-US" sz="1575">
                  <a:solidFill>
                    <a:srgbClr val="5A6B7C"/>
                  </a:solidFill>
                  <a:latin typeface="Calibri (MS)"/>
                  <a:ea typeface="Calibri (MS)"/>
                  <a:cs typeface="Calibri (MS)"/>
                  <a:sym typeface="Calibri (MS)"/>
                </a:rPr>
                <a:t>freeze the account,</a:t>
              </a:r>
            </a:p>
            <a:p>
              <a:pPr algn="ctr">
                <a:lnSpc>
                  <a:spcPts val="2099"/>
                </a:lnSpc>
              </a:pPr>
              <a:r>
                <a:rPr lang="en-US" sz="1575">
                  <a:solidFill>
                    <a:srgbClr val="5A6B7C"/>
                  </a:solidFill>
                  <a:latin typeface="Calibri (MS)"/>
                  <a:ea typeface="Calibri (MS)"/>
                  <a:cs typeface="Calibri (MS)"/>
                  <a:sym typeface="Calibri (MS)"/>
                </a:rPr>
                <a:t>route to investigators</a:t>
              </a:r>
            </a:p>
          </p:txBody>
        </p:sp>
      </p:grpSp>
      <p:grpSp>
        <p:nvGrpSpPr>
          <p:cNvPr name="Group 71" id="71"/>
          <p:cNvGrpSpPr/>
          <p:nvPr/>
        </p:nvGrpSpPr>
        <p:grpSpPr>
          <a:xfrm rot="0">
            <a:off x="14346936" y="4046220"/>
            <a:ext cx="329184" cy="411480"/>
            <a:chOff x="0" y="0"/>
            <a:chExt cx="438912" cy="548640"/>
          </a:xfrm>
        </p:grpSpPr>
        <p:sp>
          <p:nvSpPr>
            <p:cNvPr name="Freeform 72" id="72"/>
            <p:cNvSpPr/>
            <p:nvPr/>
          </p:nvSpPr>
          <p:spPr>
            <a:xfrm flipH="false" flipV="false" rot="0">
              <a:off x="0" y="0"/>
              <a:ext cx="438912" cy="548640"/>
            </a:xfrm>
            <a:custGeom>
              <a:avLst/>
              <a:gdLst/>
              <a:ahLst/>
              <a:cxnLst/>
              <a:rect r="r" b="b" t="t" l="l"/>
              <a:pathLst>
                <a:path h="548640" w="438912">
                  <a:moveTo>
                    <a:pt x="0" y="137160"/>
                  </a:moveTo>
                  <a:lnTo>
                    <a:pt x="219456" y="137160"/>
                  </a:lnTo>
                  <a:lnTo>
                    <a:pt x="219456" y="0"/>
                  </a:lnTo>
                  <a:lnTo>
                    <a:pt x="438912" y="274320"/>
                  </a:lnTo>
                  <a:lnTo>
                    <a:pt x="219456" y="548640"/>
                  </a:lnTo>
                  <a:lnTo>
                    <a:pt x="219456" y="411480"/>
                  </a:lnTo>
                  <a:lnTo>
                    <a:pt x="0" y="411480"/>
                  </a:lnTo>
                  <a:close/>
                </a:path>
              </a:pathLst>
            </a:custGeom>
            <a:solidFill>
              <a:srgbClr val="9FB3C8"/>
            </a:solidFill>
          </p:spPr>
        </p:sp>
      </p:grpSp>
      <p:grpSp>
        <p:nvGrpSpPr>
          <p:cNvPr name="Group 73" id="73"/>
          <p:cNvGrpSpPr/>
          <p:nvPr/>
        </p:nvGrpSpPr>
        <p:grpSpPr>
          <a:xfrm rot="0">
            <a:off x="14746510" y="2525554"/>
            <a:ext cx="3109912" cy="3452812"/>
            <a:chOff x="0" y="0"/>
            <a:chExt cx="4146550" cy="4603750"/>
          </a:xfrm>
        </p:grpSpPr>
        <p:sp>
          <p:nvSpPr>
            <p:cNvPr name="Freeform 74" id="74"/>
            <p:cNvSpPr/>
            <p:nvPr/>
          </p:nvSpPr>
          <p:spPr>
            <a:xfrm flipH="false" flipV="false" rot="0">
              <a:off x="0" y="0"/>
              <a:ext cx="4146550" cy="4603750"/>
            </a:xfrm>
            <a:custGeom>
              <a:avLst/>
              <a:gdLst/>
              <a:ahLst/>
              <a:cxnLst/>
              <a:rect r="r" b="b" t="t" l="l"/>
              <a:pathLst>
                <a:path h="4603750" w="4146550">
                  <a:moveTo>
                    <a:pt x="0" y="147447"/>
                  </a:moveTo>
                  <a:cubicBezTo>
                    <a:pt x="0" y="66040"/>
                    <a:pt x="66040" y="0"/>
                    <a:pt x="147447" y="0"/>
                  </a:cubicBezTo>
                  <a:lnTo>
                    <a:pt x="3999103" y="0"/>
                  </a:lnTo>
                  <a:cubicBezTo>
                    <a:pt x="4080510" y="0"/>
                    <a:pt x="4146550" y="66040"/>
                    <a:pt x="4146550" y="147447"/>
                  </a:cubicBezTo>
                  <a:lnTo>
                    <a:pt x="4146550" y="4456303"/>
                  </a:lnTo>
                  <a:cubicBezTo>
                    <a:pt x="4146550" y="4537710"/>
                    <a:pt x="4080510" y="4603750"/>
                    <a:pt x="3999103" y="4603750"/>
                  </a:cubicBezTo>
                  <a:lnTo>
                    <a:pt x="147447" y="4603750"/>
                  </a:lnTo>
                  <a:cubicBezTo>
                    <a:pt x="66040" y="4603750"/>
                    <a:pt x="0" y="4537710"/>
                    <a:pt x="0" y="4456303"/>
                  </a:cubicBezTo>
                  <a:close/>
                </a:path>
              </a:pathLst>
            </a:custGeom>
            <a:solidFill>
              <a:srgbClr val="004C8F"/>
            </a:solidFill>
            <a:ln w="23812" cap="sq">
              <a:solidFill>
                <a:srgbClr val="004C8F"/>
              </a:solidFill>
              <a:prstDash val="solid"/>
              <a:miter/>
            </a:ln>
          </p:spPr>
        </p:sp>
      </p:grpSp>
      <p:grpSp>
        <p:nvGrpSpPr>
          <p:cNvPr name="Group 75" id="75"/>
          <p:cNvGrpSpPr/>
          <p:nvPr/>
        </p:nvGrpSpPr>
        <p:grpSpPr>
          <a:xfrm rot="0">
            <a:off x="15999714" y="2194560"/>
            <a:ext cx="603504" cy="603504"/>
            <a:chOff x="0" y="0"/>
            <a:chExt cx="804672" cy="804672"/>
          </a:xfrm>
        </p:grpSpPr>
        <p:sp>
          <p:nvSpPr>
            <p:cNvPr name="Freeform 76" id="76"/>
            <p:cNvSpPr/>
            <p:nvPr/>
          </p:nvSpPr>
          <p:spPr>
            <a:xfrm flipH="false" flipV="false" rot="0">
              <a:off x="0" y="0"/>
              <a:ext cx="804672" cy="804672"/>
            </a:xfrm>
            <a:custGeom>
              <a:avLst/>
              <a:gdLst/>
              <a:ahLst/>
              <a:cxnLst/>
              <a:rect r="r" b="b" t="t" l="l"/>
              <a:pathLst>
                <a:path h="804672" w="804672">
                  <a:moveTo>
                    <a:pt x="0" y="402336"/>
                  </a:moveTo>
                  <a:cubicBezTo>
                    <a:pt x="0" y="180086"/>
                    <a:pt x="180086" y="0"/>
                    <a:pt x="402336" y="0"/>
                  </a:cubicBezTo>
                  <a:cubicBezTo>
                    <a:pt x="624586" y="0"/>
                    <a:pt x="804672" y="180086"/>
                    <a:pt x="804672" y="402336"/>
                  </a:cubicBezTo>
                  <a:cubicBezTo>
                    <a:pt x="804672" y="624586"/>
                    <a:pt x="624586" y="804672"/>
                    <a:pt x="402336" y="804672"/>
                  </a:cubicBezTo>
                  <a:cubicBezTo>
                    <a:pt x="180086" y="804672"/>
                    <a:pt x="0" y="624586"/>
                    <a:pt x="0" y="402336"/>
                  </a:cubicBezTo>
                  <a:close/>
                </a:path>
              </a:pathLst>
            </a:custGeom>
            <a:solidFill>
              <a:srgbClr val="ED232A"/>
            </a:solidFill>
          </p:spPr>
        </p:sp>
      </p:grpSp>
      <p:grpSp>
        <p:nvGrpSpPr>
          <p:cNvPr name="Group 77" id="77"/>
          <p:cNvGrpSpPr/>
          <p:nvPr/>
        </p:nvGrpSpPr>
        <p:grpSpPr>
          <a:xfrm rot="0">
            <a:off x="15999714" y="2194560"/>
            <a:ext cx="603504" cy="603504"/>
            <a:chOff x="0" y="0"/>
            <a:chExt cx="804672" cy="804672"/>
          </a:xfrm>
        </p:grpSpPr>
        <p:sp>
          <p:nvSpPr>
            <p:cNvPr name="Freeform 78" id="78"/>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close/>
                </a:path>
              </a:pathLst>
            </a:custGeom>
            <a:blipFill>
              <a:blip r:embed="rId2">
                <a:alphaModFix amt="0"/>
              </a:blip>
              <a:stretch>
                <a:fillRect l="-78303" t="0" r="-78303" b="0"/>
              </a:stretch>
            </a:blipFill>
          </p:spPr>
        </p:sp>
        <p:sp>
          <p:nvSpPr>
            <p:cNvPr name="TextBox 79" id="79"/>
            <p:cNvSpPr txBox="true"/>
            <p:nvPr/>
          </p:nvSpPr>
          <p:spPr>
            <a:xfrm>
              <a:off x="0" y="-47625"/>
              <a:ext cx="804672" cy="852297"/>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5</a:t>
              </a:r>
            </a:p>
          </p:txBody>
        </p:sp>
      </p:grpSp>
      <p:grpSp>
        <p:nvGrpSpPr>
          <p:cNvPr name="Group 80" id="80"/>
          <p:cNvGrpSpPr/>
          <p:nvPr/>
        </p:nvGrpSpPr>
        <p:grpSpPr>
          <a:xfrm rot="0">
            <a:off x="14923008" y="3154680"/>
            <a:ext cx="2756916" cy="493776"/>
            <a:chOff x="0" y="0"/>
            <a:chExt cx="3675888" cy="658368"/>
          </a:xfrm>
        </p:grpSpPr>
        <p:sp>
          <p:nvSpPr>
            <p:cNvPr name="Freeform 81" id="81"/>
            <p:cNvSpPr/>
            <p:nvPr/>
          </p:nvSpPr>
          <p:spPr>
            <a:xfrm flipH="false" flipV="false" rot="0">
              <a:off x="0" y="0"/>
              <a:ext cx="3675888" cy="658368"/>
            </a:xfrm>
            <a:custGeom>
              <a:avLst/>
              <a:gdLst/>
              <a:ahLst/>
              <a:cxnLst/>
              <a:rect r="r" b="b" t="t" l="l"/>
              <a:pathLst>
                <a:path h="658368" w="3675888">
                  <a:moveTo>
                    <a:pt x="0" y="0"/>
                  </a:moveTo>
                  <a:lnTo>
                    <a:pt x="3675888" y="0"/>
                  </a:lnTo>
                  <a:lnTo>
                    <a:pt x="3675888" y="658368"/>
                  </a:lnTo>
                  <a:lnTo>
                    <a:pt x="0" y="658368"/>
                  </a:lnTo>
                  <a:close/>
                </a:path>
              </a:pathLst>
            </a:custGeom>
            <a:blipFill>
              <a:blip r:embed="rId2">
                <a:alphaModFix amt="0"/>
              </a:blip>
              <a:stretch>
                <a:fillRect l="0" t="-58791" r="0" b="-58791"/>
              </a:stretch>
            </a:blipFill>
          </p:spPr>
        </p:sp>
        <p:sp>
          <p:nvSpPr>
            <p:cNvPr name="TextBox 82" id="82"/>
            <p:cNvSpPr txBox="true"/>
            <p:nvPr/>
          </p:nvSpPr>
          <p:spPr>
            <a:xfrm>
              <a:off x="0" y="-19050"/>
              <a:ext cx="3675888" cy="677418"/>
            </a:xfrm>
            <a:prstGeom prst="rect">
              <a:avLst/>
            </a:prstGeom>
          </p:spPr>
          <p:txBody>
            <a:bodyPr anchor="ctr" rtlCol="false" tIns="0" lIns="0" bIns="0" rIns="0"/>
            <a:lstStyle/>
            <a:p>
              <a:pPr algn="ctr">
                <a:lnSpc>
                  <a:spcPts val="2520"/>
                </a:lnSpc>
              </a:pPr>
              <a:r>
                <a:rPr lang="en-US" sz="2100" b="true">
                  <a:solidFill>
                    <a:srgbClr val="FFFFFF"/>
                  </a:solidFill>
                  <a:latin typeface="Cambria Bold"/>
                  <a:ea typeface="Cambria Bold"/>
                  <a:cs typeface="Cambria Bold"/>
                  <a:sym typeface="Cambria Bold"/>
                </a:rPr>
                <a:t>Business Outcome</a:t>
              </a:r>
            </a:p>
          </p:txBody>
        </p:sp>
      </p:grpSp>
      <p:grpSp>
        <p:nvGrpSpPr>
          <p:cNvPr name="Group 83" id="83"/>
          <p:cNvGrpSpPr/>
          <p:nvPr/>
        </p:nvGrpSpPr>
        <p:grpSpPr>
          <a:xfrm rot="0">
            <a:off x="14950440" y="3771900"/>
            <a:ext cx="2702052" cy="1988820"/>
            <a:chOff x="0" y="0"/>
            <a:chExt cx="3602736" cy="2651760"/>
          </a:xfrm>
        </p:grpSpPr>
        <p:sp>
          <p:nvSpPr>
            <p:cNvPr name="Freeform 84" id="84"/>
            <p:cNvSpPr/>
            <p:nvPr/>
          </p:nvSpPr>
          <p:spPr>
            <a:xfrm flipH="false" flipV="false" rot="0">
              <a:off x="0" y="0"/>
              <a:ext cx="3602736" cy="2651760"/>
            </a:xfrm>
            <a:custGeom>
              <a:avLst/>
              <a:gdLst/>
              <a:ahLst/>
              <a:cxnLst/>
              <a:rect r="r" b="b" t="t" l="l"/>
              <a:pathLst>
                <a:path h="2651760" w="3602736">
                  <a:moveTo>
                    <a:pt x="0" y="0"/>
                  </a:moveTo>
                  <a:lnTo>
                    <a:pt x="3602736" y="0"/>
                  </a:lnTo>
                  <a:lnTo>
                    <a:pt x="3602736" y="2651760"/>
                  </a:lnTo>
                  <a:lnTo>
                    <a:pt x="0" y="2651760"/>
                  </a:lnTo>
                  <a:close/>
                </a:path>
              </a:pathLst>
            </a:custGeom>
            <a:blipFill>
              <a:blip r:embed="rId2">
                <a:alphaModFix amt="0"/>
              </a:blip>
              <a:stretch>
                <a:fillRect l="-44436" t="0" r="-44436" b="0"/>
              </a:stretch>
            </a:blipFill>
          </p:spPr>
        </p:sp>
        <p:sp>
          <p:nvSpPr>
            <p:cNvPr name="TextBox 85" id="85"/>
            <p:cNvSpPr txBox="true"/>
            <p:nvPr/>
          </p:nvSpPr>
          <p:spPr>
            <a:xfrm>
              <a:off x="0" y="-38100"/>
              <a:ext cx="3602736" cy="2689860"/>
            </a:xfrm>
            <a:prstGeom prst="rect">
              <a:avLst/>
            </a:prstGeom>
          </p:spPr>
          <p:txBody>
            <a:bodyPr anchor="ctr" rtlCol="false" tIns="0" lIns="0" bIns="0" rIns="0"/>
            <a:lstStyle/>
            <a:p>
              <a:pPr algn="ctr">
                <a:lnSpc>
                  <a:spcPts val="2099"/>
                </a:lnSpc>
              </a:pPr>
              <a:r>
                <a:rPr lang="en-US" sz="1575">
                  <a:solidFill>
                    <a:srgbClr val="D7E5F3"/>
                  </a:solidFill>
                  <a:latin typeface="Calibri (MS)"/>
                  <a:ea typeface="Calibri (MS)"/>
                  <a:cs typeface="Calibri (MS)"/>
                  <a:sym typeface="Calibri (MS)"/>
                </a:rPr>
                <a:t>Fraud prevented,</a:t>
              </a:r>
            </a:p>
            <a:p>
              <a:pPr algn="ctr">
                <a:lnSpc>
                  <a:spcPts val="2099"/>
                </a:lnSpc>
              </a:pPr>
              <a:r>
                <a:rPr lang="en-US" sz="1575">
                  <a:solidFill>
                    <a:srgbClr val="D7E5F3"/>
                  </a:solidFill>
                  <a:latin typeface="Calibri (MS)"/>
                  <a:ea typeface="Calibri (MS)"/>
                  <a:cs typeface="Calibri (MS)"/>
                  <a:sym typeface="Calibri (MS)"/>
                </a:rPr>
                <a:t>genuine payments pass,</a:t>
              </a:r>
            </a:p>
            <a:p>
              <a:pPr algn="ctr">
                <a:lnSpc>
                  <a:spcPts val="2099"/>
                </a:lnSpc>
              </a:pPr>
              <a:r>
                <a:rPr lang="en-US" sz="1575">
                  <a:solidFill>
                    <a:srgbClr val="D7E5F3"/>
                  </a:solidFill>
                  <a:latin typeface="Calibri (MS)"/>
                  <a:ea typeface="Calibri (MS)"/>
                  <a:cs typeface="Calibri (MS)"/>
                  <a:sym typeface="Calibri (MS)"/>
                </a:rPr>
                <a:t>customer trust retained</a:t>
              </a:r>
            </a:p>
          </p:txBody>
        </p:sp>
      </p:grpSp>
      <p:grpSp>
        <p:nvGrpSpPr>
          <p:cNvPr name="Group 86" id="86"/>
          <p:cNvGrpSpPr/>
          <p:nvPr/>
        </p:nvGrpSpPr>
        <p:grpSpPr>
          <a:xfrm rot="0">
            <a:off x="822960" y="6377940"/>
            <a:ext cx="8229600" cy="438912"/>
            <a:chOff x="0" y="0"/>
            <a:chExt cx="10972800" cy="585216"/>
          </a:xfrm>
        </p:grpSpPr>
        <p:sp>
          <p:nvSpPr>
            <p:cNvPr name="Freeform 87" id="87"/>
            <p:cNvSpPr/>
            <p:nvPr/>
          </p:nvSpPr>
          <p:spPr>
            <a:xfrm flipH="false" flipV="false" rot="0">
              <a:off x="0" y="0"/>
              <a:ext cx="10972800" cy="585216"/>
            </a:xfrm>
            <a:custGeom>
              <a:avLst/>
              <a:gdLst/>
              <a:ahLst/>
              <a:cxnLst/>
              <a:rect r="r" b="b" t="t" l="l"/>
              <a:pathLst>
                <a:path h="585216" w="10972800">
                  <a:moveTo>
                    <a:pt x="0" y="0"/>
                  </a:moveTo>
                  <a:lnTo>
                    <a:pt x="10972800" y="0"/>
                  </a:lnTo>
                  <a:lnTo>
                    <a:pt x="10972800" y="585216"/>
                  </a:lnTo>
                  <a:lnTo>
                    <a:pt x="0" y="585216"/>
                  </a:lnTo>
                  <a:close/>
                </a:path>
              </a:pathLst>
            </a:custGeom>
            <a:blipFill>
              <a:blip r:embed="rId2">
                <a:alphaModFix amt="0"/>
              </a:blip>
              <a:stretch>
                <a:fillRect l="0" t="-315344" r="0" b="-315344"/>
              </a:stretch>
            </a:blipFill>
          </p:spPr>
        </p:sp>
        <p:sp>
          <p:nvSpPr>
            <p:cNvPr name="TextBox 88" id="88"/>
            <p:cNvSpPr txBox="true"/>
            <p:nvPr/>
          </p:nvSpPr>
          <p:spPr>
            <a:xfrm>
              <a:off x="0" y="-57150"/>
              <a:ext cx="10972800" cy="642366"/>
            </a:xfrm>
            <a:prstGeom prst="rect">
              <a:avLst/>
            </a:prstGeom>
          </p:spPr>
          <p:txBody>
            <a:bodyPr anchor="ctr" rtlCol="false" tIns="0" lIns="0" bIns="0" rIns="0"/>
            <a:lstStyle/>
            <a:p>
              <a:pPr algn="l">
                <a:lnSpc>
                  <a:spcPts val="2700"/>
                </a:lnSpc>
              </a:pPr>
              <a:r>
                <a:rPr lang="en-US" sz="2250" b="true">
                  <a:solidFill>
                    <a:srgbClr val="0A2540"/>
                  </a:solidFill>
                  <a:latin typeface="Calibri (MS) Bold"/>
                  <a:ea typeface="Calibri (MS) Bold"/>
                  <a:cs typeface="Calibri (MS) Bold"/>
                  <a:sym typeface="Calibri (MS) Bold"/>
                </a:rPr>
                <a:t>Worked example</a:t>
              </a:r>
            </a:p>
          </p:txBody>
        </p:sp>
      </p:grpSp>
      <p:grpSp>
        <p:nvGrpSpPr>
          <p:cNvPr name="Group 89" id="89"/>
          <p:cNvGrpSpPr/>
          <p:nvPr/>
        </p:nvGrpSpPr>
        <p:grpSpPr>
          <a:xfrm rot="0">
            <a:off x="822960" y="6885432"/>
            <a:ext cx="8229600" cy="1508760"/>
            <a:chOff x="0" y="0"/>
            <a:chExt cx="10972800" cy="2011680"/>
          </a:xfrm>
        </p:grpSpPr>
        <p:sp>
          <p:nvSpPr>
            <p:cNvPr name="Freeform 90" id="90"/>
            <p:cNvSpPr/>
            <p:nvPr/>
          </p:nvSpPr>
          <p:spPr>
            <a:xfrm flipH="false" flipV="false" rot="0">
              <a:off x="0" y="0"/>
              <a:ext cx="10972800" cy="2011680"/>
            </a:xfrm>
            <a:custGeom>
              <a:avLst/>
              <a:gdLst/>
              <a:ahLst/>
              <a:cxnLst/>
              <a:rect r="r" b="b" t="t" l="l"/>
              <a:pathLst>
                <a:path h="2011680" w="10972800">
                  <a:moveTo>
                    <a:pt x="0" y="0"/>
                  </a:moveTo>
                  <a:lnTo>
                    <a:pt x="10972800" y="0"/>
                  </a:lnTo>
                  <a:lnTo>
                    <a:pt x="10972800" y="2011680"/>
                  </a:lnTo>
                  <a:lnTo>
                    <a:pt x="0" y="2011680"/>
                  </a:lnTo>
                  <a:close/>
                </a:path>
              </a:pathLst>
            </a:custGeom>
            <a:blipFill>
              <a:blip r:embed="rId2">
                <a:alphaModFix amt="0"/>
              </a:blip>
              <a:stretch>
                <a:fillRect l="0" t="-56282" r="0" b="-56282"/>
              </a:stretch>
            </a:blipFill>
          </p:spPr>
        </p:sp>
        <p:sp>
          <p:nvSpPr>
            <p:cNvPr name="TextBox 91" id="91"/>
            <p:cNvSpPr txBox="true"/>
            <p:nvPr/>
          </p:nvSpPr>
          <p:spPr>
            <a:xfrm>
              <a:off x="0" y="-76200"/>
              <a:ext cx="10972800" cy="2087880"/>
            </a:xfrm>
            <a:prstGeom prst="rect">
              <a:avLst/>
            </a:prstGeom>
          </p:spPr>
          <p:txBody>
            <a:bodyPr anchor="ctr" rtlCol="false" tIns="0" lIns="0" bIns="0" rIns="0"/>
            <a:lstStyle/>
            <a:p>
              <a:pPr algn="l">
                <a:lnSpc>
                  <a:spcPts val="2550"/>
                </a:lnSpc>
              </a:pPr>
              <a:r>
                <a:rPr lang="en-US" sz="1800">
                  <a:solidFill>
                    <a:srgbClr val="3D4C5A"/>
                  </a:solidFill>
                  <a:latin typeface="Calibri (MS)"/>
                  <a:ea typeface="Calibri (MS)"/>
                  <a:cs typeface="Calibri (MS)"/>
                  <a:sym typeface="Calibri (MS)"/>
                </a:rPr>
                <a:t>A customer who normally transacts for ₹2,000–₹5,000 in Chandigarh during the day attempts a ₹95,000 transfer at 3:10 a.m. from a new device logged in from another state, to a beneficiary added twelve minutes earlier.</a:t>
              </a:r>
            </a:p>
          </p:txBody>
        </p:sp>
      </p:grpSp>
      <p:grpSp>
        <p:nvGrpSpPr>
          <p:cNvPr name="Group 92" id="92"/>
          <p:cNvGrpSpPr/>
          <p:nvPr/>
        </p:nvGrpSpPr>
        <p:grpSpPr>
          <a:xfrm rot="0">
            <a:off x="822960" y="8366760"/>
            <a:ext cx="8229600" cy="1165860"/>
            <a:chOff x="0" y="0"/>
            <a:chExt cx="10972800" cy="1554480"/>
          </a:xfrm>
        </p:grpSpPr>
        <p:sp>
          <p:nvSpPr>
            <p:cNvPr name="Freeform 93" id="93"/>
            <p:cNvSpPr/>
            <p:nvPr/>
          </p:nvSpPr>
          <p:spPr>
            <a:xfrm flipH="false" flipV="false" rot="0">
              <a:off x="0" y="0"/>
              <a:ext cx="10972800" cy="1554480"/>
            </a:xfrm>
            <a:custGeom>
              <a:avLst/>
              <a:gdLst/>
              <a:ahLst/>
              <a:cxnLst/>
              <a:rect r="r" b="b" t="t" l="l"/>
              <a:pathLst>
                <a:path h="1554480" w="10972800">
                  <a:moveTo>
                    <a:pt x="0" y="0"/>
                  </a:moveTo>
                  <a:lnTo>
                    <a:pt x="10972800" y="0"/>
                  </a:lnTo>
                  <a:lnTo>
                    <a:pt x="10972800" y="1554480"/>
                  </a:lnTo>
                  <a:lnTo>
                    <a:pt x="0" y="1554480"/>
                  </a:lnTo>
                  <a:close/>
                </a:path>
              </a:pathLst>
            </a:custGeom>
            <a:blipFill>
              <a:blip r:embed="rId2">
                <a:alphaModFix amt="0"/>
              </a:blip>
              <a:stretch>
                <a:fillRect l="0" t="-87541" r="0" b="-87541"/>
              </a:stretch>
            </a:blipFill>
          </p:spPr>
        </p:sp>
        <p:sp>
          <p:nvSpPr>
            <p:cNvPr name="TextBox 94" id="94"/>
            <p:cNvSpPr txBox="true"/>
            <p:nvPr/>
          </p:nvSpPr>
          <p:spPr>
            <a:xfrm>
              <a:off x="0" y="-76200"/>
              <a:ext cx="10972800" cy="1630680"/>
            </a:xfrm>
            <a:prstGeom prst="rect">
              <a:avLst/>
            </a:prstGeom>
          </p:spPr>
          <p:txBody>
            <a:bodyPr anchor="ctr" rtlCol="false" tIns="0" lIns="0" bIns="0" rIns="0"/>
            <a:lstStyle/>
            <a:p>
              <a:pPr algn="l">
                <a:lnSpc>
                  <a:spcPts val="2550"/>
                </a:lnSpc>
              </a:pPr>
              <a:r>
                <a:rPr lang="en-US" sz="1800" i="true">
                  <a:solidFill>
                    <a:srgbClr val="004C8F"/>
                  </a:solidFill>
                  <a:latin typeface="Calibri (MS) Italics"/>
                  <a:ea typeface="Calibri (MS) Italics"/>
                  <a:cs typeface="Calibri (MS) Italics"/>
                  <a:sym typeface="Calibri (MS) Italics"/>
                </a:rPr>
                <a:t>The model combines amount deviation, time, device novelty, location and beneficiary age into a single fraud score of 0.93 — the transaction is held and the customer is called before any money moves.</a:t>
              </a:r>
            </a:p>
          </p:txBody>
        </p:sp>
      </p:grpSp>
      <p:grpSp>
        <p:nvGrpSpPr>
          <p:cNvPr name="Group 95" id="95"/>
          <p:cNvGrpSpPr/>
          <p:nvPr/>
        </p:nvGrpSpPr>
        <p:grpSpPr>
          <a:xfrm rot="0">
            <a:off x="9523095" y="6368415"/>
            <a:ext cx="7946898" cy="3173730"/>
            <a:chOff x="0" y="0"/>
            <a:chExt cx="10595864" cy="4231640"/>
          </a:xfrm>
        </p:grpSpPr>
        <p:sp>
          <p:nvSpPr>
            <p:cNvPr name="Freeform 96" id="96"/>
            <p:cNvSpPr/>
            <p:nvPr/>
          </p:nvSpPr>
          <p:spPr>
            <a:xfrm flipH="false" flipV="false" rot="0">
              <a:off x="0" y="0"/>
              <a:ext cx="10595864" cy="4231640"/>
            </a:xfrm>
            <a:custGeom>
              <a:avLst/>
              <a:gdLst/>
              <a:ahLst/>
              <a:cxnLst/>
              <a:rect r="r" b="b" t="t" l="l"/>
              <a:pathLst>
                <a:path h="4231640" w="10595864">
                  <a:moveTo>
                    <a:pt x="0" y="147193"/>
                  </a:moveTo>
                  <a:cubicBezTo>
                    <a:pt x="0" y="65913"/>
                    <a:pt x="65913" y="0"/>
                    <a:pt x="147193" y="0"/>
                  </a:cubicBezTo>
                  <a:lnTo>
                    <a:pt x="10448671" y="0"/>
                  </a:lnTo>
                  <a:cubicBezTo>
                    <a:pt x="10529951" y="0"/>
                    <a:pt x="10595864" y="65913"/>
                    <a:pt x="10595864" y="147193"/>
                  </a:cubicBezTo>
                  <a:lnTo>
                    <a:pt x="10595864" y="4084447"/>
                  </a:lnTo>
                  <a:cubicBezTo>
                    <a:pt x="10595864" y="4165727"/>
                    <a:pt x="10529951" y="4231640"/>
                    <a:pt x="10448671" y="4231640"/>
                  </a:cubicBezTo>
                  <a:lnTo>
                    <a:pt x="147193" y="4231640"/>
                  </a:lnTo>
                  <a:cubicBezTo>
                    <a:pt x="65913" y="4231640"/>
                    <a:pt x="0" y="4165727"/>
                    <a:pt x="0" y="4084447"/>
                  </a:cubicBezTo>
                  <a:close/>
                </a:path>
              </a:pathLst>
            </a:custGeom>
            <a:solidFill>
              <a:srgbClr val="F1F5F9"/>
            </a:solidFill>
            <a:ln w="19050" cap="sq">
              <a:solidFill>
                <a:srgbClr val="F1F5F9"/>
              </a:solidFill>
              <a:prstDash val="solid"/>
              <a:miter/>
            </a:ln>
          </p:spPr>
        </p:sp>
      </p:grpSp>
      <p:grpSp>
        <p:nvGrpSpPr>
          <p:cNvPr name="Group 97" id="97"/>
          <p:cNvGrpSpPr/>
          <p:nvPr/>
        </p:nvGrpSpPr>
        <p:grpSpPr>
          <a:xfrm rot="0">
            <a:off x="9944100" y="6652260"/>
            <a:ext cx="7132320" cy="438912"/>
            <a:chOff x="0" y="0"/>
            <a:chExt cx="9509760" cy="585216"/>
          </a:xfrm>
        </p:grpSpPr>
        <p:sp>
          <p:nvSpPr>
            <p:cNvPr name="Freeform 98" id="98"/>
            <p:cNvSpPr/>
            <p:nvPr/>
          </p:nvSpPr>
          <p:spPr>
            <a:xfrm flipH="false" flipV="false" rot="0">
              <a:off x="0" y="0"/>
              <a:ext cx="9509760" cy="585216"/>
            </a:xfrm>
            <a:custGeom>
              <a:avLst/>
              <a:gdLst/>
              <a:ahLst/>
              <a:cxnLst/>
              <a:rect r="r" b="b" t="t" l="l"/>
              <a:pathLst>
                <a:path h="585216" w="9509760">
                  <a:moveTo>
                    <a:pt x="0" y="0"/>
                  </a:moveTo>
                  <a:lnTo>
                    <a:pt x="9509760" y="0"/>
                  </a:lnTo>
                  <a:lnTo>
                    <a:pt x="9509760" y="585216"/>
                  </a:lnTo>
                  <a:lnTo>
                    <a:pt x="0" y="585216"/>
                  </a:lnTo>
                  <a:close/>
                </a:path>
              </a:pathLst>
            </a:custGeom>
            <a:blipFill>
              <a:blip r:embed="rId2">
                <a:alphaModFix amt="0"/>
              </a:blip>
              <a:stretch>
                <a:fillRect l="0" t="-266631" r="0" b="-266631"/>
              </a:stretch>
            </a:blipFill>
          </p:spPr>
        </p:sp>
        <p:sp>
          <p:nvSpPr>
            <p:cNvPr name="TextBox 99" id="99"/>
            <p:cNvSpPr txBox="true"/>
            <p:nvPr/>
          </p:nvSpPr>
          <p:spPr>
            <a:xfrm>
              <a:off x="0" y="-47625"/>
              <a:ext cx="9509760" cy="632841"/>
            </a:xfrm>
            <a:prstGeom prst="rect">
              <a:avLst/>
            </a:prstGeom>
          </p:spPr>
          <p:txBody>
            <a:bodyPr anchor="ctr" rtlCol="false" tIns="0" lIns="0" bIns="0" rIns="0"/>
            <a:lstStyle/>
            <a:p>
              <a:pPr algn="l">
                <a:lnSpc>
                  <a:spcPts val="2520"/>
                </a:lnSpc>
              </a:pPr>
              <a:r>
                <a:rPr lang="en-US" sz="2100" b="true">
                  <a:solidFill>
                    <a:srgbClr val="0A2540"/>
                  </a:solidFill>
                  <a:latin typeface="Calibri (MS) Bold"/>
                  <a:ea typeface="Calibri (MS) Bold"/>
                  <a:cs typeface="Calibri (MS) Bold"/>
                  <a:sym typeface="Calibri (MS) Bold"/>
                </a:rPr>
                <a:t>Human oversight stays in the loop</a:t>
              </a:r>
            </a:p>
          </p:txBody>
        </p:sp>
      </p:grpSp>
      <p:grpSp>
        <p:nvGrpSpPr>
          <p:cNvPr name="Group 100" id="100"/>
          <p:cNvGrpSpPr/>
          <p:nvPr/>
        </p:nvGrpSpPr>
        <p:grpSpPr>
          <a:xfrm rot="0">
            <a:off x="9944100" y="7159752"/>
            <a:ext cx="7132320" cy="2125980"/>
            <a:chOff x="0" y="0"/>
            <a:chExt cx="9509760" cy="2834640"/>
          </a:xfrm>
        </p:grpSpPr>
        <p:sp>
          <p:nvSpPr>
            <p:cNvPr name="Freeform 101" id="101"/>
            <p:cNvSpPr/>
            <p:nvPr/>
          </p:nvSpPr>
          <p:spPr>
            <a:xfrm flipH="false" flipV="false" rot="0">
              <a:off x="0" y="0"/>
              <a:ext cx="9509760" cy="2834640"/>
            </a:xfrm>
            <a:custGeom>
              <a:avLst/>
              <a:gdLst/>
              <a:ahLst/>
              <a:cxnLst/>
              <a:rect r="r" b="b" t="t" l="l"/>
              <a:pathLst>
                <a:path h="2834640" w="9509760">
                  <a:moveTo>
                    <a:pt x="0" y="0"/>
                  </a:moveTo>
                  <a:lnTo>
                    <a:pt x="9509760" y="0"/>
                  </a:lnTo>
                  <a:lnTo>
                    <a:pt x="9509760" y="2834640"/>
                  </a:lnTo>
                  <a:lnTo>
                    <a:pt x="0" y="2834640"/>
                  </a:lnTo>
                  <a:close/>
                </a:path>
              </a:pathLst>
            </a:custGeom>
            <a:blipFill>
              <a:blip r:embed="rId2">
                <a:alphaModFix amt="0"/>
              </a:blip>
              <a:stretch>
                <a:fillRect l="0" t="-15369" r="0" b="-15369"/>
              </a:stretch>
            </a:blipFill>
          </p:spPr>
        </p:sp>
        <p:sp>
          <p:nvSpPr>
            <p:cNvPr name="TextBox 102" id="102"/>
            <p:cNvSpPr txBox="true"/>
            <p:nvPr/>
          </p:nvSpPr>
          <p:spPr>
            <a:xfrm>
              <a:off x="0" y="-57150"/>
              <a:ext cx="9509760" cy="2891790"/>
            </a:xfrm>
            <a:prstGeom prst="rect">
              <a:avLst/>
            </a:prstGeom>
          </p:spPr>
          <p:txBody>
            <a:bodyPr anchor="ctr" rtlCol="false" tIns="0" lIns="0" bIns="0" rIns="0"/>
            <a:lstStyle/>
            <a:p>
              <a:pPr algn="l" marL="312182" indent="-156091" lvl="1">
                <a:lnSpc>
                  <a:spcPts val="2250"/>
                </a:lnSpc>
                <a:buFont typeface="Arial"/>
                <a:buChar char="•"/>
              </a:pPr>
              <a:r>
                <a:rPr lang="en-US" sz="1725">
                  <a:solidFill>
                    <a:srgbClr val="3D4C5A"/>
                  </a:solidFill>
                  <a:latin typeface="Calibri (MS)"/>
                  <a:ea typeface="Calibri (MS)"/>
                  <a:cs typeface="Calibri (MS)"/>
                  <a:sym typeface="Calibri (MS)"/>
                </a:rPr>
                <a:t>The model recommends; the fraud operations team decides on high-value and disputed cases.</a:t>
              </a:r>
            </a:p>
            <a:p>
              <a:pPr algn="l" marL="312182" indent="-156091" lvl="1">
                <a:lnSpc>
                  <a:spcPts val="2250"/>
                </a:lnSpc>
                <a:buFont typeface="Arial"/>
                <a:buChar char="•"/>
              </a:pPr>
              <a:r>
                <a:rPr lang="en-US" sz="1725">
                  <a:solidFill>
                    <a:srgbClr val="3D4C5A"/>
                  </a:solidFill>
                  <a:latin typeface="Calibri (MS)"/>
                  <a:ea typeface="Calibri (MS)"/>
                  <a:cs typeface="Calibri (MS)"/>
                  <a:sym typeface="Calibri (MS)"/>
                </a:rPr>
                <a:t>Every confirmed case is fed back as a new training label, so the system improves with each fraud attempt.</a:t>
              </a:r>
            </a:p>
            <a:p>
              <a:pPr algn="l" marL="312182" indent="-156091" lvl="1">
                <a:lnSpc>
                  <a:spcPts val="2250"/>
                </a:lnSpc>
                <a:buFont typeface="Arial"/>
                <a:buChar char="•"/>
              </a:pPr>
              <a:r>
                <a:rPr lang="en-US" sz="1725">
                  <a:solidFill>
                    <a:srgbClr val="3D4C5A"/>
                  </a:solidFill>
                  <a:latin typeface="Calibri (MS)"/>
                  <a:ea typeface="Calibri (MS)"/>
                  <a:cs typeface="Calibri (MS)"/>
                  <a:sym typeface="Calibri (MS)"/>
                </a:rPr>
                <a:t>Analysts stop screening millions of alerts and focus on the genuinely complex ones.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4264640" cy="822960"/>
            <a:chOff x="0" y="0"/>
            <a:chExt cx="19019520" cy="1097280"/>
          </a:xfrm>
        </p:grpSpPr>
        <p:sp>
          <p:nvSpPr>
            <p:cNvPr name="Freeform 3" id="3"/>
            <p:cNvSpPr/>
            <p:nvPr/>
          </p:nvSpPr>
          <p:spPr>
            <a:xfrm flipH="false" flipV="false" rot="0">
              <a:off x="0" y="0"/>
              <a:ext cx="19019520" cy="1097280"/>
            </a:xfrm>
            <a:custGeom>
              <a:avLst/>
              <a:gdLst/>
              <a:ahLst/>
              <a:cxnLst/>
              <a:rect r="r" b="b" t="t" l="l"/>
              <a:pathLst>
                <a:path h="1097280" w="19019520">
                  <a:moveTo>
                    <a:pt x="0" y="0"/>
                  </a:moveTo>
                  <a:lnTo>
                    <a:pt x="19019520" y="0"/>
                  </a:lnTo>
                  <a:lnTo>
                    <a:pt x="19019520" y="1097280"/>
                  </a:lnTo>
                  <a:lnTo>
                    <a:pt x="0" y="1097280"/>
                  </a:lnTo>
                  <a:close/>
                </a:path>
              </a:pathLst>
            </a:custGeom>
            <a:blipFill>
              <a:blip r:embed="rId2">
                <a:alphaModFix amt="0"/>
              </a:blip>
              <a:stretch>
                <a:fillRect l="0" t="-287740" r="0" b="-287740"/>
              </a:stretch>
            </a:blipFill>
          </p:spPr>
        </p:sp>
        <p:sp>
          <p:nvSpPr>
            <p:cNvPr name="TextBox 4" id="4"/>
            <p:cNvSpPr txBox="true"/>
            <p:nvPr/>
          </p:nvSpPr>
          <p:spPr>
            <a:xfrm>
              <a:off x="0" y="-9525"/>
              <a:ext cx="19019520" cy="1106805"/>
            </a:xfrm>
            <a:prstGeom prst="rect">
              <a:avLst/>
            </a:prstGeom>
          </p:spPr>
          <p:txBody>
            <a:bodyPr anchor="ctr" rtlCol="false" tIns="0" lIns="0" bIns="0" rIns="0"/>
            <a:lstStyle/>
            <a:p>
              <a:pPr algn="l">
                <a:lnSpc>
                  <a:spcPts val="5759"/>
                </a:lnSpc>
              </a:pPr>
              <a:r>
                <a:rPr lang="en-US" sz="4800" b="true">
                  <a:solidFill>
                    <a:srgbClr val="0A2540"/>
                  </a:solidFill>
                  <a:latin typeface="Cambria Bold"/>
                  <a:ea typeface="Cambria Bold"/>
                  <a:cs typeface="Cambria Bold"/>
                  <a:sym typeface="Cambria Bold"/>
                </a:rPr>
                <a:t>Business Impact</a:t>
              </a:r>
            </a:p>
          </p:txBody>
        </p:sp>
      </p:grpSp>
      <p:grpSp>
        <p:nvGrpSpPr>
          <p:cNvPr name="Group 5" id="5"/>
          <p:cNvGrpSpPr/>
          <p:nvPr/>
        </p:nvGrpSpPr>
        <p:grpSpPr>
          <a:xfrm rot="0">
            <a:off x="822960" y="1426464"/>
            <a:ext cx="14264640" cy="438912"/>
            <a:chOff x="0" y="0"/>
            <a:chExt cx="19019520" cy="585216"/>
          </a:xfrm>
        </p:grpSpPr>
        <p:sp>
          <p:nvSpPr>
            <p:cNvPr name="Freeform 6" id="6"/>
            <p:cNvSpPr/>
            <p:nvPr/>
          </p:nvSpPr>
          <p:spPr>
            <a:xfrm flipH="false" flipV="false" rot="0">
              <a:off x="0" y="0"/>
              <a:ext cx="19019520" cy="585216"/>
            </a:xfrm>
            <a:custGeom>
              <a:avLst/>
              <a:gdLst/>
              <a:ahLst/>
              <a:cxnLst/>
              <a:rect r="r" b="b" t="t" l="l"/>
              <a:pathLst>
                <a:path h="585216" w="19019520">
                  <a:moveTo>
                    <a:pt x="0" y="0"/>
                  </a:moveTo>
                  <a:lnTo>
                    <a:pt x="19019520" y="0"/>
                  </a:lnTo>
                  <a:lnTo>
                    <a:pt x="19019520" y="585216"/>
                  </a:lnTo>
                  <a:lnTo>
                    <a:pt x="0" y="585216"/>
                  </a:lnTo>
                  <a:close/>
                </a:path>
              </a:pathLst>
            </a:custGeom>
            <a:blipFill>
              <a:blip r:embed="rId2">
                <a:alphaModFix amt="0"/>
              </a:blip>
              <a:stretch>
                <a:fillRect l="0" t="-583263" r="0" b="-583263"/>
              </a:stretch>
            </a:blipFill>
          </p:spPr>
        </p:sp>
        <p:sp>
          <p:nvSpPr>
            <p:cNvPr name="TextBox 7" id="7"/>
            <p:cNvSpPr txBox="true"/>
            <p:nvPr/>
          </p:nvSpPr>
          <p:spPr>
            <a:xfrm>
              <a:off x="0" y="-47625"/>
              <a:ext cx="19019520" cy="632841"/>
            </a:xfrm>
            <a:prstGeom prst="rect">
              <a:avLst/>
            </a:prstGeom>
          </p:spPr>
          <p:txBody>
            <a:bodyPr anchor="ctr" rtlCol="false" tIns="0" lIns="0" bIns="0" rIns="0"/>
            <a:lstStyle/>
            <a:p>
              <a:pPr algn="l">
                <a:lnSpc>
                  <a:spcPts val="2340"/>
                </a:lnSpc>
              </a:pPr>
              <a:r>
                <a:rPr lang="en-US" sz="1950" i="true">
                  <a:solidFill>
                    <a:srgbClr val="5A6B7C"/>
                  </a:solidFill>
                  <a:latin typeface="Calibri (MS) Italics"/>
                  <a:ea typeface="Calibri (MS) Italics"/>
                  <a:cs typeface="Calibri (MS) Italics"/>
                  <a:sym typeface="Calibri (MS) Italics"/>
                </a:rPr>
                <a:t>What changes for HDFC Bank if the solution works</a:t>
              </a:r>
            </a:p>
          </p:txBody>
        </p:sp>
      </p:grpSp>
      <p:grpSp>
        <p:nvGrpSpPr>
          <p:cNvPr name="Group 8" id="8"/>
          <p:cNvGrpSpPr/>
          <p:nvPr/>
        </p:nvGrpSpPr>
        <p:grpSpPr>
          <a:xfrm rot="0">
            <a:off x="16664940" y="576072"/>
            <a:ext cx="850392" cy="850392"/>
            <a:chOff x="0" y="0"/>
            <a:chExt cx="1133856" cy="1133856"/>
          </a:xfrm>
        </p:grpSpPr>
        <p:sp>
          <p:nvSpPr>
            <p:cNvPr name="Freeform 9" id="9"/>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F1F5F9"/>
            </a:solidFill>
          </p:spPr>
        </p:sp>
      </p:grpSp>
      <p:grpSp>
        <p:nvGrpSpPr>
          <p:cNvPr name="Group 10" id="10"/>
          <p:cNvGrpSpPr/>
          <p:nvPr/>
        </p:nvGrpSpPr>
        <p:grpSpPr>
          <a:xfrm rot="0">
            <a:off x="16664940" y="576072"/>
            <a:ext cx="850392" cy="850392"/>
            <a:chOff x="0" y="0"/>
            <a:chExt cx="1133856" cy="1133856"/>
          </a:xfrm>
        </p:grpSpPr>
        <p:sp>
          <p:nvSpPr>
            <p:cNvPr name="Freeform 11" id="11"/>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2">
                <a:alphaModFix amt="0"/>
              </a:blip>
              <a:stretch>
                <a:fillRect l="-78303" t="0" r="-78303" b="0"/>
              </a:stretch>
            </a:blipFill>
          </p:spPr>
        </p:sp>
        <p:sp>
          <p:nvSpPr>
            <p:cNvPr name="TextBox 12" id="12"/>
            <p:cNvSpPr txBox="true"/>
            <p:nvPr/>
          </p:nvSpPr>
          <p:spPr>
            <a:xfrm>
              <a:off x="0" y="-9525"/>
              <a:ext cx="1133856" cy="1143381"/>
            </a:xfrm>
            <a:prstGeom prst="rect">
              <a:avLst/>
            </a:prstGeom>
          </p:spPr>
          <p:txBody>
            <a:bodyPr anchor="ctr" rtlCol="false" tIns="0" lIns="0" bIns="0" rIns="0"/>
            <a:lstStyle/>
            <a:p>
              <a:pPr algn="ctr">
                <a:lnSpc>
                  <a:spcPts val="2879"/>
                </a:lnSpc>
              </a:pPr>
              <a:r>
                <a:rPr lang="en-US" sz="2400" b="true">
                  <a:solidFill>
                    <a:srgbClr val="004C8F"/>
                  </a:solidFill>
                  <a:latin typeface="Cambria Bold"/>
                  <a:ea typeface="Cambria Bold"/>
                  <a:cs typeface="Cambria Bold"/>
                  <a:sym typeface="Cambria Bold"/>
                </a:rPr>
                <a:t>7</a:t>
              </a:r>
            </a:p>
          </p:txBody>
        </p:sp>
      </p:grpSp>
      <p:grpSp>
        <p:nvGrpSpPr>
          <p:cNvPr name="Group 13" id="13"/>
          <p:cNvGrpSpPr/>
          <p:nvPr/>
        </p:nvGrpSpPr>
        <p:grpSpPr>
          <a:xfrm rot="0">
            <a:off x="813435" y="2349627"/>
            <a:ext cx="5340858" cy="1966722"/>
            <a:chOff x="0" y="0"/>
            <a:chExt cx="7121144" cy="2622296"/>
          </a:xfrm>
        </p:grpSpPr>
        <p:sp>
          <p:nvSpPr>
            <p:cNvPr name="Freeform 14" id="14"/>
            <p:cNvSpPr/>
            <p:nvPr/>
          </p:nvSpPr>
          <p:spPr>
            <a:xfrm flipH="false" flipV="false" rot="0">
              <a:off x="0" y="0"/>
              <a:ext cx="7121144" cy="2622296"/>
            </a:xfrm>
            <a:custGeom>
              <a:avLst/>
              <a:gdLst/>
              <a:ahLst/>
              <a:cxnLst/>
              <a:rect r="r" b="b" t="t" l="l"/>
              <a:pathLst>
                <a:path h="2622296" w="7121144">
                  <a:moveTo>
                    <a:pt x="0" y="147701"/>
                  </a:moveTo>
                  <a:cubicBezTo>
                    <a:pt x="0" y="66167"/>
                    <a:pt x="66167" y="0"/>
                    <a:pt x="147701" y="0"/>
                  </a:cubicBezTo>
                  <a:lnTo>
                    <a:pt x="6973443" y="0"/>
                  </a:lnTo>
                  <a:cubicBezTo>
                    <a:pt x="7054977" y="0"/>
                    <a:pt x="7121144" y="66167"/>
                    <a:pt x="7121144" y="147701"/>
                  </a:cubicBezTo>
                  <a:lnTo>
                    <a:pt x="7121144" y="2474595"/>
                  </a:lnTo>
                  <a:cubicBezTo>
                    <a:pt x="7121144" y="2556129"/>
                    <a:pt x="7054977" y="2622296"/>
                    <a:pt x="6973443" y="2622296"/>
                  </a:cubicBezTo>
                  <a:lnTo>
                    <a:pt x="147701" y="2622296"/>
                  </a:lnTo>
                  <a:cubicBezTo>
                    <a:pt x="66167" y="2622296"/>
                    <a:pt x="0" y="2556129"/>
                    <a:pt x="0" y="2474595"/>
                  </a:cubicBezTo>
                  <a:close/>
                </a:path>
              </a:pathLst>
            </a:custGeom>
            <a:solidFill>
              <a:srgbClr val="FFFFFF"/>
            </a:solidFill>
            <a:ln w="19050" cap="sq">
              <a:solidFill>
                <a:srgbClr val="DCE4EC"/>
              </a:solidFill>
              <a:prstDash val="solid"/>
              <a:miter/>
            </a:ln>
          </p:spPr>
        </p:sp>
      </p:grpSp>
      <p:grpSp>
        <p:nvGrpSpPr>
          <p:cNvPr name="Group 15" id="15"/>
          <p:cNvGrpSpPr/>
          <p:nvPr/>
        </p:nvGrpSpPr>
        <p:grpSpPr>
          <a:xfrm rot="0">
            <a:off x="1124712" y="2770632"/>
            <a:ext cx="219456" cy="219456"/>
            <a:chOff x="0" y="0"/>
            <a:chExt cx="292608" cy="292608"/>
          </a:xfrm>
        </p:grpSpPr>
        <p:sp>
          <p:nvSpPr>
            <p:cNvPr name="Freeform 16" id="16"/>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ED232A"/>
            </a:solidFill>
          </p:spPr>
        </p:sp>
      </p:grpSp>
      <p:grpSp>
        <p:nvGrpSpPr>
          <p:cNvPr name="Group 17" id="17"/>
          <p:cNvGrpSpPr/>
          <p:nvPr/>
        </p:nvGrpSpPr>
        <p:grpSpPr>
          <a:xfrm rot="0">
            <a:off x="1481328" y="2633472"/>
            <a:ext cx="4457700" cy="438912"/>
            <a:chOff x="0" y="0"/>
            <a:chExt cx="5943600" cy="585216"/>
          </a:xfrm>
        </p:grpSpPr>
        <p:sp>
          <p:nvSpPr>
            <p:cNvPr name="Freeform 18" id="18"/>
            <p:cNvSpPr/>
            <p:nvPr/>
          </p:nvSpPr>
          <p:spPr>
            <a:xfrm flipH="false" flipV="false" rot="0">
              <a:off x="0" y="0"/>
              <a:ext cx="5943600" cy="585216"/>
            </a:xfrm>
            <a:custGeom>
              <a:avLst/>
              <a:gdLst/>
              <a:ahLst/>
              <a:cxnLst/>
              <a:rect r="r" b="b" t="t" l="l"/>
              <a:pathLst>
                <a:path h="585216" w="5943600">
                  <a:moveTo>
                    <a:pt x="0" y="0"/>
                  </a:moveTo>
                  <a:lnTo>
                    <a:pt x="5943600" y="0"/>
                  </a:lnTo>
                  <a:lnTo>
                    <a:pt x="5943600" y="585216"/>
                  </a:lnTo>
                  <a:lnTo>
                    <a:pt x="0" y="585216"/>
                  </a:lnTo>
                  <a:close/>
                </a:path>
              </a:pathLst>
            </a:custGeom>
            <a:blipFill>
              <a:blip r:embed="rId2">
                <a:alphaModFix amt="0"/>
              </a:blip>
              <a:stretch>
                <a:fillRect l="0" t="-147894" r="0" b="-147894"/>
              </a:stretch>
            </a:blipFill>
          </p:spPr>
        </p:sp>
        <p:sp>
          <p:nvSpPr>
            <p:cNvPr name="TextBox 19" id="19"/>
            <p:cNvSpPr txBox="true"/>
            <p:nvPr/>
          </p:nvSpPr>
          <p:spPr>
            <a:xfrm>
              <a:off x="0" y="-38100"/>
              <a:ext cx="5943600" cy="623316"/>
            </a:xfrm>
            <a:prstGeom prst="rect">
              <a:avLst/>
            </a:prstGeom>
          </p:spPr>
          <p:txBody>
            <a:bodyPr anchor="ctr" rtlCol="false" tIns="0" lIns="0" bIns="0" rIns="0"/>
            <a:lstStyle/>
            <a:p>
              <a:pPr algn="l">
                <a:lnSpc>
                  <a:spcPts val="2430"/>
                </a:lnSpc>
              </a:pPr>
              <a:r>
                <a:rPr lang="en-US" sz="2025" b="true">
                  <a:solidFill>
                    <a:srgbClr val="0A2540"/>
                  </a:solidFill>
                  <a:latin typeface="Calibri (MS) Bold"/>
                  <a:ea typeface="Calibri (MS) Bold"/>
                  <a:cs typeface="Calibri (MS) Bold"/>
                  <a:sym typeface="Calibri (MS) Bold"/>
                </a:rPr>
                <a:t>Reduced fraud losses</a:t>
              </a:r>
            </a:p>
          </p:txBody>
        </p:sp>
      </p:grpSp>
      <p:grpSp>
        <p:nvGrpSpPr>
          <p:cNvPr name="Group 20" id="20"/>
          <p:cNvGrpSpPr/>
          <p:nvPr/>
        </p:nvGrpSpPr>
        <p:grpSpPr>
          <a:xfrm rot="0">
            <a:off x="1124712" y="3182112"/>
            <a:ext cx="4732020" cy="987552"/>
            <a:chOff x="0" y="0"/>
            <a:chExt cx="6309360" cy="1316736"/>
          </a:xfrm>
        </p:grpSpPr>
        <p:sp>
          <p:nvSpPr>
            <p:cNvPr name="Freeform 21" id="21"/>
            <p:cNvSpPr/>
            <p:nvPr/>
          </p:nvSpPr>
          <p:spPr>
            <a:xfrm flipH="false" flipV="false" rot="0">
              <a:off x="0" y="0"/>
              <a:ext cx="6309360" cy="1316736"/>
            </a:xfrm>
            <a:custGeom>
              <a:avLst/>
              <a:gdLst/>
              <a:ahLst/>
              <a:cxnLst/>
              <a:rect r="r" b="b" t="t" l="l"/>
              <a:pathLst>
                <a:path h="1316736" w="6309360">
                  <a:moveTo>
                    <a:pt x="0" y="0"/>
                  </a:moveTo>
                  <a:lnTo>
                    <a:pt x="6309360" y="0"/>
                  </a:lnTo>
                  <a:lnTo>
                    <a:pt x="6309360" y="1316736"/>
                  </a:lnTo>
                  <a:lnTo>
                    <a:pt x="0" y="1316736"/>
                  </a:lnTo>
                  <a:close/>
                </a:path>
              </a:pathLst>
            </a:custGeom>
            <a:blipFill>
              <a:blip r:embed="rId2">
                <a:alphaModFix amt="0"/>
              </a:blip>
              <a:stretch>
                <a:fillRect l="0" t="-43365" r="0" b="-43365"/>
              </a:stretch>
            </a:blipFill>
          </p:spPr>
        </p:sp>
        <p:sp>
          <p:nvSpPr>
            <p:cNvPr name="TextBox 22" id="22"/>
            <p:cNvSpPr txBox="true"/>
            <p:nvPr/>
          </p:nvSpPr>
          <p:spPr>
            <a:xfrm>
              <a:off x="0" y="-57150"/>
              <a:ext cx="6309360" cy="1373886"/>
            </a:xfrm>
            <a:prstGeom prst="rect">
              <a:avLst/>
            </a:prstGeom>
          </p:spPr>
          <p:txBody>
            <a:bodyPr anchor="ctr" rtlCol="false" tIns="0" lIns="0" bIns="0" rIns="0"/>
            <a:lstStyle/>
            <a:p>
              <a:pPr algn="l">
                <a:lnSpc>
                  <a:spcPts val="2250"/>
                </a:lnSpc>
              </a:pPr>
              <a:r>
                <a:rPr lang="en-US" sz="1650">
                  <a:solidFill>
                    <a:srgbClr val="5A6B7C"/>
                  </a:solidFill>
                  <a:latin typeface="Calibri (MS)"/>
                  <a:ea typeface="Calibri (MS)"/>
                  <a:cs typeface="Calibri (MS)"/>
                  <a:sym typeface="Calibri (MS)"/>
                </a:rPr>
                <a:t>Fewer completed fraudulent transactions means lower write-offs and lower customer compensation.</a:t>
              </a:r>
            </a:p>
          </p:txBody>
        </p:sp>
      </p:grpSp>
      <p:grpSp>
        <p:nvGrpSpPr>
          <p:cNvPr name="Group 23" id="23"/>
          <p:cNvGrpSpPr/>
          <p:nvPr/>
        </p:nvGrpSpPr>
        <p:grpSpPr>
          <a:xfrm rot="0">
            <a:off x="6464427" y="2349627"/>
            <a:ext cx="5340858" cy="1966722"/>
            <a:chOff x="0" y="0"/>
            <a:chExt cx="7121144" cy="2622296"/>
          </a:xfrm>
        </p:grpSpPr>
        <p:sp>
          <p:nvSpPr>
            <p:cNvPr name="Freeform 24" id="24"/>
            <p:cNvSpPr/>
            <p:nvPr/>
          </p:nvSpPr>
          <p:spPr>
            <a:xfrm flipH="false" flipV="false" rot="0">
              <a:off x="0" y="0"/>
              <a:ext cx="7121144" cy="2622296"/>
            </a:xfrm>
            <a:custGeom>
              <a:avLst/>
              <a:gdLst/>
              <a:ahLst/>
              <a:cxnLst/>
              <a:rect r="r" b="b" t="t" l="l"/>
              <a:pathLst>
                <a:path h="2622296" w="7121144">
                  <a:moveTo>
                    <a:pt x="0" y="147701"/>
                  </a:moveTo>
                  <a:cubicBezTo>
                    <a:pt x="0" y="66167"/>
                    <a:pt x="66167" y="0"/>
                    <a:pt x="147701" y="0"/>
                  </a:cubicBezTo>
                  <a:lnTo>
                    <a:pt x="6973443" y="0"/>
                  </a:lnTo>
                  <a:cubicBezTo>
                    <a:pt x="7054977" y="0"/>
                    <a:pt x="7121144" y="66167"/>
                    <a:pt x="7121144" y="147701"/>
                  </a:cubicBezTo>
                  <a:lnTo>
                    <a:pt x="7121144" y="2474595"/>
                  </a:lnTo>
                  <a:cubicBezTo>
                    <a:pt x="7121144" y="2556129"/>
                    <a:pt x="7054977" y="2622296"/>
                    <a:pt x="6973443" y="2622296"/>
                  </a:cubicBezTo>
                  <a:lnTo>
                    <a:pt x="147701" y="2622296"/>
                  </a:lnTo>
                  <a:cubicBezTo>
                    <a:pt x="66167" y="2622296"/>
                    <a:pt x="0" y="2556129"/>
                    <a:pt x="0" y="2474595"/>
                  </a:cubicBezTo>
                  <a:close/>
                </a:path>
              </a:pathLst>
            </a:custGeom>
            <a:solidFill>
              <a:srgbClr val="FFFFFF"/>
            </a:solidFill>
            <a:ln w="19050" cap="sq">
              <a:solidFill>
                <a:srgbClr val="DCE4EC"/>
              </a:solidFill>
              <a:prstDash val="solid"/>
              <a:miter/>
            </a:ln>
          </p:spPr>
        </p:sp>
      </p:grpSp>
      <p:grpSp>
        <p:nvGrpSpPr>
          <p:cNvPr name="Group 25" id="25"/>
          <p:cNvGrpSpPr/>
          <p:nvPr/>
        </p:nvGrpSpPr>
        <p:grpSpPr>
          <a:xfrm rot="0">
            <a:off x="6775704" y="2770632"/>
            <a:ext cx="219456" cy="219456"/>
            <a:chOff x="0" y="0"/>
            <a:chExt cx="292608" cy="292608"/>
          </a:xfrm>
        </p:grpSpPr>
        <p:sp>
          <p:nvSpPr>
            <p:cNvPr name="Freeform 26" id="26"/>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ED232A"/>
            </a:solidFill>
          </p:spPr>
        </p:sp>
      </p:grpSp>
      <p:grpSp>
        <p:nvGrpSpPr>
          <p:cNvPr name="Group 27" id="27"/>
          <p:cNvGrpSpPr/>
          <p:nvPr/>
        </p:nvGrpSpPr>
        <p:grpSpPr>
          <a:xfrm rot="0">
            <a:off x="7132320" y="2633472"/>
            <a:ext cx="4457700" cy="438912"/>
            <a:chOff x="0" y="0"/>
            <a:chExt cx="5943600" cy="585216"/>
          </a:xfrm>
        </p:grpSpPr>
        <p:sp>
          <p:nvSpPr>
            <p:cNvPr name="Freeform 28" id="28"/>
            <p:cNvSpPr/>
            <p:nvPr/>
          </p:nvSpPr>
          <p:spPr>
            <a:xfrm flipH="false" flipV="false" rot="0">
              <a:off x="0" y="0"/>
              <a:ext cx="5943600" cy="585216"/>
            </a:xfrm>
            <a:custGeom>
              <a:avLst/>
              <a:gdLst/>
              <a:ahLst/>
              <a:cxnLst/>
              <a:rect r="r" b="b" t="t" l="l"/>
              <a:pathLst>
                <a:path h="585216" w="5943600">
                  <a:moveTo>
                    <a:pt x="0" y="0"/>
                  </a:moveTo>
                  <a:lnTo>
                    <a:pt x="5943600" y="0"/>
                  </a:lnTo>
                  <a:lnTo>
                    <a:pt x="5943600" y="585216"/>
                  </a:lnTo>
                  <a:lnTo>
                    <a:pt x="0" y="585216"/>
                  </a:lnTo>
                  <a:close/>
                </a:path>
              </a:pathLst>
            </a:custGeom>
            <a:blipFill>
              <a:blip r:embed="rId2">
                <a:alphaModFix amt="0"/>
              </a:blip>
              <a:stretch>
                <a:fillRect l="0" t="-147894" r="0" b="-147894"/>
              </a:stretch>
            </a:blipFill>
          </p:spPr>
        </p:sp>
        <p:sp>
          <p:nvSpPr>
            <p:cNvPr name="TextBox 29" id="29"/>
            <p:cNvSpPr txBox="true"/>
            <p:nvPr/>
          </p:nvSpPr>
          <p:spPr>
            <a:xfrm>
              <a:off x="0" y="-38100"/>
              <a:ext cx="5943600" cy="623316"/>
            </a:xfrm>
            <a:prstGeom prst="rect">
              <a:avLst/>
            </a:prstGeom>
          </p:spPr>
          <p:txBody>
            <a:bodyPr anchor="ctr" rtlCol="false" tIns="0" lIns="0" bIns="0" rIns="0"/>
            <a:lstStyle/>
            <a:p>
              <a:pPr algn="l">
                <a:lnSpc>
                  <a:spcPts val="2430"/>
                </a:lnSpc>
              </a:pPr>
              <a:r>
                <a:rPr lang="en-US" sz="2025" b="true">
                  <a:solidFill>
                    <a:srgbClr val="0A2540"/>
                  </a:solidFill>
                  <a:latin typeface="Calibri (MS) Bold"/>
                  <a:ea typeface="Calibri (MS) Bold"/>
                  <a:cs typeface="Calibri (MS) Bold"/>
                  <a:sym typeface="Calibri (MS) Bold"/>
                </a:rPr>
                <a:t>Fewer false declines</a:t>
              </a:r>
            </a:p>
          </p:txBody>
        </p:sp>
      </p:grpSp>
      <p:grpSp>
        <p:nvGrpSpPr>
          <p:cNvPr name="Group 30" id="30"/>
          <p:cNvGrpSpPr/>
          <p:nvPr/>
        </p:nvGrpSpPr>
        <p:grpSpPr>
          <a:xfrm rot="0">
            <a:off x="6775704" y="3182112"/>
            <a:ext cx="4732020" cy="987552"/>
            <a:chOff x="0" y="0"/>
            <a:chExt cx="6309360" cy="1316736"/>
          </a:xfrm>
        </p:grpSpPr>
        <p:sp>
          <p:nvSpPr>
            <p:cNvPr name="Freeform 31" id="31"/>
            <p:cNvSpPr/>
            <p:nvPr/>
          </p:nvSpPr>
          <p:spPr>
            <a:xfrm flipH="false" flipV="false" rot="0">
              <a:off x="0" y="0"/>
              <a:ext cx="6309360" cy="1316736"/>
            </a:xfrm>
            <a:custGeom>
              <a:avLst/>
              <a:gdLst/>
              <a:ahLst/>
              <a:cxnLst/>
              <a:rect r="r" b="b" t="t" l="l"/>
              <a:pathLst>
                <a:path h="1316736" w="6309360">
                  <a:moveTo>
                    <a:pt x="0" y="0"/>
                  </a:moveTo>
                  <a:lnTo>
                    <a:pt x="6309360" y="0"/>
                  </a:lnTo>
                  <a:lnTo>
                    <a:pt x="6309360" y="1316736"/>
                  </a:lnTo>
                  <a:lnTo>
                    <a:pt x="0" y="1316736"/>
                  </a:lnTo>
                  <a:close/>
                </a:path>
              </a:pathLst>
            </a:custGeom>
            <a:blipFill>
              <a:blip r:embed="rId2">
                <a:alphaModFix amt="0"/>
              </a:blip>
              <a:stretch>
                <a:fillRect l="0" t="-43365" r="0" b="-43365"/>
              </a:stretch>
            </a:blipFill>
          </p:spPr>
        </p:sp>
        <p:sp>
          <p:nvSpPr>
            <p:cNvPr name="TextBox 32" id="32"/>
            <p:cNvSpPr txBox="true"/>
            <p:nvPr/>
          </p:nvSpPr>
          <p:spPr>
            <a:xfrm>
              <a:off x="0" y="-57150"/>
              <a:ext cx="6309360" cy="1373886"/>
            </a:xfrm>
            <a:prstGeom prst="rect">
              <a:avLst/>
            </a:prstGeom>
          </p:spPr>
          <p:txBody>
            <a:bodyPr anchor="ctr" rtlCol="false" tIns="0" lIns="0" bIns="0" rIns="0"/>
            <a:lstStyle/>
            <a:p>
              <a:pPr algn="l">
                <a:lnSpc>
                  <a:spcPts val="2250"/>
                </a:lnSpc>
              </a:pPr>
              <a:r>
                <a:rPr lang="en-US" sz="1650">
                  <a:solidFill>
                    <a:srgbClr val="5A6B7C"/>
                  </a:solidFill>
                  <a:latin typeface="Calibri (MS)"/>
                  <a:ea typeface="Calibri (MS)"/>
                  <a:cs typeface="Calibri (MS)"/>
                  <a:sym typeface="Calibri (MS)"/>
                </a:rPr>
                <a:t>Behaviour-aware scoring lets genuine payments through instead of blocking them on rigid rules.</a:t>
              </a:r>
            </a:p>
          </p:txBody>
        </p:sp>
      </p:grpSp>
      <p:grpSp>
        <p:nvGrpSpPr>
          <p:cNvPr name="Group 33" id="33"/>
          <p:cNvGrpSpPr/>
          <p:nvPr/>
        </p:nvGrpSpPr>
        <p:grpSpPr>
          <a:xfrm rot="0">
            <a:off x="12115419" y="2349627"/>
            <a:ext cx="5340858" cy="1966722"/>
            <a:chOff x="0" y="0"/>
            <a:chExt cx="7121144" cy="2622296"/>
          </a:xfrm>
        </p:grpSpPr>
        <p:sp>
          <p:nvSpPr>
            <p:cNvPr name="Freeform 34" id="34"/>
            <p:cNvSpPr/>
            <p:nvPr/>
          </p:nvSpPr>
          <p:spPr>
            <a:xfrm flipH="false" flipV="false" rot="0">
              <a:off x="0" y="0"/>
              <a:ext cx="7121144" cy="2622296"/>
            </a:xfrm>
            <a:custGeom>
              <a:avLst/>
              <a:gdLst/>
              <a:ahLst/>
              <a:cxnLst/>
              <a:rect r="r" b="b" t="t" l="l"/>
              <a:pathLst>
                <a:path h="2622296" w="7121144">
                  <a:moveTo>
                    <a:pt x="0" y="147701"/>
                  </a:moveTo>
                  <a:cubicBezTo>
                    <a:pt x="0" y="66167"/>
                    <a:pt x="66167" y="0"/>
                    <a:pt x="147701" y="0"/>
                  </a:cubicBezTo>
                  <a:lnTo>
                    <a:pt x="6973443" y="0"/>
                  </a:lnTo>
                  <a:cubicBezTo>
                    <a:pt x="7054977" y="0"/>
                    <a:pt x="7121144" y="66167"/>
                    <a:pt x="7121144" y="147701"/>
                  </a:cubicBezTo>
                  <a:lnTo>
                    <a:pt x="7121144" y="2474595"/>
                  </a:lnTo>
                  <a:cubicBezTo>
                    <a:pt x="7121144" y="2556129"/>
                    <a:pt x="7054977" y="2622296"/>
                    <a:pt x="6973443" y="2622296"/>
                  </a:cubicBezTo>
                  <a:lnTo>
                    <a:pt x="147701" y="2622296"/>
                  </a:lnTo>
                  <a:cubicBezTo>
                    <a:pt x="66167" y="2622296"/>
                    <a:pt x="0" y="2556129"/>
                    <a:pt x="0" y="2474595"/>
                  </a:cubicBezTo>
                  <a:close/>
                </a:path>
              </a:pathLst>
            </a:custGeom>
            <a:solidFill>
              <a:srgbClr val="FFFFFF"/>
            </a:solidFill>
            <a:ln w="19050" cap="sq">
              <a:solidFill>
                <a:srgbClr val="DCE4EC"/>
              </a:solidFill>
              <a:prstDash val="solid"/>
              <a:miter/>
            </a:ln>
          </p:spPr>
        </p:sp>
      </p:grpSp>
      <p:grpSp>
        <p:nvGrpSpPr>
          <p:cNvPr name="Group 35" id="35"/>
          <p:cNvGrpSpPr/>
          <p:nvPr/>
        </p:nvGrpSpPr>
        <p:grpSpPr>
          <a:xfrm rot="0">
            <a:off x="12426696" y="2770632"/>
            <a:ext cx="219456" cy="219456"/>
            <a:chOff x="0" y="0"/>
            <a:chExt cx="292608" cy="292608"/>
          </a:xfrm>
        </p:grpSpPr>
        <p:sp>
          <p:nvSpPr>
            <p:cNvPr name="Freeform 36" id="36"/>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ED232A"/>
            </a:solidFill>
          </p:spPr>
        </p:sp>
      </p:grpSp>
      <p:grpSp>
        <p:nvGrpSpPr>
          <p:cNvPr name="Group 37" id="37"/>
          <p:cNvGrpSpPr/>
          <p:nvPr/>
        </p:nvGrpSpPr>
        <p:grpSpPr>
          <a:xfrm rot="0">
            <a:off x="12783312" y="2633472"/>
            <a:ext cx="4457700" cy="438912"/>
            <a:chOff x="0" y="0"/>
            <a:chExt cx="5943600" cy="585216"/>
          </a:xfrm>
        </p:grpSpPr>
        <p:sp>
          <p:nvSpPr>
            <p:cNvPr name="Freeform 38" id="38"/>
            <p:cNvSpPr/>
            <p:nvPr/>
          </p:nvSpPr>
          <p:spPr>
            <a:xfrm flipH="false" flipV="false" rot="0">
              <a:off x="0" y="0"/>
              <a:ext cx="5943600" cy="585216"/>
            </a:xfrm>
            <a:custGeom>
              <a:avLst/>
              <a:gdLst/>
              <a:ahLst/>
              <a:cxnLst/>
              <a:rect r="r" b="b" t="t" l="l"/>
              <a:pathLst>
                <a:path h="585216" w="5943600">
                  <a:moveTo>
                    <a:pt x="0" y="0"/>
                  </a:moveTo>
                  <a:lnTo>
                    <a:pt x="5943600" y="0"/>
                  </a:lnTo>
                  <a:lnTo>
                    <a:pt x="5943600" y="585216"/>
                  </a:lnTo>
                  <a:lnTo>
                    <a:pt x="0" y="585216"/>
                  </a:lnTo>
                  <a:close/>
                </a:path>
              </a:pathLst>
            </a:custGeom>
            <a:blipFill>
              <a:blip r:embed="rId2">
                <a:alphaModFix amt="0"/>
              </a:blip>
              <a:stretch>
                <a:fillRect l="0" t="-147894" r="0" b="-147894"/>
              </a:stretch>
            </a:blipFill>
          </p:spPr>
        </p:sp>
        <p:sp>
          <p:nvSpPr>
            <p:cNvPr name="TextBox 39" id="39"/>
            <p:cNvSpPr txBox="true"/>
            <p:nvPr/>
          </p:nvSpPr>
          <p:spPr>
            <a:xfrm>
              <a:off x="0" y="-38100"/>
              <a:ext cx="5943600" cy="623316"/>
            </a:xfrm>
            <a:prstGeom prst="rect">
              <a:avLst/>
            </a:prstGeom>
          </p:spPr>
          <p:txBody>
            <a:bodyPr anchor="ctr" rtlCol="false" tIns="0" lIns="0" bIns="0" rIns="0"/>
            <a:lstStyle/>
            <a:p>
              <a:pPr algn="l">
                <a:lnSpc>
                  <a:spcPts val="2430"/>
                </a:lnSpc>
              </a:pPr>
              <a:r>
                <a:rPr lang="en-US" sz="2025" b="true">
                  <a:solidFill>
                    <a:srgbClr val="0A2540"/>
                  </a:solidFill>
                  <a:latin typeface="Calibri (MS) Bold"/>
                  <a:ea typeface="Calibri (MS) Bold"/>
                  <a:cs typeface="Calibri (MS) Bold"/>
                  <a:sym typeface="Calibri (MS) Bold"/>
                </a:rPr>
                <a:t>Lower operating cost</a:t>
              </a:r>
            </a:p>
          </p:txBody>
        </p:sp>
      </p:grpSp>
      <p:grpSp>
        <p:nvGrpSpPr>
          <p:cNvPr name="Group 40" id="40"/>
          <p:cNvGrpSpPr/>
          <p:nvPr/>
        </p:nvGrpSpPr>
        <p:grpSpPr>
          <a:xfrm rot="0">
            <a:off x="12426696" y="3182112"/>
            <a:ext cx="4732020" cy="987552"/>
            <a:chOff x="0" y="0"/>
            <a:chExt cx="6309360" cy="1316736"/>
          </a:xfrm>
        </p:grpSpPr>
        <p:sp>
          <p:nvSpPr>
            <p:cNvPr name="Freeform 41" id="41"/>
            <p:cNvSpPr/>
            <p:nvPr/>
          </p:nvSpPr>
          <p:spPr>
            <a:xfrm flipH="false" flipV="false" rot="0">
              <a:off x="0" y="0"/>
              <a:ext cx="6309360" cy="1316736"/>
            </a:xfrm>
            <a:custGeom>
              <a:avLst/>
              <a:gdLst/>
              <a:ahLst/>
              <a:cxnLst/>
              <a:rect r="r" b="b" t="t" l="l"/>
              <a:pathLst>
                <a:path h="1316736" w="6309360">
                  <a:moveTo>
                    <a:pt x="0" y="0"/>
                  </a:moveTo>
                  <a:lnTo>
                    <a:pt x="6309360" y="0"/>
                  </a:lnTo>
                  <a:lnTo>
                    <a:pt x="6309360" y="1316736"/>
                  </a:lnTo>
                  <a:lnTo>
                    <a:pt x="0" y="1316736"/>
                  </a:lnTo>
                  <a:close/>
                </a:path>
              </a:pathLst>
            </a:custGeom>
            <a:blipFill>
              <a:blip r:embed="rId2">
                <a:alphaModFix amt="0"/>
              </a:blip>
              <a:stretch>
                <a:fillRect l="0" t="-43365" r="0" b="-43365"/>
              </a:stretch>
            </a:blipFill>
          </p:spPr>
        </p:sp>
        <p:sp>
          <p:nvSpPr>
            <p:cNvPr name="TextBox 42" id="42"/>
            <p:cNvSpPr txBox="true"/>
            <p:nvPr/>
          </p:nvSpPr>
          <p:spPr>
            <a:xfrm>
              <a:off x="0" y="-57150"/>
              <a:ext cx="6309360" cy="1373886"/>
            </a:xfrm>
            <a:prstGeom prst="rect">
              <a:avLst/>
            </a:prstGeom>
          </p:spPr>
          <p:txBody>
            <a:bodyPr anchor="ctr" rtlCol="false" tIns="0" lIns="0" bIns="0" rIns="0"/>
            <a:lstStyle/>
            <a:p>
              <a:pPr algn="l">
                <a:lnSpc>
                  <a:spcPts val="2250"/>
                </a:lnSpc>
              </a:pPr>
              <a:r>
                <a:rPr lang="en-US" sz="1650">
                  <a:solidFill>
                    <a:srgbClr val="5A6B7C"/>
                  </a:solidFill>
                  <a:latin typeface="Calibri (MS)"/>
                  <a:ea typeface="Calibri (MS)"/>
                  <a:cs typeface="Calibri (MS)"/>
                  <a:sym typeface="Calibri (MS)"/>
                </a:rPr>
                <a:t>Investigators stop triaging noise; alert volumes fall and each analyst handles higher-value work.</a:t>
              </a:r>
            </a:p>
          </p:txBody>
        </p:sp>
      </p:grpSp>
      <p:grpSp>
        <p:nvGrpSpPr>
          <p:cNvPr name="Group 43" id="43"/>
          <p:cNvGrpSpPr/>
          <p:nvPr/>
        </p:nvGrpSpPr>
        <p:grpSpPr>
          <a:xfrm rot="0">
            <a:off x="813435" y="4653915"/>
            <a:ext cx="5340858" cy="1966722"/>
            <a:chOff x="0" y="0"/>
            <a:chExt cx="7121144" cy="2622296"/>
          </a:xfrm>
        </p:grpSpPr>
        <p:sp>
          <p:nvSpPr>
            <p:cNvPr name="Freeform 44" id="44"/>
            <p:cNvSpPr/>
            <p:nvPr/>
          </p:nvSpPr>
          <p:spPr>
            <a:xfrm flipH="false" flipV="false" rot="0">
              <a:off x="0" y="0"/>
              <a:ext cx="7121144" cy="2622296"/>
            </a:xfrm>
            <a:custGeom>
              <a:avLst/>
              <a:gdLst/>
              <a:ahLst/>
              <a:cxnLst/>
              <a:rect r="r" b="b" t="t" l="l"/>
              <a:pathLst>
                <a:path h="2622296" w="7121144">
                  <a:moveTo>
                    <a:pt x="0" y="147701"/>
                  </a:moveTo>
                  <a:cubicBezTo>
                    <a:pt x="0" y="66167"/>
                    <a:pt x="66167" y="0"/>
                    <a:pt x="147701" y="0"/>
                  </a:cubicBezTo>
                  <a:lnTo>
                    <a:pt x="6973443" y="0"/>
                  </a:lnTo>
                  <a:cubicBezTo>
                    <a:pt x="7054977" y="0"/>
                    <a:pt x="7121144" y="66167"/>
                    <a:pt x="7121144" y="147701"/>
                  </a:cubicBezTo>
                  <a:lnTo>
                    <a:pt x="7121144" y="2474595"/>
                  </a:lnTo>
                  <a:cubicBezTo>
                    <a:pt x="7121144" y="2556129"/>
                    <a:pt x="7054977" y="2622296"/>
                    <a:pt x="6973443" y="2622296"/>
                  </a:cubicBezTo>
                  <a:lnTo>
                    <a:pt x="147701" y="2622296"/>
                  </a:lnTo>
                  <a:cubicBezTo>
                    <a:pt x="66167" y="2622296"/>
                    <a:pt x="0" y="2556129"/>
                    <a:pt x="0" y="2474595"/>
                  </a:cubicBezTo>
                  <a:close/>
                </a:path>
              </a:pathLst>
            </a:custGeom>
            <a:solidFill>
              <a:srgbClr val="FFFFFF"/>
            </a:solidFill>
            <a:ln w="19050" cap="sq">
              <a:solidFill>
                <a:srgbClr val="DCE4EC"/>
              </a:solidFill>
              <a:prstDash val="solid"/>
              <a:miter/>
            </a:ln>
          </p:spPr>
        </p:sp>
      </p:grpSp>
      <p:grpSp>
        <p:nvGrpSpPr>
          <p:cNvPr name="Group 45" id="45"/>
          <p:cNvGrpSpPr/>
          <p:nvPr/>
        </p:nvGrpSpPr>
        <p:grpSpPr>
          <a:xfrm rot="0">
            <a:off x="1124712" y="5074920"/>
            <a:ext cx="219456" cy="219456"/>
            <a:chOff x="0" y="0"/>
            <a:chExt cx="292608" cy="292608"/>
          </a:xfrm>
        </p:grpSpPr>
        <p:sp>
          <p:nvSpPr>
            <p:cNvPr name="Freeform 46" id="46"/>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ED232A"/>
            </a:solidFill>
          </p:spPr>
        </p:sp>
      </p:grpSp>
      <p:grpSp>
        <p:nvGrpSpPr>
          <p:cNvPr name="Group 47" id="47"/>
          <p:cNvGrpSpPr/>
          <p:nvPr/>
        </p:nvGrpSpPr>
        <p:grpSpPr>
          <a:xfrm rot="0">
            <a:off x="1481328" y="4937760"/>
            <a:ext cx="4457700" cy="438912"/>
            <a:chOff x="0" y="0"/>
            <a:chExt cx="5943600" cy="585216"/>
          </a:xfrm>
        </p:grpSpPr>
        <p:sp>
          <p:nvSpPr>
            <p:cNvPr name="Freeform 48" id="48"/>
            <p:cNvSpPr/>
            <p:nvPr/>
          </p:nvSpPr>
          <p:spPr>
            <a:xfrm flipH="false" flipV="false" rot="0">
              <a:off x="0" y="0"/>
              <a:ext cx="5943600" cy="585216"/>
            </a:xfrm>
            <a:custGeom>
              <a:avLst/>
              <a:gdLst/>
              <a:ahLst/>
              <a:cxnLst/>
              <a:rect r="r" b="b" t="t" l="l"/>
              <a:pathLst>
                <a:path h="585216" w="5943600">
                  <a:moveTo>
                    <a:pt x="0" y="0"/>
                  </a:moveTo>
                  <a:lnTo>
                    <a:pt x="5943600" y="0"/>
                  </a:lnTo>
                  <a:lnTo>
                    <a:pt x="5943600" y="585216"/>
                  </a:lnTo>
                  <a:lnTo>
                    <a:pt x="0" y="585216"/>
                  </a:lnTo>
                  <a:close/>
                </a:path>
              </a:pathLst>
            </a:custGeom>
            <a:blipFill>
              <a:blip r:embed="rId2">
                <a:alphaModFix amt="0"/>
              </a:blip>
              <a:stretch>
                <a:fillRect l="0" t="-147894" r="0" b="-147894"/>
              </a:stretch>
            </a:blipFill>
          </p:spPr>
        </p:sp>
        <p:sp>
          <p:nvSpPr>
            <p:cNvPr name="TextBox 49" id="49"/>
            <p:cNvSpPr txBox="true"/>
            <p:nvPr/>
          </p:nvSpPr>
          <p:spPr>
            <a:xfrm>
              <a:off x="0" y="-38100"/>
              <a:ext cx="5943600" cy="623316"/>
            </a:xfrm>
            <a:prstGeom prst="rect">
              <a:avLst/>
            </a:prstGeom>
          </p:spPr>
          <p:txBody>
            <a:bodyPr anchor="ctr" rtlCol="false" tIns="0" lIns="0" bIns="0" rIns="0"/>
            <a:lstStyle/>
            <a:p>
              <a:pPr algn="l">
                <a:lnSpc>
                  <a:spcPts val="2430"/>
                </a:lnSpc>
              </a:pPr>
              <a:r>
                <a:rPr lang="en-US" sz="2025" b="true">
                  <a:solidFill>
                    <a:srgbClr val="0A2540"/>
                  </a:solidFill>
                  <a:latin typeface="Calibri (MS) Bold"/>
                  <a:ea typeface="Calibri (MS) Bold"/>
                  <a:cs typeface="Calibri (MS) Bold"/>
                  <a:sym typeface="Calibri (MS) Bold"/>
                </a:rPr>
                <a:t>Faster detection</a:t>
              </a:r>
            </a:p>
          </p:txBody>
        </p:sp>
      </p:grpSp>
      <p:grpSp>
        <p:nvGrpSpPr>
          <p:cNvPr name="Group 50" id="50"/>
          <p:cNvGrpSpPr/>
          <p:nvPr/>
        </p:nvGrpSpPr>
        <p:grpSpPr>
          <a:xfrm rot="0">
            <a:off x="1124712" y="5486400"/>
            <a:ext cx="4732020" cy="987552"/>
            <a:chOff x="0" y="0"/>
            <a:chExt cx="6309360" cy="1316736"/>
          </a:xfrm>
        </p:grpSpPr>
        <p:sp>
          <p:nvSpPr>
            <p:cNvPr name="Freeform 51" id="51"/>
            <p:cNvSpPr/>
            <p:nvPr/>
          </p:nvSpPr>
          <p:spPr>
            <a:xfrm flipH="false" flipV="false" rot="0">
              <a:off x="0" y="0"/>
              <a:ext cx="6309360" cy="1316736"/>
            </a:xfrm>
            <a:custGeom>
              <a:avLst/>
              <a:gdLst/>
              <a:ahLst/>
              <a:cxnLst/>
              <a:rect r="r" b="b" t="t" l="l"/>
              <a:pathLst>
                <a:path h="1316736" w="6309360">
                  <a:moveTo>
                    <a:pt x="0" y="0"/>
                  </a:moveTo>
                  <a:lnTo>
                    <a:pt x="6309360" y="0"/>
                  </a:lnTo>
                  <a:lnTo>
                    <a:pt x="6309360" y="1316736"/>
                  </a:lnTo>
                  <a:lnTo>
                    <a:pt x="0" y="1316736"/>
                  </a:lnTo>
                  <a:close/>
                </a:path>
              </a:pathLst>
            </a:custGeom>
            <a:blipFill>
              <a:blip r:embed="rId2">
                <a:alphaModFix amt="0"/>
              </a:blip>
              <a:stretch>
                <a:fillRect l="0" t="-43365" r="0" b="-43365"/>
              </a:stretch>
            </a:blipFill>
          </p:spPr>
        </p:sp>
        <p:sp>
          <p:nvSpPr>
            <p:cNvPr name="TextBox 52" id="52"/>
            <p:cNvSpPr txBox="true"/>
            <p:nvPr/>
          </p:nvSpPr>
          <p:spPr>
            <a:xfrm>
              <a:off x="0" y="-57150"/>
              <a:ext cx="6309360" cy="1373886"/>
            </a:xfrm>
            <a:prstGeom prst="rect">
              <a:avLst/>
            </a:prstGeom>
          </p:spPr>
          <p:txBody>
            <a:bodyPr anchor="ctr" rtlCol="false" tIns="0" lIns="0" bIns="0" rIns="0"/>
            <a:lstStyle/>
            <a:p>
              <a:pPr algn="l">
                <a:lnSpc>
                  <a:spcPts val="2250"/>
                </a:lnSpc>
              </a:pPr>
              <a:r>
                <a:rPr lang="en-US" sz="1650">
                  <a:solidFill>
                    <a:srgbClr val="5A6B7C"/>
                  </a:solidFill>
                  <a:latin typeface="Calibri (MS)"/>
                  <a:ea typeface="Calibri (MS)"/>
                  <a:cs typeface="Calibri (MS)"/>
                  <a:sym typeface="Calibri (MS)"/>
                </a:rPr>
                <a:t>Scoring happens before authorisation, closing the lag between fraud occurring and being caught.</a:t>
              </a:r>
            </a:p>
          </p:txBody>
        </p:sp>
      </p:grpSp>
      <p:grpSp>
        <p:nvGrpSpPr>
          <p:cNvPr name="Group 53" id="53"/>
          <p:cNvGrpSpPr/>
          <p:nvPr/>
        </p:nvGrpSpPr>
        <p:grpSpPr>
          <a:xfrm rot="0">
            <a:off x="6464427" y="4653915"/>
            <a:ext cx="5340858" cy="1966722"/>
            <a:chOff x="0" y="0"/>
            <a:chExt cx="7121144" cy="2622296"/>
          </a:xfrm>
        </p:grpSpPr>
        <p:sp>
          <p:nvSpPr>
            <p:cNvPr name="Freeform 54" id="54"/>
            <p:cNvSpPr/>
            <p:nvPr/>
          </p:nvSpPr>
          <p:spPr>
            <a:xfrm flipH="false" flipV="false" rot="0">
              <a:off x="0" y="0"/>
              <a:ext cx="7121144" cy="2622296"/>
            </a:xfrm>
            <a:custGeom>
              <a:avLst/>
              <a:gdLst/>
              <a:ahLst/>
              <a:cxnLst/>
              <a:rect r="r" b="b" t="t" l="l"/>
              <a:pathLst>
                <a:path h="2622296" w="7121144">
                  <a:moveTo>
                    <a:pt x="0" y="147701"/>
                  </a:moveTo>
                  <a:cubicBezTo>
                    <a:pt x="0" y="66167"/>
                    <a:pt x="66167" y="0"/>
                    <a:pt x="147701" y="0"/>
                  </a:cubicBezTo>
                  <a:lnTo>
                    <a:pt x="6973443" y="0"/>
                  </a:lnTo>
                  <a:cubicBezTo>
                    <a:pt x="7054977" y="0"/>
                    <a:pt x="7121144" y="66167"/>
                    <a:pt x="7121144" y="147701"/>
                  </a:cubicBezTo>
                  <a:lnTo>
                    <a:pt x="7121144" y="2474595"/>
                  </a:lnTo>
                  <a:cubicBezTo>
                    <a:pt x="7121144" y="2556129"/>
                    <a:pt x="7054977" y="2622296"/>
                    <a:pt x="6973443" y="2622296"/>
                  </a:cubicBezTo>
                  <a:lnTo>
                    <a:pt x="147701" y="2622296"/>
                  </a:lnTo>
                  <a:cubicBezTo>
                    <a:pt x="66167" y="2622296"/>
                    <a:pt x="0" y="2556129"/>
                    <a:pt x="0" y="2474595"/>
                  </a:cubicBezTo>
                  <a:close/>
                </a:path>
              </a:pathLst>
            </a:custGeom>
            <a:solidFill>
              <a:srgbClr val="FFFFFF"/>
            </a:solidFill>
            <a:ln w="19050" cap="sq">
              <a:solidFill>
                <a:srgbClr val="DCE4EC"/>
              </a:solidFill>
              <a:prstDash val="solid"/>
              <a:miter/>
            </a:ln>
          </p:spPr>
        </p:sp>
      </p:grpSp>
      <p:grpSp>
        <p:nvGrpSpPr>
          <p:cNvPr name="Group 55" id="55"/>
          <p:cNvGrpSpPr/>
          <p:nvPr/>
        </p:nvGrpSpPr>
        <p:grpSpPr>
          <a:xfrm rot="0">
            <a:off x="6775704" y="5074920"/>
            <a:ext cx="219456" cy="219456"/>
            <a:chOff x="0" y="0"/>
            <a:chExt cx="292608" cy="292608"/>
          </a:xfrm>
        </p:grpSpPr>
        <p:sp>
          <p:nvSpPr>
            <p:cNvPr name="Freeform 56" id="56"/>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ED232A"/>
            </a:solidFill>
          </p:spPr>
        </p:sp>
      </p:grpSp>
      <p:grpSp>
        <p:nvGrpSpPr>
          <p:cNvPr name="Group 57" id="57"/>
          <p:cNvGrpSpPr/>
          <p:nvPr/>
        </p:nvGrpSpPr>
        <p:grpSpPr>
          <a:xfrm rot="0">
            <a:off x="7132320" y="4937760"/>
            <a:ext cx="4457700" cy="438912"/>
            <a:chOff x="0" y="0"/>
            <a:chExt cx="5943600" cy="585216"/>
          </a:xfrm>
        </p:grpSpPr>
        <p:sp>
          <p:nvSpPr>
            <p:cNvPr name="Freeform 58" id="58"/>
            <p:cNvSpPr/>
            <p:nvPr/>
          </p:nvSpPr>
          <p:spPr>
            <a:xfrm flipH="false" flipV="false" rot="0">
              <a:off x="0" y="0"/>
              <a:ext cx="5943600" cy="585216"/>
            </a:xfrm>
            <a:custGeom>
              <a:avLst/>
              <a:gdLst/>
              <a:ahLst/>
              <a:cxnLst/>
              <a:rect r="r" b="b" t="t" l="l"/>
              <a:pathLst>
                <a:path h="585216" w="5943600">
                  <a:moveTo>
                    <a:pt x="0" y="0"/>
                  </a:moveTo>
                  <a:lnTo>
                    <a:pt x="5943600" y="0"/>
                  </a:lnTo>
                  <a:lnTo>
                    <a:pt x="5943600" y="585216"/>
                  </a:lnTo>
                  <a:lnTo>
                    <a:pt x="0" y="585216"/>
                  </a:lnTo>
                  <a:close/>
                </a:path>
              </a:pathLst>
            </a:custGeom>
            <a:blipFill>
              <a:blip r:embed="rId2">
                <a:alphaModFix amt="0"/>
              </a:blip>
              <a:stretch>
                <a:fillRect l="0" t="-147894" r="0" b="-147894"/>
              </a:stretch>
            </a:blipFill>
          </p:spPr>
        </p:sp>
        <p:sp>
          <p:nvSpPr>
            <p:cNvPr name="TextBox 59" id="59"/>
            <p:cNvSpPr txBox="true"/>
            <p:nvPr/>
          </p:nvSpPr>
          <p:spPr>
            <a:xfrm>
              <a:off x="0" y="-38100"/>
              <a:ext cx="5943600" cy="623316"/>
            </a:xfrm>
            <a:prstGeom prst="rect">
              <a:avLst/>
            </a:prstGeom>
          </p:spPr>
          <p:txBody>
            <a:bodyPr anchor="ctr" rtlCol="false" tIns="0" lIns="0" bIns="0" rIns="0"/>
            <a:lstStyle/>
            <a:p>
              <a:pPr algn="l">
                <a:lnSpc>
                  <a:spcPts val="2430"/>
                </a:lnSpc>
              </a:pPr>
              <a:r>
                <a:rPr lang="en-US" sz="2025" b="true">
                  <a:solidFill>
                    <a:srgbClr val="0A2540"/>
                  </a:solidFill>
                  <a:latin typeface="Calibri (MS) Bold"/>
                  <a:ea typeface="Calibri (MS) Bold"/>
                  <a:cs typeface="Calibri (MS) Bold"/>
                  <a:sym typeface="Calibri (MS) Bold"/>
                </a:rPr>
                <a:t>Stronger customer trust</a:t>
              </a:r>
            </a:p>
          </p:txBody>
        </p:sp>
      </p:grpSp>
      <p:grpSp>
        <p:nvGrpSpPr>
          <p:cNvPr name="Group 60" id="60"/>
          <p:cNvGrpSpPr/>
          <p:nvPr/>
        </p:nvGrpSpPr>
        <p:grpSpPr>
          <a:xfrm rot="0">
            <a:off x="6775704" y="5486400"/>
            <a:ext cx="4732020" cy="987552"/>
            <a:chOff x="0" y="0"/>
            <a:chExt cx="6309360" cy="1316736"/>
          </a:xfrm>
        </p:grpSpPr>
        <p:sp>
          <p:nvSpPr>
            <p:cNvPr name="Freeform 61" id="61"/>
            <p:cNvSpPr/>
            <p:nvPr/>
          </p:nvSpPr>
          <p:spPr>
            <a:xfrm flipH="false" flipV="false" rot="0">
              <a:off x="0" y="0"/>
              <a:ext cx="6309360" cy="1316736"/>
            </a:xfrm>
            <a:custGeom>
              <a:avLst/>
              <a:gdLst/>
              <a:ahLst/>
              <a:cxnLst/>
              <a:rect r="r" b="b" t="t" l="l"/>
              <a:pathLst>
                <a:path h="1316736" w="6309360">
                  <a:moveTo>
                    <a:pt x="0" y="0"/>
                  </a:moveTo>
                  <a:lnTo>
                    <a:pt x="6309360" y="0"/>
                  </a:lnTo>
                  <a:lnTo>
                    <a:pt x="6309360" y="1316736"/>
                  </a:lnTo>
                  <a:lnTo>
                    <a:pt x="0" y="1316736"/>
                  </a:lnTo>
                  <a:close/>
                </a:path>
              </a:pathLst>
            </a:custGeom>
            <a:blipFill>
              <a:blip r:embed="rId2">
                <a:alphaModFix amt="0"/>
              </a:blip>
              <a:stretch>
                <a:fillRect l="0" t="-43365" r="0" b="-43365"/>
              </a:stretch>
            </a:blipFill>
          </p:spPr>
        </p:sp>
        <p:sp>
          <p:nvSpPr>
            <p:cNvPr name="TextBox 62" id="62"/>
            <p:cNvSpPr txBox="true"/>
            <p:nvPr/>
          </p:nvSpPr>
          <p:spPr>
            <a:xfrm>
              <a:off x="0" y="-57150"/>
              <a:ext cx="6309360" cy="1373886"/>
            </a:xfrm>
            <a:prstGeom prst="rect">
              <a:avLst/>
            </a:prstGeom>
          </p:spPr>
          <p:txBody>
            <a:bodyPr anchor="ctr" rtlCol="false" tIns="0" lIns="0" bIns="0" rIns="0"/>
            <a:lstStyle/>
            <a:p>
              <a:pPr algn="l">
                <a:lnSpc>
                  <a:spcPts val="2250"/>
                </a:lnSpc>
              </a:pPr>
              <a:r>
                <a:rPr lang="en-US" sz="1650">
                  <a:solidFill>
                    <a:srgbClr val="5A6B7C"/>
                  </a:solidFill>
                  <a:latin typeface="Calibri (MS)"/>
                  <a:ea typeface="Calibri (MS)"/>
                  <a:cs typeface="Calibri (MS)"/>
                  <a:sym typeface="Calibri (MS)"/>
                </a:rPr>
                <a:t>Customers who are protected — and not needlessly blocked — stay with the bank longer.</a:t>
              </a:r>
            </a:p>
          </p:txBody>
        </p:sp>
      </p:grpSp>
      <p:grpSp>
        <p:nvGrpSpPr>
          <p:cNvPr name="Group 63" id="63"/>
          <p:cNvGrpSpPr/>
          <p:nvPr/>
        </p:nvGrpSpPr>
        <p:grpSpPr>
          <a:xfrm rot="0">
            <a:off x="12115419" y="4653915"/>
            <a:ext cx="5340858" cy="1966722"/>
            <a:chOff x="0" y="0"/>
            <a:chExt cx="7121144" cy="2622296"/>
          </a:xfrm>
        </p:grpSpPr>
        <p:sp>
          <p:nvSpPr>
            <p:cNvPr name="Freeform 64" id="64"/>
            <p:cNvSpPr/>
            <p:nvPr/>
          </p:nvSpPr>
          <p:spPr>
            <a:xfrm flipH="false" flipV="false" rot="0">
              <a:off x="0" y="0"/>
              <a:ext cx="7121144" cy="2622296"/>
            </a:xfrm>
            <a:custGeom>
              <a:avLst/>
              <a:gdLst/>
              <a:ahLst/>
              <a:cxnLst/>
              <a:rect r="r" b="b" t="t" l="l"/>
              <a:pathLst>
                <a:path h="2622296" w="7121144">
                  <a:moveTo>
                    <a:pt x="0" y="147701"/>
                  </a:moveTo>
                  <a:cubicBezTo>
                    <a:pt x="0" y="66167"/>
                    <a:pt x="66167" y="0"/>
                    <a:pt x="147701" y="0"/>
                  </a:cubicBezTo>
                  <a:lnTo>
                    <a:pt x="6973443" y="0"/>
                  </a:lnTo>
                  <a:cubicBezTo>
                    <a:pt x="7054977" y="0"/>
                    <a:pt x="7121144" y="66167"/>
                    <a:pt x="7121144" y="147701"/>
                  </a:cubicBezTo>
                  <a:lnTo>
                    <a:pt x="7121144" y="2474595"/>
                  </a:lnTo>
                  <a:cubicBezTo>
                    <a:pt x="7121144" y="2556129"/>
                    <a:pt x="7054977" y="2622296"/>
                    <a:pt x="6973443" y="2622296"/>
                  </a:cubicBezTo>
                  <a:lnTo>
                    <a:pt x="147701" y="2622296"/>
                  </a:lnTo>
                  <a:cubicBezTo>
                    <a:pt x="66167" y="2622296"/>
                    <a:pt x="0" y="2556129"/>
                    <a:pt x="0" y="2474595"/>
                  </a:cubicBezTo>
                  <a:close/>
                </a:path>
              </a:pathLst>
            </a:custGeom>
            <a:solidFill>
              <a:srgbClr val="FFFFFF"/>
            </a:solidFill>
            <a:ln w="19050" cap="sq">
              <a:solidFill>
                <a:srgbClr val="DCE4EC"/>
              </a:solidFill>
              <a:prstDash val="solid"/>
              <a:miter/>
            </a:ln>
          </p:spPr>
        </p:sp>
      </p:grpSp>
      <p:grpSp>
        <p:nvGrpSpPr>
          <p:cNvPr name="Group 65" id="65"/>
          <p:cNvGrpSpPr/>
          <p:nvPr/>
        </p:nvGrpSpPr>
        <p:grpSpPr>
          <a:xfrm rot="0">
            <a:off x="12426696" y="5074920"/>
            <a:ext cx="219456" cy="219456"/>
            <a:chOff x="0" y="0"/>
            <a:chExt cx="292608" cy="292608"/>
          </a:xfrm>
        </p:grpSpPr>
        <p:sp>
          <p:nvSpPr>
            <p:cNvPr name="Freeform 66" id="66"/>
            <p:cNvSpPr/>
            <p:nvPr/>
          </p:nvSpPr>
          <p:spPr>
            <a:xfrm flipH="false" flipV="false" rot="0">
              <a:off x="0" y="0"/>
              <a:ext cx="292608" cy="292608"/>
            </a:xfrm>
            <a:custGeom>
              <a:avLst/>
              <a:gdLst/>
              <a:ahLst/>
              <a:cxnLst/>
              <a:rect r="r" b="b" t="t" l="l"/>
              <a:pathLst>
                <a:path h="292608" w="292608">
                  <a:moveTo>
                    <a:pt x="0" y="146304"/>
                  </a:moveTo>
                  <a:cubicBezTo>
                    <a:pt x="0" y="65532"/>
                    <a:pt x="65532" y="0"/>
                    <a:pt x="146304" y="0"/>
                  </a:cubicBezTo>
                  <a:cubicBezTo>
                    <a:pt x="227076" y="0"/>
                    <a:pt x="292608" y="65532"/>
                    <a:pt x="292608" y="146304"/>
                  </a:cubicBezTo>
                  <a:cubicBezTo>
                    <a:pt x="292608" y="227076"/>
                    <a:pt x="227076" y="292608"/>
                    <a:pt x="146304" y="292608"/>
                  </a:cubicBezTo>
                  <a:cubicBezTo>
                    <a:pt x="65532" y="292608"/>
                    <a:pt x="0" y="227076"/>
                    <a:pt x="0" y="146304"/>
                  </a:cubicBezTo>
                  <a:close/>
                </a:path>
              </a:pathLst>
            </a:custGeom>
            <a:solidFill>
              <a:srgbClr val="ED232A"/>
            </a:solidFill>
          </p:spPr>
        </p:sp>
      </p:grpSp>
      <p:grpSp>
        <p:nvGrpSpPr>
          <p:cNvPr name="Group 67" id="67"/>
          <p:cNvGrpSpPr/>
          <p:nvPr/>
        </p:nvGrpSpPr>
        <p:grpSpPr>
          <a:xfrm rot="0">
            <a:off x="12783312" y="4937760"/>
            <a:ext cx="4457700" cy="438912"/>
            <a:chOff x="0" y="0"/>
            <a:chExt cx="5943600" cy="585216"/>
          </a:xfrm>
        </p:grpSpPr>
        <p:sp>
          <p:nvSpPr>
            <p:cNvPr name="Freeform 68" id="68"/>
            <p:cNvSpPr/>
            <p:nvPr/>
          </p:nvSpPr>
          <p:spPr>
            <a:xfrm flipH="false" flipV="false" rot="0">
              <a:off x="0" y="0"/>
              <a:ext cx="5943600" cy="585216"/>
            </a:xfrm>
            <a:custGeom>
              <a:avLst/>
              <a:gdLst/>
              <a:ahLst/>
              <a:cxnLst/>
              <a:rect r="r" b="b" t="t" l="l"/>
              <a:pathLst>
                <a:path h="585216" w="5943600">
                  <a:moveTo>
                    <a:pt x="0" y="0"/>
                  </a:moveTo>
                  <a:lnTo>
                    <a:pt x="5943600" y="0"/>
                  </a:lnTo>
                  <a:lnTo>
                    <a:pt x="5943600" y="585216"/>
                  </a:lnTo>
                  <a:lnTo>
                    <a:pt x="0" y="585216"/>
                  </a:lnTo>
                  <a:close/>
                </a:path>
              </a:pathLst>
            </a:custGeom>
            <a:blipFill>
              <a:blip r:embed="rId2">
                <a:alphaModFix amt="0"/>
              </a:blip>
              <a:stretch>
                <a:fillRect l="0" t="-147894" r="0" b="-147894"/>
              </a:stretch>
            </a:blipFill>
          </p:spPr>
        </p:sp>
        <p:sp>
          <p:nvSpPr>
            <p:cNvPr name="TextBox 69" id="69"/>
            <p:cNvSpPr txBox="true"/>
            <p:nvPr/>
          </p:nvSpPr>
          <p:spPr>
            <a:xfrm>
              <a:off x="0" y="-38100"/>
              <a:ext cx="5943600" cy="623316"/>
            </a:xfrm>
            <a:prstGeom prst="rect">
              <a:avLst/>
            </a:prstGeom>
          </p:spPr>
          <p:txBody>
            <a:bodyPr anchor="ctr" rtlCol="false" tIns="0" lIns="0" bIns="0" rIns="0"/>
            <a:lstStyle/>
            <a:p>
              <a:pPr algn="l">
                <a:lnSpc>
                  <a:spcPts val="2430"/>
                </a:lnSpc>
              </a:pPr>
              <a:r>
                <a:rPr lang="en-US" sz="2025" b="true">
                  <a:solidFill>
                    <a:srgbClr val="0A2540"/>
                  </a:solidFill>
                  <a:latin typeface="Calibri (MS) Bold"/>
                  <a:ea typeface="Calibri (MS) Bold"/>
                  <a:cs typeface="Calibri (MS) Bold"/>
                  <a:sym typeface="Calibri (MS) Bold"/>
                </a:rPr>
                <a:t>Regulatory confidence</a:t>
              </a:r>
            </a:p>
          </p:txBody>
        </p:sp>
      </p:grpSp>
      <p:grpSp>
        <p:nvGrpSpPr>
          <p:cNvPr name="Group 70" id="70"/>
          <p:cNvGrpSpPr/>
          <p:nvPr/>
        </p:nvGrpSpPr>
        <p:grpSpPr>
          <a:xfrm rot="0">
            <a:off x="12426696" y="5486400"/>
            <a:ext cx="4732020" cy="987552"/>
            <a:chOff x="0" y="0"/>
            <a:chExt cx="6309360" cy="1316736"/>
          </a:xfrm>
        </p:grpSpPr>
        <p:sp>
          <p:nvSpPr>
            <p:cNvPr name="Freeform 71" id="71"/>
            <p:cNvSpPr/>
            <p:nvPr/>
          </p:nvSpPr>
          <p:spPr>
            <a:xfrm flipH="false" flipV="false" rot="0">
              <a:off x="0" y="0"/>
              <a:ext cx="6309360" cy="1316736"/>
            </a:xfrm>
            <a:custGeom>
              <a:avLst/>
              <a:gdLst/>
              <a:ahLst/>
              <a:cxnLst/>
              <a:rect r="r" b="b" t="t" l="l"/>
              <a:pathLst>
                <a:path h="1316736" w="6309360">
                  <a:moveTo>
                    <a:pt x="0" y="0"/>
                  </a:moveTo>
                  <a:lnTo>
                    <a:pt x="6309360" y="0"/>
                  </a:lnTo>
                  <a:lnTo>
                    <a:pt x="6309360" y="1316736"/>
                  </a:lnTo>
                  <a:lnTo>
                    <a:pt x="0" y="1316736"/>
                  </a:lnTo>
                  <a:close/>
                </a:path>
              </a:pathLst>
            </a:custGeom>
            <a:blipFill>
              <a:blip r:embed="rId2">
                <a:alphaModFix amt="0"/>
              </a:blip>
              <a:stretch>
                <a:fillRect l="0" t="-43365" r="0" b="-43365"/>
              </a:stretch>
            </a:blipFill>
          </p:spPr>
        </p:sp>
        <p:sp>
          <p:nvSpPr>
            <p:cNvPr name="TextBox 72" id="72"/>
            <p:cNvSpPr txBox="true"/>
            <p:nvPr/>
          </p:nvSpPr>
          <p:spPr>
            <a:xfrm>
              <a:off x="0" y="-57150"/>
              <a:ext cx="6309360" cy="1373886"/>
            </a:xfrm>
            <a:prstGeom prst="rect">
              <a:avLst/>
            </a:prstGeom>
          </p:spPr>
          <p:txBody>
            <a:bodyPr anchor="ctr" rtlCol="false" tIns="0" lIns="0" bIns="0" rIns="0"/>
            <a:lstStyle/>
            <a:p>
              <a:pPr algn="l">
                <a:lnSpc>
                  <a:spcPts val="2250"/>
                </a:lnSpc>
              </a:pPr>
              <a:r>
                <a:rPr lang="en-US" sz="1650">
                  <a:solidFill>
                    <a:srgbClr val="5A6B7C"/>
                  </a:solidFill>
                  <a:latin typeface="Calibri (MS)"/>
                  <a:ea typeface="Calibri (MS)"/>
                  <a:cs typeface="Calibri (MS)"/>
                  <a:sym typeface="Calibri (MS)"/>
                </a:rPr>
                <a:t>Auditable, monitored fraud controls support RBI reporting and supervisory expectations.</a:t>
              </a:r>
            </a:p>
          </p:txBody>
        </p:sp>
      </p:grpSp>
      <p:grpSp>
        <p:nvGrpSpPr>
          <p:cNvPr name="Group 73" id="73"/>
          <p:cNvGrpSpPr/>
          <p:nvPr/>
        </p:nvGrpSpPr>
        <p:grpSpPr>
          <a:xfrm rot="0">
            <a:off x="813435" y="7122795"/>
            <a:ext cx="16656558" cy="2213610"/>
            <a:chOff x="0" y="0"/>
            <a:chExt cx="22208744" cy="2951480"/>
          </a:xfrm>
        </p:grpSpPr>
        <p:sp>
          <p:nvSpPr>
            <p:cNvPr name="Freeform 74" id="74"/>
            <p:cNvSpPr/>
            <p:nvPr/>
          </p:nvSpPr>
          <p:spPr>
            <a:xfrm flipH="false" flipV="false" rot="0">
              <a:off x="0" y="0"/>
              <a:ext cx="22208744" cy="2951480"/>
            </a:xfrm>
            <a:custGeom>
              <a:avLst/>
              <a:gdLst/>
              <a:ahLst/>
              <a:cxnLst/>
              <a:rect r="r" b="b" t="t" l="l"/>
              <a:pathLst>
                <a:path h="2951480" w="22208744">
                  <a:moveTo>
                    <a:pt x="0" y="147574"/>
                  </a:moveTo>
                  <a:cubicBezTo>
                    <a:pt x="0" y="66040"/>
                    <a:pt x="66040" y="0"/>
                    <a:pt x="147574" y="0"/>
                  </a:cubicBezTo>
                  <a:lnTo>
                    <a:pt x="22061170" y="0"/>
                  </a:lnTo>
                  <a:cubicBezTo>
                    <a:pt x="22142704" y="0"/>
                    <a:pt x="22208744" y="66040"/>
                    <a:pt x="22208744" y="147574"/>
                  </a:cubicBezTo>
                  <a:lnTo>
                    <a:pt x="22208744" y="2803906"/>
                  </a:lnTo>
                  <a:cubicBezTo>
                    <a:pt x="22208744" y="2885440"/>
                    <a:pt x="22142704" y="2951480"/>
                    <a:pt x="22061170" y="2951480"/>
                  </a:cubicBezTo>
                  <a:lnTo>
                    <a:pt x="147574" y="2951480"/>
                  </a:lnTo>
                  <a:cubicBezTo>
                    <a:pt x="66040" y="2951480"/>
                    <a:pt x="0" y="2885440"/>
                    <a:pt x="0" y="2803906"/>
                  </a:cubicBezTo>
                  <a:close/>
                </a:path>
              </a:pathLst>
            </a:custGeom>
            <a:solidFill>
              <a:srgbClr val="0A2540"/>
            </a:solidFill>
            <a:ln w="19050" cap="sq">
              <a:solidFill>
                <a:srgbClr val="0A2540"/>
              </a:solidFill>
              <a:prstDash val="solid"/>
              <a:miter/>
            </a:ln>
          </p:spPr>
        </p:sp>
      </p:grpSp>
      <p:grpSp>
        <p:nvGrpSpPr>
          <p:cNvPr name="Group 75" id="75"/>
          <p:cNvGrpSpPr/>
          <p:nvPr/>
        </p:nvGrpSpPr>
        <p:grpSpPr>
          <a:xfrm rot="0">
            <a:off x="1303020" y="7406640"/>
            <a:ext cx="5486400" cy="411480"/>
            <a:chOff x="0" y="0"/>
            <a:chExt cx="7315200" cy="548640"/>
          </a:xfrm>
        </p:grpSpPr>
        <p:sp>
          <p:nvSpPr>
            <p:cNvPr name="Freeform 76" id="76"/>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2">
                <a:alphaModFix amt="0"/>
              </a:blip>
              <a:stretch>
                <a:fillRect l="0" t="-209800" r="0" b="-209800"/>
              </a:stretch>
            </a:blipFill>
          </p:spPr>
        </p:sp>
        <p:sp>
          <p:nvSpPr>
            <p:cNvPr name="TextBox 77" id="77"/>
            <p:cNvSpPr txBox="true"/>
            <p:nvPr/>
          </p:nvSpPr>
          <p:spPr>
            <a:xfrm>
              <a:off x="0" y="-47625"/>
              <a:ext cx="7315200" cy="596265"/>
            </a:xfrm>
            <a:prstGeom prst="rect">
              <a:avLst/>
            </a:prstGeom>
          </p:spPr>
          <p:txBody>
            <a:bodyPr anchor="ctr" rtlCol="false" tIns="0" lIns="0" bIns="0" rIns="0"/>
            <a:lstStyle/>
            <a:p>
              <a:pPr algn="l">
                <a:lnSpc>
                  <a:spcPts val="2340"/>
                </a:lnSpc>
              </a:pPr>
              <a:r>
                <a:rPr lang="en-US" sz="1950" b="true">
                  <a:solidFill>
                    <a:srgbClr val="8FB3D9"/>
                  </a:solidFill>
                  <a:latin typeface="Calibri (MS) Bold"/>
                  <a:ea typeface="Calibri (MS) Bold"/>
                  <a:cs typeface="Calibri (MS) Bold"/>
                  <a:sym typeface="Calibri (MS) Bold"/>
                </a:rPr>
                <a:t>Where the value sits</a:t>
              </a:r>
            </a:p>
          </p:txBody>
        </p:sp>
      </p:grpSp>
      <p:grpSp>
        <p:nvGrpSpPr>
          <p:cNvPr name="Group 78" id="78"/>
          <p:cNvGrpSpPr/>
          <p:nvPr/>
        </p:nvGrpSpPr>
        <p:grpSpPr>
          <a:xfrm rot="0">
            <a:off x="1303020" y="7886700"/>
            <a:ext cx="15636240" cy="1165860"/>
            <a:chOff x="0" y="0"/>
            <a:chExt cx="20848320" cy="1554480"/>
          </a:xfrm>
        </p:grpSpPr>
        <p:sp>
          <p:nvSpPr>
            <p:cNvPr name="Freeform 79" id="79"/>
            <p:cNvSpPr/>
            <p:nvPr/>
          </p:nvSpPr>
          <p:spPr>
            <a:xfrm flipH="false" flipV="false" rot="0">
              <a:off x="0" y="0"/>
              <a:ext cx="20848320" cy="1554480"/>
            </a:xfrm>
            <a:custGeom>
              <a:avLst/>
              <a:gdLst/>
              <a:ahLst/>
              <a:cxnLst/>
              <a:rect r="r" b="b" t="t" l="l"/>
              <a:pathLst>
                <a:path h="1554480" w="20848320">
                  <a:moveTo>
                    <a:pt x="0" y="0"/>
                  </a:moveTo>
                  <a:lnTo>
                    <a:pt x="20848320" y="0"/>
                  </a:lnTo>
                  <a:lnTo>
                    <a:pt x="20848320" y="1554480"/>
                  </a:lnTo>
                  <a:lnTo>
                    <a:pt x="0" y="1554480"/>
                  </a:lnTo>
                  <a:close/>
                </a:path>
              </a:pathLst>
            </a:custGeom>
            <a:blipFill>
              <a:blip r:embed="rId2">
                <a:alphaModFix amt="0"/>
              </a:blip>
              <a:stretch>
                <a:fillRect l="0" t="-211328" r="0" b="-211328"/>
              </a:stretch>
            </a:blipFill>
          </p:spPr>
        </p:sp>
        <p:sp>
          <p:nvSpPr>
            <p:cNvPr name="TextBox 80" id="80"/>
            <p:cNvSpPr txBox="true"/>
            <p:nvPr/>
          </p:nvSpPr>
          <p:spPr>
            <a:xfrm>
              <a:off x="0" y="-95250"/>
              <a:ext cx="20848320" cy="1649730"/>
            </a:xfrm>
            <a:prstGeom prst="rect">
              <a:avLst/>
            </a:prstGeom>
          </p:spPr>
          <p:txBody>
            <a:bodyPr anchor="ctr" rtlCol="false" tIns="0" lIns="0" bIns="0" rIns="0"/>
            <a:lstStyle/>
            <a:p>
              <a:pPr algn="l">
                <a:lnSpc>
                  <a:spcPts val="2850"/>
                </a:lnSpc>
              </a:pPr>
              <a:r>
                <a:rPr lang="en-US" sz="1950">
                  <a:solidFill>
                    <a:srgbClr val="FFFFFF"/>
                  </a:solidFill>
                  <a:latin typeface="Calibri (MS)"/>
                  <a:ea typeface="Calibri (MS)"/>
                  <a:cs typeface="Calibri (MS)"/>
                  <a:sym typeface="Calibri (MS)"/>
                </a:rPr>
                <a:t>Fraud detection is a cost-avoidance investment, not a revenue line. Its return is measured as fraud value prevented, plus the revenue retained from genuine transactions that are no longer wrongly declined, minus the cost of running and monitoring the model.</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4264640" cy="822960"/>
            <a:chOff x="0" y="0"/>
            <a:chExt cx="19019520" cy="1097280"/>
          </a:xfrm>
        </p:grpSpPr>
        <p:sp>
          <p:nvSpPr>
            <p:cNvPr name="Freeform 3" id="3"/>
            <p:cNvSpPr/>
            <p:nvPr/>
          </p:nvSpPr>
          <p:spPr>
            <a:xfrm flipH="false" flipV="false" rot="0">
              <a:off x="0" y="0"/>
              <a:ext cx="19019520" cy="1097280"/>
            </a:xfrm>
            <a:custGeom>
              <a:avLst/>
              <a:gdLst/>
              <a:ahLst/>
              <a:cxnLst/>
              <a:rect r="r" b="b" t="t" l="l"/>
              <a:pathLst>
                <a:path h="1097280" w="19019520">
                  <a:moveTo>
                    <a:pt x="0" y="0"/>
                  </a:moveTo>
                  <a:lnTo>
                    <a:pt x="19019520" y="0"/>
                  </a:lnTo>
                  <a:lnTo>
                    <a:pt x="19019520" y="1097280"/>
                  </a:lnTo>
                  <a:lnTo>
                    <a:pt x="0" y="1097280"/>
                  </a:lnTo>
                  <a:close/>
                </a:path>
              </a:pathLst>
            </a:custGeom>
            <a:blipFill>
              <a:blip r:embed="rId2">
                <a:alphaModFix amt="0"/>
              </a:blip>
              <a:stretch>
                <a:fillRect l="0" t="-287740" r="0" b="-287740"/>
              </a:stretch>
            </a:blipFill>
          </p:spPr>
        </p:sp>
        <p:sp>
          <p:nvSpPr>
            <p:cNvPr name="TextBox 4" id="4"/>
            <p:cNvSpPr txBox="true"/>
            <p:nvPr/>
          </p:nvSpPr>
          <p:spPr>
            <a:xfrm>
              <a:off x="0" y="-9525"/>
              <a:ext cx="19019520" cy="1106805"/>
            </a:xfrm>
            <a:prstGeom prst="rect">
              <a:avLst/>
            </a:prstGeom>
          </p:spPr>
          <p:txBody>
            <a:bodyPr anchor="ctr" rtlCol="false" tIns="0" lIns="0" bIns="0" rIns="0"/>
            <a:lstStyle/>
            <a:p>
              <a:pPr algn="l">
                <a:lnSpc>
                  <a:spcPts val="5759"/>
                </a:lnSpc>
              </a:pPr>
              <a:r>
                <a:rPr lang="en-US" sz="4800" b="true">
                  <a:solidFill>
                    <a:srgbClr val="0A2540"/>
                  </a:solidFill>
                  <a:latin typeface="Cambria Bold"/>
                  <a:ea typeface="Cambria Bold"/>
                  <a:cs typeface="Cambria Bold"/>
                  <a:sym typeface="Cambria Bold"/>
                </a:rPr>
                <a:t>Risks, Ethics &amp; Responsible AI</a:t>
              </a:r>
            </a:p>
          </p:txBody>
        </p:sp>
      </p:grpSp>
      <p:grpSp>
        <p:nvGrpSpPr>
          <p:cNvPr name="Group 5" id="5"/>
          <p:cNvGrpSpPr/>
          <p:nvPr/>
        </p:nvGrpSpPr>
        <p:grpSpPr>
          <a:xfrm rot="0">
            <a:off x="822960" y="1426464"/>
            <a:ext cx="14264640" cy="438912"/>
            <a:chOff x="0" y="0"/>
            <a:chExt cx="19019520" cy="585216"/>
          </a:xfrm>
        </p:grpSpPr>
        <p:sp>
          <p:nvSpPr>
            <p:cNvPr name="Freeform 6" id="6"/>
            <p:cNvSpPr/>
            <p:nvPr/>
          </p:nvSpPr>
          <p:spPr>
            <a:xfrm flipH="false" flipV="false" rot="0">
              <a:off x="0" y="0"/>
              <a:ext cx="19019520" cy="585216"/>
            </a:xfrm>
            <a:custGeom>
              <a:avLst/>
              <a:gdLst/>
              <a:ahLst/>
              <a:cxnLst/>
              <a:rect r="r" b="b" t="t" l="l"/>
              <a:pathLst>
                <a:path h="585216" w="19019520">
                  <a:moveTo>
                    <a:pt x="0" y="0"/>
                  </a:moveTo>
                  <a:lnTo>
                    <a:pt x="19019520" y="0"/>
                  </a:lnTo>
                  <a:lnTo>
                    <a:pt x="19019520" y="585216"/>
                  </a:lnTo>
                  <a:lnTo>
                    <a:pt x="0" y="585216"/>
                  </a:lnTo>
                  <a:close/>
                </a:path>
              </a:pathLst>
            </a:custGeom>
            <a:blipFill>
              <a:blip r:embed="rId2">
                <a:alphaModFix amt="0"/>
              </a:blip>
              <a:stretch>
                <a:fillRect l="0" t="-583263" r="0" b="-583263"/>
              </a:stretch>
            </a:blipFill>
          </p:spPr>
        </p:sp>
        <p:sp>
          <p:nvSpPr>
            <p:cNvPr name="TextBox 7" id="7"/>
            <p:cNvSpPr txBox="true"/>
            <p:nvPr/>
          </p:nvSpPr>
          <p:spPr>
            <a:xfrm>
              <a:off x="0" y="-47625"/>
              <a:ext cx="19019520" cy="632841"/>
            </a:xfrm>
            <a:prstGeom prst="rect">
              <a:avLst/>
            </a:prstGeom>
          </p:spPr>
          <p:txBody>
            <a:bodyPr anchor="ctr" rtlCol="false" tIns="0" lIns="0" bIns="0" rIns="0"/>
            <a:lstStyle/>
            <a:p>
              <a:pPr algn="l">
                <a:lnSpc>
                  <a:spcPts val="2340"/>
                </a:lnSpc>
              </a:pPr>
              <a:r>
                <a:rPr lang="en-US" sz="1950" i="true">
                  <a:solidFill>
                    <a:srgbClr val="5A6B7C"/>
                  </a:solidFill>
                  <a:latin typeface="Calibri (MS) Italics"/>
                  <a:ea typeface="Calibri (MS) Italics"/>
                  <a:cs typeface="Calibri (MS) Italics"/>
                  <a:sym typeface="Calibri (MS) Italics"/>
                </a:rPr>
                <a:t>What can go wrong, and how the bank should control it</a:t>
              </a:r>
            </a:p>
          </p:txBody>
        </p:sp>
      </p:grpSp>
      <p:grpSp>
        <p:nvGrpSpPr>
          <p:cNvPr name="Group 8" id="8"/>
          <p:cNvGrpSpPr/>
          <p:nvPr/>
        </p:nvGrpSpPr>
        <p:grpSpPr>
          <a:xfrm rot="0">
            <a:off x="16664940" y="576072"/>
            <a:ext cx="850392" cy="850392"/>
            <a:chOff x="0" y="0"/>
            <a:chExt cx="1133856" cy="1133856"/>
          </a:xfrm>
        </p:grpSpPr>
        <p:sp>
          <p:nvSpPr>
            <p:cNvPr name="Freeform 9" id="9"/>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F1F5F9"/>
            </a:solidFill>
          </p:spPr>
        </p:sp>
      </p:grpSp>
      <p:grpSp>
        <p:nvGrpSpPr>
          <p:cNvPr name="Group 10" id="10"/>
          <p:cNvGrpSpPr/>
          <p:nvPr/>
        </p:nvGrpSpPr>
        <p:grpSpPr>
          <a:xfrm rot="0">
            <a:off x="16664940" y="576072"/>
            <a:ext cx="850392" cy="850392"/>
            <a:chOff x="0" y="0"/>
            <a:chExt cx="1133856" cy="1133856"/>
          </a:xfrm>
        </p:grpSpPr>
        <p:sp>
          <p:nvSpPr>
            <p:cNvPr name="Freeform 11" id="11"/>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2">
                <a:alphaModFix amt="0"/>
              </a:blip>
              <a:stretch>
                <a:fillRect l="-78303" t="0" r="-78303" b="0"/>
              </a:stretch>
            </a:blipFill>
          </p:spPr>
        </p:sp>
        <p:sp>
          <p:nvSpPr>
            <p:cNvPr name="TextBox 12" id="12"/>
            <p:cNvSpPr txBox="true"/>
            <p:nvPr/>
          </p:nvSpPr>
          <p:spPr>
            <a:xfrm>
              <a:off x="0" y="-9525"/>
              <a:ext cx="1133856" cy="1143381"/>
            </a:xfrm>
            <a:prstGeom prst="rect">
              <a:avLst/>
            </a:prstGeom>
          </p:spPr>
          <p:txBody>
            <a:bodyPr anchor="ctr" rtlCol="false" tIns="0" lIns="0" bIns="0" rIns="0"/>
            <a:lstStyle/>
            <a:p>
              <a:pPr algn="ctr">
                <a:lnSpc>
                  <a:spcPts val="2879"/>
                </a:lnSpc>
              </a:pPr>
              <a:r>
                <a:rPr lang="en-US" sz="2400" b="true">
                  <a:solidFill>
                    <a:srgbClr val="004C8F"/>
                  </a:solidFill>
                  <a:latin typeface="Cambria Bold"/>
                  <a:ea typeface="Cambria Bold"/>
                  <a:cs typeface="Cambria Bold"/>
                  <a:sym typeface="Cambria Bold"/>
                </a:rPr>
                <a:t>8</a:t>
              </a:r>
            </a:p>
          </p:txBody>
        </p:sp>
      </p:grpSp>
      <p:grpSp>
        <p:nvGrpSpPr>
          <p:cNvPr name="Group 13" id="13"/>
          <p:cNvGrpSpPr/>
          <p:nvPr/>
        </p:nvGrpSpPr>
        <p:grpSpPr>
          <a:xfrm rot="0">
            <a:off x="1028700" y="2221992"/>
            <a:ext cx="7406640" cy="411480"/>
            <a:chOff x="0" y="0"/>
            <a:chExt cx="9875520" cy="548640"/>
          </a:xfrm>
        </p:grpSpPr>
        <p:sp>
          <p:nvSpPr>
            <p:cNvPr name="Freeform 14" id="14"/>
            <p:cNvSpPr/>
            <p:nvPr/>
          </p:nvSpPr>
          <p:spPr>
            <a:xfrm flipH="false" flipV="false" rot="0">
              <a:off x="0" y="0"/>
              <a:ext cx="9875520" cy="548640"/>
            </a:xfrm>
            <a:custGeom>
              <a:avLst/>
              <a:gdLst/>
              <a:ahLst/>
              <a:cxnLst/>
              <a:rect r="r" b="b" t="t" l="l"/>
              <a:pathLst>
                <a:path h="548640" w="9875520">
                  <a:moveTo>
                    <a:pt x="0" y="0"/>
                  </a:moveTo>
                  <a:lnTo>
                    <a:pt x="9875520" y="0"/>
                  </a:lnTo>
                  <a:lnTo>
                    <a:pt x="9875520" y="548640"/>
                  </a:lnTo>
                  <a:lnTo>
                    <a:pt x="0" y="548640"/>
                  </a:lnTo>
                  <a:close/>
                </a:path>
              </a:pathLst>
            </a:custGeom>
            <a:blipFill>
              <a:blip r:embed="rId2">
                <a:alphaModFix amt="0"/>
              </a:blip>
              <a:stretch>
                <a:fillRect l="0" t="-300730" r="0" b="-300730"/>
              </a:stretch>
            </a:blipFill>
          </p:spPr>
        </p:sp>
        <p:sp>
          <p:nvSpPr>
            <p:cNvPr name="TextBox 15" id="15"/>
            <p:cNvSpPr txBox="true"/>
            <p:nvPr/>
          </p:nvSpPr>
          <p:spPr>
            <a:xfrm>
              <a:off x="0" y="-38100"/>
              <a:ext cx="9875520" cy="586740"/>
            </a:xfrm>
            <a:prstGeom prst="rect">
              <a:avLst/>
            </a:prstGeom>
          </p:spPr>
          <p:txBody>
            <a:bodyPr anchor="ctr" rtlCol="false" tIns="0" lIns="0" bIns="0" rIns="0"/>
            <a:lstStyle/>
            <a:p>
              <a:pPr algn="l">
                <a:lnSpc>
                  <a:spcPts val="2160"/>
                </a:lnSpc>
              </a:pPr>
              <a:r>
                <a:rPr lang="en-US" b="true" sz="1800" spc="300">
                  <a:solidFill>
                    <a:srgbClr val="5A6B7C"/>
                  </a:solidFill>
                  <a:latin typeface="Calibri (MS) Bold"/>
                  <a:ea typeface="Calibri (MS) Bold"/>
                  <a:cs typeface="Calibri (MS) Bold"/>
                  <a:sym typeface="Calibri (MS) Bold"/>
                </a:rPr>
                <a:t>Risk</a:t>
              </a:r>
            </a:p>
          </p:txBody>
        </p:sp>
      </p:grpSp>
      <p:grpSp>
        <p:nvGrpSpPr>
          <p:cNvPr name="Group 16" id="16"/>
          <p:cNvGrpSpPr/>
          <p:nvPr/>
        </p:nvGrpSpPr>
        <p:grpSpPr>
          <a:xfrm rot="0">
            <a:off x="9738360" y="2221992"/>
            <a:ext cx="7406640" cy="411480"/>
            <a:chOff x="0" y="0"/>
            <a:chExt cx="9875520" cy="548640"/>
          </a:xfrm>
        </p:grpSpPr>
        <p:sp>
          <p:nvSpPr>
            <p:cNvPr name="Freeform 17" id="17"/>
            <p:cNvSpPr/>
            <p:nvPr/>
          </p:nvSpPr>
          <p:spPr>
            <a:xfrm flipH="false" flipV="false" rot="0">
              <a:off x="0" y="0"/>
              <a:ext cx="9875520" cy="548640"/>
            </a:xfrm>
            <a:custGeom>
              <a:avLst/>
              <a:gdLst/>
              <a:ahLst/>
              <a:cxnLst/>
              <a:rect r="r" b="b" t="t" l="l"/>
              <a:pathLst>
                <a:path h="548640" w="9875520">
                  <a:moveTo>
                    <a:pt x="0" y="0"/>
                  </a:moveTo>
                  <a:lnTo>
                    <a:pt x="9875520" y="0"/>
                  </a:lnTo>
                  <a:lnTo>
                    <a:pt x="9875520" y="548640"/>
                  </a:lnTo>
                  <a:lnTo>
                    <a:pt x="0" y="548640"/>
                  </a:lnTo>
                  <a:close/>
                </a:path>
              </a:pathLst>
            </a:custGeom>
            <a:blipFill>
              <a:blip r:embed="rId2">
                <a:alphaModFix amt="0"/>
              </a:blip>
              <a:stretch>
                <a:fillRect l="0" t="-300730" r="0" b="-300730"/>
              </a:stretch>
            </a:blipFill>
          </p:spPr>
        </p:sp>
        <p:sp>
          <p:nvSpPr>
            <p:cNvPr name="TextBox 18" id="18"/>
            <p:cNvSpPr txBox="true"/>
            <p:nvPr/>
          </p:nvSpPr>
          <p:spPr>
            <a:xfrm>
              <a:off x="0" y="-38100"/>
              <a:ext cx="9875520" cy="586740"/>
            </a:xfrm>
            <a:prstGeom prst="rect">
              <a:avLst/>
            </a:prstGeom>
          </p:spPr>
          <p:txBody>
            <a:bodyPr anchor="ctr" rtlCol="false" tIns="0" lIns="0" bIns="0" rIns="0"/>
            <a:lstStyle/>
            <a:p>
              <a:pPr algn="l">
                <a:lnSpc>
                  <a:spcPts val="2160"/>
                </a:lnSpc>
              </a:pPr>
              <a:r>
                <a:rPr lang="en-US" b="true" sz="1800" spc="300">
                  <a:solidFill>
                    <a:srgbClr val="5A6B7C"/>
                  </a:solidFill>
                  <a:latin typeface="Calibri (MS) Bold"/>
                  <a:ea typeface="Calibri (MS) Bold"/>
                  <a:cs typeface="Calibri (MS) Bold"/>
                  <a:sym typeface="Calibri (MS) Bold"/>
                </a:rPr>
                <a:t>Mitigation</a:t>
              </a:r>
            </a:p>
          </p:txBody>
        </p:sp>
      </p:grpSp>
      <p:grpSp>
        <p:nvGrpSpPr>
          <p:cNvPr name="Group 19" id="19"/>
          <p:cNvGrpSpPr/>
          <p:nvPr/>
        </p:nvGrpSpPr>
        <p:grpSpPr>
          <a:xfrm rot="0">
            <a:off x="822960" y="2660904"/>
            <a:ext cx="16637508" cy="1261872"/>
            <a:chOff x="0" y="0"/>
            <a:chExt cx="22183344" cy="1682496"/>
          </a:xfrm>
        </p:grpSpPr>
        <p:sp>
          <p:nvSpPr>
            <p:cNvPr name="Freeform 20" id="20"/>
            <p:cNvSpPr/>
            <p:nvPr/>
          </p:nvSpPr>
          <p:spPr>
            <a:xfrm flipH="false" flipV="false" rot="0">
              <a:off x="0" y="0"/>
              <a:ext cx="22183344" cy="1682496"/>
            </a:xfrm>
            <a:custGeom>
              <a:avLst/>
              <a:gdLst/>
              <a:ahLst/>
              <a:cxnLst/>
              <a:rect r="r" b="b" t="t" l="l"/>
              <a:pathLst>
                <a:path h="1682496" w="22183344">
                  <a:moveTo>
                    <a:pt x="0" y="0"/>
                  </a:moveTo>
                  <a:lnTo>
                    <a:pt x="22183344" y="0"/>
                  </a:lnTo>
                  <a:lnTo>
                    <a:pt x="22183344" y="1682496"/>
                  </a:lnTo>
                  <a:lnTo>
                    <a:pt x="0" y="1682496"/>
                  </a:lnTo>
                  <a:close/>
                </a:path>
              </a:pathLst>
            </a:custGeom>
            <a:solidFill>
              <a:srgbClr val="F1F5F9"/>
            </a:solidFill>
          </p:spPr>
        </p:sp>
      </p:grpSp>
      <p:grpSp>
        <p:nvGrpSpPr>
          <p:cNvPr name="Group 21" id="21"/>
          <p:cNvGrpSpPr/>
          <p:nvPr/>
        </p:nvGrpSpPr>
        <p:grpSpPr>
          <a:xfrm rot="0">
            <a:off x="1069848" y="2743200"/>
            <a:ext cx="2537460" cy="411480"/>
            <a:chOff x="0" y="0"/>
            <a:chExt cx="3383280" cy="548640"/>
          </a:xfrm>
        </p:grpSpPr>
        <p:sp>
          <p:nvSpPr>
            <p:cNvPr name="Freeform 22" id="22"/>
            <p:cNvSpPr/>
            <p:nvPr/>
          </p:nvSpPr>
          <p:spPr>
            <a:xfrm flipH="false" flipV="false" rot="0">
              <a:off x="0" y="0"/>
              <a:ext cx="3383280" cy="548640"/>
            </a:xfrm>
            <a:custGeom>
              <a:avLst/>
              <a:gdLst/>
              <a:ahLst/>
              <a:cxnLst/>
              <a:rect r="r" b="b" t="t" l="l"/>
              <a:pathLst>
                <a:path h="548640" w="3383280">
                  <a:moveTo>
                    <a:pt x="0" y="0"/>
                  </a:moveTo>
                  <a:lnTo>
                    <a:pt x="3383280" y="0"/>
                  </a:lnTo>
                  <a:lnTo>
                    <a:pt x="3383280" y="548640"/>
                  </a:lnTo>
                  <a:lnTo>
                    <a:pt x="0" y="548640"/>
                  </a:lnTo>
                  <a:close/>
                </a:path>
              </a:pathLst>
            </a:custGeom>
            <a:blipFill>
              <a:blip r:embed="rId2">
                <a:alphaModFix amt="0"/>
              </a:blip>
              <a:stretch>
                <a:fillRect l="0" t="-70157" r="0" b="-70157"/>
              </a:stretch>
            </a:blipFill>
          </p:spPr>
        </p:sp>
        <p:sp>
          <p:nvSpPr>
            <p:cNvPr name="TextBox 23" id="23"/>
            <p:cNvSpPr txBox="true"/>
            <p:nvPr/>
          </p:nvSpPr>
          <p:spPr>
            <a:xfrm>
              <a:off x="0" y="-47625"/>
              <a:ext cx="3383280" cy="596265"/>
            </a:xfrm>
            <a:prstGeom prst="rect">
              <a:avLst/>
            </a:prstGeom>
          </p:spPr>
          <p:txBody>
            <a:bodyPr anchor="ctr" rtlCol="false" tIns="0" lIns="0" bIns="0" rIns="0"/>
            <a:lstStyle/>
            <a:p>
              <a:pPr algn="l">
                <a:lnSpc>
                  <a:spcPts val="2340"/>
                </a:lnSpc>
              </a:pPr>
              <a:r>
                <a:rPr lang="en-US" sz="1950" b="true">
                  <a:solidFill>
                    <a:srgbClr val="ED232A"/>
                  </a:solidFill>
                  <a:latin typeface="Calibri (MS) Bold"/>
                  <a:ea typeface="Calibri (MS) Bold"/>
                  <a:cs typeface="Calibri (MS) Bold"/>
                  <a:sym typeface="Calibri (MS) Bold"/>
                </a:rPr>
                <a:t>Data privacy</a:t>
              </a:r>
            </a:p>
          </p:txBody>
        </p:sp>
      </p:grpSp>
      <p:sp>
        <p:nvSpPr>
          <p:cNvPr name="TextBox 24" id="24"/>
          <p:cNvSpPr txBox="true"/>
          <p:nvPr/>
        </p:nvSpPr>
        <p:spPr>
          <a:xfrm rot="0">
            <a:off x="3703320" y="2695575"/>
            <a:ext cx="5829300" cy="1172337"/>
          </a:xfrm>
          <a:prstGeom prst="rect">
            <a:avLst/>
          </a:prstGeom>
        </p:spPr>
        <p:txBody>
          <a:bodyPr anchor="t" rtlCol="false" tIns="0" lIns="0" bIns="0" rIns="0">
            <a:spAutoFit/>
          </a:bodyPr>
          <a:lstStyle/>
          <a:p>
            <a:pPr algn="l">
              <a:lnSpc>
                <a:spcPts val="2100"/>
              </a:lnSpc>
            </a:pPr>
            <a:r>
              <a:rPr lang="en-US" sz="1650">
                <a:solidFill>
                  <a:srgbClr val="3D4C5A"/>
                </a:solidFill>
                <a:latin typeface="Calibri (MS)"/>
                <a:ea typeface="Calibri (MS)"/>
                <a:cs typeface="Calibri (MS)"/>
                <a:sym typeface="Calibri (MS)"/>
              </a:rPr>
              <a:t>Fraud models use sensitive personal and location data.</a:t>
            </a:r>
          </a:p>
        </p:txBody>
      </p:sp>
      <p:sp>
        <p:nvSpPr>
          <p:cNvPr name="TextBox 25" id="25"/>
          <p:cNvSpPr txBox="true"/>
          <p:nvPr/>
        </p:nvSpPr>
        <p:spPr>
          <a:xfrm rot="0">
            <a:off x="9738360" y="2695575"/>
            <a:ext cx="7475220" cy="1172337"/>
          </a:xfrm>
          <a:prstGeom prst="rect">
            <a:avLst/>
          </a:prstGeom>
        </p:spPr>
        <p:txBody>
          <a:bodyPr anchor="t" rtlCol="false" tIns="0" lIns="0" bIns="0" rIns="0">
            <a:spAutoFit/>
          </a:bodyPr>
          <a:lstStyle/>
          <a:p>
            <a:pPr algn="l">
              <a:lnSpc>
                <a:spcPts val="2100"/>
              </a:lnSpc>
            </a:pPr>
            <a:r>
              <a:rPr lang="en-US" sz="1650">
                <a:solidFill>
                  <a:srgbClr val="004C8F"/>
                </a:solidFill>
                <a:latin typeface="Calibri (MS)"/>
                <a:ea typeface="Calibri (MS)"/>
                <a:cs typeface="Calibri (MS)"/>
                <a:sym typeface="Calibri (MS)"/>
              </a:rPr>
              <a:t>Comply with the DPDP Act 2023; minimise, encrypt and restrict data by purpose.</a:t>
            </a:r>
          </a:p>
        </p:txBody>
      </p:sp>
      <p:grpSp>
        <p:nvGrpSpPr>
          <p:cNvPr name="Group 26" id="26"/>
          <p:cNvGrpSpPr/>
          <p:nvPr/>
        </p:nvGrpSpPr>
        <p:grpSpPr>
          <a:xfrm rot="0">
            <a:off x="1069848" y="4101084"/>
            <a:ext cx="2537460" cy="411480"/>
            <a:chOff x="0" y="0"/>
            <a:chExt cx="3383280" cy="548640"/>
          </a:xfrm>
        </p:grpSpPr>
        <p:sp>
          <p:nvSpPr>
            <p:cNvPr name="Freeform 27" id="27"/>
            <p:cNvSpPr/>
            <p:nvPr/>
          </p:nvSpPr>
          <p:spPr>
            <a:xfrm flipH="false" flipV="false" rot="0">
              <a:off x="0" y="0"/>
              <a:ext cx="3383280" cy="548640"/>
            </a:xfrm>
            <a:custGeom>
              <a:avLst/>
              <a:gdLst/>
              <a:ahLst/>
              <a:cxnLst/>
              <a:rect r="r" b="b" t="t" l="l"/>
              <a:pathLst>
                <a:path h="548640" w="3383280">
                  <a:moveTo>
                    <a:pt x="0" y="0"/>
                  </a:moveTo>
                  <a:lnTo>
                    <a:pt x="3383280" y="0"/>
                  </a:lnTo>
                  <a:lnTo>
                    <a:pt x="3383280" y="548640"/>
                  </a:lnTo>
                  <a:lnTo>
                    <a:pt x="0" y="548640"/>
                  </a:lnTo>
                  <a:close/>
                </a:path>
              </a:pathLst>
            </a:custGeom>
            <a:blipFill>
              <a:blip r:embed="rId2">
                <a:alphaModFix amt="0"/>
              </a:blip>
              <a:stretch>
                <a:fillRect l="0" t="-70157" r="0" b="-70157"/>
              </a:stretch>
            </a:blipFill>
          </p:spPr>
        </p:sp>
        <p:sp>
          <p:nvSpPr>
            <p:cNvPr name="TextBox 28" id="28"/>
            <p:cNvSpPr txBox="true"/>
            <p:nvPr/>
          </p:nvSpPr>
          <p:spPr>
            <a:xfrm>
              <a:off x="0" y="-47625"/>
              <a:ext cx="3383280" cy="596265"/>
            </a:xfrm>
            <a:prstGeom prst="rect">
              <a:avLst/>
            </a:prstGeom>
          </p:spPr>
          <p:txBody>
            <a:bodyPr anchor="ctr" rtlCol="false" tIns="0" lIns="0" bIns="0" rIns="0"/>
            <a:lstStyle/>
            <a:p>
              <a:pPr algn="l">
                <a:lnSpc>
                  <a:spcPts val="2340"/>
                </a:lnSpc>
              </a:pPr>
              <a:r>
                <a:rPr lang="en-US" sz="1950" b="true">
                  <a:solidFill>
                    <a:srgbClr val="ED232A"/>
                  </a:solidFill>
                  <a:latin typeface="Calibri (MS) Bold"/>
                  <a:ea typeface="Calibri (MS) Bold"/>
                  <a:cs typeface="Calibri (MS) Bold"/>
                  <a:sym typeface="Calibri (MS) Bold"/>
                </a:rPr>
                <a:t>Bias &amp; fairness</a:t>
              </a:r>
            </a:p>
          </p:txBody>
        </p:sp>
      </p:grpSp>
      <p:sp>
        <p:nvSpPr>
          <p:cNvPr name="TextBox 29" id="29"/>
          <p:cNvSpPr txBox="true"/>
          <p:nvPr/>
        </p:nvSpPr>
        <p:spPr>
          <a:xfrm rot="0">
            <a:off x="3703320" y="4053459"/>
            <a:ext cx="5829300" cy="1172337"/>
          </a:xfrm>
          <a:prstGeom prst="rect">
            <a:avLst/>
          </a:prstGeom>
        </p:spPr>
        <p:txBody>
          <a:bodyPr anchor="t" rtlCol="false" tIns="0" lIns="0" bIns="0" rIns="0">
            <a:spAutoFit/>
          </a:bodyPr>
          <a:lstStyle/>
          <a:p>
            <a:pPr algn="l">
              <a:lnSpc>
                <a:spcPts val="2100"/>
              </a:lnSpc>
            </a:pPr>
            <a:r>
              <a:rPr lang="en-US" sz="1650">
                <a:solidFill>
                  <a:srgbClr val="3D4C5A"/>
                </a:solidFill>
                <a:latin typeface="Calibri (MS)"/>
                <a:ea typeface="Calibri (MS)"/>
                <a:cs typeface="Calibri (MS)"/>
                <a:sym typeface="Calibri (MS)"/>
              </a:rPr>
              <a:t>Models may over-flag customers from particular regions, income groups or transaction styles.</a:t>
            </a:r>
          </a:p>
        </p:txBody>
      </p:sp>
      <p:sp>
        <p:nvSpPr>
          <p:cNvPr name="TextBox 30" id="30"/>
          <p:cNvSpPr txBox="true"/>
          <p:nvPr/>
        </p:nvSpPr>
        <p:spPr>
          <a:xfrm rot="0">
            <a:off x="9738360" y="4053459"/>
            <a:ext cx="7475220" cy="1172337"/>
          </a:xfrm>
          <a:prstGeom prst="rect">
            <a:avLst/>
          </a:prstGeom>
        </p:spPr>
        <p:txBody>
          <a:bodyPr anchor="t" rtlCol="false" tIns="0" lIns="0" bIns="0" rIns="0">
            <a:spAutoFit/>
          </a:bodyPr>
          <a:lstStyle/>
          <a:p>
            <a:pPr algn="l">
              <a:lnSpc>
                <a:spcPts val="2100"/>
              </a:lnSpc>
            </a:pPr>
            <a:r>
              <a:rPr lang="en-US" sz="1650">
                <a:solidFill>
                  <a:srgbClr val="004C8F"/>
                </a:solidFill>
                <a:latin typeface="Calibri (MS)"/>
                <a:ea typeface="Calibri (MS)"/>
                <a:cs typeface="Calibri (MS)"/>
                <a:sym typeface="Calibri (MS)"/>
              </a:rPr>
              <a:t>Test false-positive rates across customer segments; audit and retrain where gaps appear.</a:t>
            </a:r>
          </a:p>
        </p:txBody>
      </p:sp>
      <p:grpSp>
        <p:nvGrpSpPr>
          <p:cNvPr name="Group 31" id="31"/>
          <p:cNvGrpSpPr/>
          <p:nvPr/>
        </p:nvGrpSpPr>
        <p:grpSpPr>
          <a:xfrm rot="0">
            <a:off x="822960" y="5376672"/>
            <a:ext cx="16637508" cy="1261872"/>
            <a:chOff x="0" y="0"/>
            <a:chExt cx="22183344" cy="1682496"/>
          </a:xfrm>
        </p:grpSpPr>
        <p:sp>
          <p:nvSpPr>
            <p:cNvPr name="Freeform 32" id="32"/>
            <p:cNvSpPr/>
            <p:nvPr/>
          </p:nvSpPr>
          <p:spPr>
            <a:xfrm flipH="false" flipV="false" rot="0">
              <a:off x="0" y="0"/>
              <a:ext cx="22183344" cy="1682496"/>
            </a:xfrm>
            <a:custGeom>
              <a:avLst/>
              <a:gdLst/>
              <a:ahLst/>
              <a:cxnLst/>
              <a:rect r="r" b="b" t="t" l="l"/>
              <a:pathLst>
                <a:path h="1682496" w="22183344">
                  <a:moveTo>
                    <a:pt x="0" y="0"/>
                  </a:moveTo>
                  <a:lnTo>
                    <a:pt x="22183344" y="0"/>
                  </a:lnTo>
                  <a:lnTo>
                    <a:pt x="22183344" y="1682496"/>
                  </a:lnTo>
                  <a:lnTo>
                    <a:pt x="0" y="1682496"/>
                  </a:lnTo>
                  <a:close/>
                </a:path>
              </a:pathLst>
            </a:custGeom>
            <a:solidFill>
              <a:srgbClr val="F1F5F9"/>
            </a:solidFill>
          </p:spPr>
        </p:sp>
      </p:grpSp>
      <p:grpSp>
        <p:nvGrpSpPr>
          <p:cNvPr name="Group 33" id="33"/>
          <p:cNvGrpSpPr/>
          <p:nvPr/>
        </p:nvGrpSpPr>
        <p:grpSpPr>
          <a:xfrm rot="0">
            <a:off x="1069848" y="5458968"/>
            <a:ext cx="2537460" cy="411480"/>
            <a:chOff x="0" y="0"/>
            <a:chExt cx="3383280" cy="548640"/>
          </a:xfrm>
        </p:grpSpPr>
        <p:sp>
          <p:nvSpPr>
            <p:cNvPr name="Freeform 34" id="34"/>
            <p:cNvSpPr/>
            <p:nvPr/>
          </p:nvSpPr>
          <p:spPr>
            <a:xfrm flipH="false" flipV="false" rot="0">
              <a:off x="0" y="0"/>
              <a:ext cx="3383280" cy="548640"/>
            </a:xfrm>
            <a:custGeom>
              <a:avLst/>
              <a:gdLst/>
              <a:ahLst/>
              <a:cxnLst/>
              <a:rect r="r" b="b" t="t" l="l"/>
              <a:pathLst>
                <a:path h="548640" w="3383280">
                  <a:moveTo>
                    <a:pt x="0" y="0"/>
                  </a:moveTo>
                  <a:lnTo>
                    <a:pt x="3383280" y="0"/>
                  </a:lnTo>
                  <a:lnTo>
                    <a:pt x="3383280" y="548640"/>
                  </a:lnTo>
                  <a:lnTo>
                    <a:pt x="0" y="548640"/>
                  </a:lnTo>
                  <a:close/>
                </a:path>
              </a:pathLst>
            </a:custGeom>
            <a:blipFill>
              <a:blip r:embed="rId2">
                <a:alphaModFix amt="0"/>
              </a:blip>
              <a:stretch>
                <a:fillRect l="0" t="-70157" r="0" b="-70157"/>
              </a:stretch>
            </a:blipFill>
          </p:spPr>
        </p:sp>
        <p:sp>
          <p:nvSpPr>
            <p:cNvPr name="TextBox 35" id="35"/>
            <p:cNvSpPr txBox="true"/>
            <p:nvPr/>
          </p:nvSpPr>
          <p:spPr>
            <a:xfrm>
              <a:off x="0" y="-47625"/>
              <a:ext cx="3383280" cy="596265"/>
            </a:xfrm>
            <a:prstGeom prst="rect">
              <a:avLst/>
            </a:prstGeom>
          </p:spPr>
          <p:txBody>
            <a:bodyPr anchor="ctr" rtlCol="false" tIns="0" lIns="0" bIns="0" rIns="0"/>
            <a:lstStyle/>
            <a:p>
              <a:pPr algn="l">
                <a:lnSpc>
                  <a:spcPts val="2340"/>
                </a:lnSpc>
              </a:pPr>
              <a:r>
                <a:rPr lang="en-US" sz="1950" b="true">
                  <a:solidFill>
                    <a:srgbClr val="ED232A"/>
                  </a:solidFill>
                  <a:latin typeface="Calibri (MS) Bold"/>
                  <a:ea typeface="Calibri (MS) Bold"/>
                  <a:cs typeface="Calibri (MS) Bold"/>
                  <a:sym typeface="Calibri (MS) Bold"/>
                </a:rPr>
                <a:t>False positives</a:t>
              </a:r>
            </a:p>
          </p:txBody>
        </p:sp>
      </p:grpSp>
      <p:sp>
        <p:nvSpPr>
          <p:cNvPr name="TextBox 36" id="36"/>
          <p:cNvSpPr txBox="true"/>
          <p:nvPr/>
        </p:nvSpPr>
        <p:spPr>
          <a:xfrm rot="0">
            <a:off x="3703320" y="5411343"/>
            <a:ext cx="5829300" cy="1172337"/>
          </a:xfrm>
          <a:prstGeom prst="rect">
            <a:avLst/>
          </a:prstGeom>
        </p:spPr>
        <p:txBody>
          <a:bodyPr anchor="t" rtlCol="false" tIns="0" lIns="0" bIns="0" rIns="0">
            <a:spAutoFit/>
          </a:bodyPr>
          <a:lstStyle/>
          <a:p>
            <a:pPr algn="l">
              <a:lnSpc>
                <a:spcPts val="2100"/>
              </a:lnSpc>
            </a:pPr>
            <a:r>
              <a:rPr lang="en-US" sz="1650">
                <a:solidFill>
                  <a:srgbClr val="3D4C5A"/>
                </a:solidFill>
                <a:latin typeface="Calibri (MS)"/>
                <a:ea typeface="Calibri (MS)"/>
                <a:cs typeface="Calibri (MS)"/>
                <a:sym typeface="Calibri (MS)"/>
              </a:rPr>
              <a:t>Blocking genuine payments frustrates customers and can cost the relationship.</a:t>
            </a:r>
          </a:p>
        </p:txBody>
      </p:sp>
      <p:sp>
        <p:nvSpPr>
          <p:cNvPr name="TextBox 37" id="37"/>
          <p:cNvSpPr txBox="true"/>
          <p:nvPr/>
        </p:nvSpPr>
        <p:spPr>
          <a:xfrm rot="0">
            <a:off x="9738360" y="5411343"/>
            <a:ext cx="7475220" cy="1172337"/>
          </a:xfrm>
          <a:prstGeom prst="rect">
            <a:avLst/>
          </a:prstGeom>
        </p:spPr>
        <p:txBody>
          <a:bodyPr anchor="t" rtlCol="false" tIns="0" lIns="0" bIns="0" rIns="0">
            <a:spAutoFit/>
          </a:bodyPr>
          <a:lstStyle/>
          <a:p>
            <a:pPr algn="l">
              <a:lnSpc>
                <a:spcPts val="2100"/>
              </a:lnSpc>
            </a:pPr>
            <a:r>
              <a:rPr lang="en-US" sz="1650">
                <a:solidFill>
                  <a:srgbClr val="004C8F"/>
                </a:solidFill>
                <a:latin typeface="Calibri (MS)"/>
                <a:ea typeface="Calibri (MS)"/>
                <a:cs typeface="Calibri (MS)"/>
                <a:sym typeface="Calibri (MS)"/>
              </a:rPr>
              <a:t>Tune thresholds on business cost, not accuracy; offer instant step-up verification instead of hard blocks.</a:t>
            </a:r>
          </a:p>
        </p:txBody>
      </p:sp>
      <p:grpSp>
        <p:nvGrpSpPr>
          <p:cNvPr name="Group 38" id="38"/>
          <p:cNvGrpSpPr/>
          <p:nvPr/>
        </p:nvGrpSpPr>
        <p:grpSpPr>
          <a:xfrm rot="0">
            <a:off x="1069848" y="6816852"/>
            <a:ext cx="2537460" cy="411480"/>
            <a:chOff x="0" y="0"/>
            <a:chExt cx="3383280" cy="548640"/>
          </a:xfrm>
        </p:grpSpPr>
        <p:sp>
          <p:nvSpPr>
            <p:cNvPr name="Freeform 39" id="39"/>
            <p:cNvSpPr/>
            <p:nvPr/>
          </p:nvSpPr>
          <p:spPr>
            <a:xfrm flipH="false" flipV="false" rot="0">
              <a:off x="0" y="0"/>
              <a:ext cx="3383280" cy="548640"/>
            </a:xfrm>
            <a:custGeom>
              <a:avLst/>
              <a:gdLst/>
              <a:ahLst/>
              <a:cxnLst/>
              <a:rect r="r" b="b" t="t" l="l"/>
              <a:pathLst>
                <a:path h="548640" w="3383280">
                  <a:moveTo>
                    <a:pt x="0" y="0"/>
                  </a:moveTo>
                  <a:lnTo>
                    <a:pt x="3383280" y="0"/>
                  </a:lnTo>
                  <a:lnTo>
                    <a:pt x="3383280" y="548640"/>
                  </a:lnTo>
                  <a:lnTo>
                    <a:pt x="0" y="548640"/>
                  </a:lnTo>
                  <a:close/>
                </a:path>
              </a:pathLst>
            </a:custGeom>
            <a:blipFill>
              <a:blip r:embed="rId2">
                <a:alphaModFix amt="0"/>
              </a:blip>
              <a:stretch>
                <a:fillRect l="0" t="-70157" r="0" b="-70157"/>
              </a:stretch>
            </a:blipFill>
          </p:spPr>
        </p:sp>
        <p:sp>
          <p:nvSpPr>
            <p:cNvPr name="TextBox 40" id="40"/>
            <p:cNvSpPr txBox="true"/>
            <p:nvPr/>
          </p:nvSpPr>
          <p:spPr>
            <a:xfrm>
              <a:off x="0" y="-47625"/>
              <a:ext cx="3383280" cy="596265"/>
            </a:xfrm>
            <a:prstGeom prst="rect">
              <a:avLst/>
            </a:prstGeom>
          </p:spPr>
          <p:txBody>
            <a:bodyPr anchor="ctr" rtlCol="false" tIns="0" lIns="0" bIns="0" rIns="0"/>
            <a:lstStyle/>
            <a:p>
              <a:pPr algn="l">
                <a:lnSpc>
                  <a:spcPts val="2340"/>
                </a:lnSpc>
              </a:pPr>
              <a:r>
                <a:rPr lang="en-US" sz="1950" b="true">
                  <a:solidFill>
                    <a:srgbClr val="ED232A"/>
                  </a:solidFill>
                  <a:latin typeface="Calibri (MS) Bold"/>
                  <a:ea typeface="Calibri (MS) Bold"/>
                  <a:cs typeface="Calibri (MS) Bold"/>
                  <a:sym typeface="Calibri (MS) Bold"/>
                </a:rPr>
                <a:t>Opacity</a:t>
              </a:r>
            </a:p>
          </p:txBody>
        </p:sp>
      </p:grpSp>
      <p:sp>
        <p:nvSpPr>
          <p:cNvPr name="TextBox 41" id="41"/>
          <p:cNvSpPr txBox="true"/>
          <p:nvPr/>
        </p:nvSpPr>
        <p:spPr>
          <a:xfrm rot="0">
            <a:off x="3703320" y="6769227"/>
            <a:ext cx="5829300" cy="1172337"/>
          </a:xfrm>
          <a:prstGeom prst="rect">
            <a:avLst/>
          </a:prstGeom>
        </p:spPr>
        <p:txBody>
          <a:bodyPr anchor="t" rtlCol="false" tIns="0" lIns="0" bIns="0" rIns="0">
            <a:spAutoFit/>
          </a:bodyPr>
          <a:lstStyle/>
          <a:p>
            <a:pPr algn="l">
              <a:lnSpc>
                <a:spcPts val="2100"/>
              </a:lnSpc>
            </a:pPr>
            <a:r>
              <a:rPr lang="en-US" sz="1650">
                <a:solidFill>
                  <a:srgbClr val="3D4C5A"/>
                </a:solidFill>
                <a:latin typeface="Calibri (MS)"/>
                <a:ea typeface="Calibri (MS)"/>
                <a:cs typeface="Calibri (MS)"/>
                <a:sym typeface="Calibri (MS)"/>
              </a:rPr>
              <a:t>A complex model cannot easily explain why a transaction was blocked.</a:t>
            </a:r>
          </a:p>
        </p:txBody>
      </p:sp>
      <p:sp>
        <p:nvSpPr>
          <p:cNvPr name="TextBox 42" id="42"/>
          <p:cNvSpPr txBox="true"/>
          <p:nvPr/>
        </p:nvSpPr>
        <p:spPr>
          <a:xfrm rot="0">
            <a:off x="9738360" y="6769227"/>
            <a:ext cx="7475220" cy="1172337"/>
          </a:xfrm>
          <a:prstGeom prst="rect">
            <a:avLst/>
          </a:prstGeom>
        </p:spPr>
        <p:txBody>
          <a:bodyPr anchor="t" rtlCol="false" tIns="0" lIns="0" bIns="0" rIns="0">
            <a:spAutoFit/>
          </a:bodyPr>
          <a:lstStyle/>
          <a:p>
            <a:pPr algn="l">
              <a:lnSpc>
                <a:spcPts val="2100"/>
              </a:lnSpc>
            </a:pPr>
            <a:r>
              <a:rPr lang="en-US" sz="1650">
                <a:solidFill>
                  <a:srgbClr val="004C8F"/>
                </a:solidFill>
                <a:latin typeface="Calibri (MS)"/>
                <a:ea typeface="Calibri (MS)"/>
                <a:cs typeface="Calibri (MS)"/>
                <a:sym typeface="Calibri (MS)"/>
              </a:rPr>
              <a:t>Use explainability tools (e.g. SHAP) and keep an interpretable fallback model for audit.</a:t>
            </a:r>
          </a:p>
        </p:txBody>
      </p:sp>
      <p:grpSp>
        <p:nvGrpSpPr>
          <p:cNvPr name="Group 43" id="43"/>
          <p:cNvGrpSpPr/>
          <p:nvPr/>
        </p:nvGrpSpPr>
        <p:grpSpPr>
          <a:xfrm rot="0">
            <a:off x="822960" y="8092440"/>
            <a:ext cx="16637508" cy="1261872"/>
            <a:chOff x="0" y="0"/>
            <a:chExt cx="22183344" cy="1682496"/>
          </a:xfrm>
        </p:grpSpPr>
        <p:sp>
          <p:nvSpPr>
            <p:cNvPr name="Freeform 44" id="44"/>
            <p:cNvSpPr/>
            <p:nvPr/>
          </p:nvSpPr>
          <p:spPr>
            <a:xfrm flipH="false" flipV="false" rot="0">
              <a:off x="0" y="0"/>
              <a:ext cx="22183344" cy="1682496"/>
            </a:xfrm>
            <a:custGeom>
              <a:avLst/>
              <a:gdLst/>
              <a:ahLst/>
              <a:cxnLst/>
              <a:rect r="r" b="b" t="t" l="l"/>
              <a:pathLst>
                <a:path h="1682496" w="22183344">
                  <a:moveTo>
                    <a:pt x="0" y="0"/>
                  </a:moveTo>
                  <a:lnTo>
                    <a:pt x="22183344" y="0"/>
                  </a:lnTo>
                  <a:lnTo>
                    <a:pt x="22183344" y="1682496"/>
                  </a:lnTo>
                  <a:lnTo>
                    <a:pt x="0" y="1682496"/>
                  </a:lnTo>
                  <a:close/>
                </a:path>
              </a:pathLst>
            </a:custGeom>
            <a:solidFill>
              <a:srgbClr val="F1F5F9"/>
            </a:solidFill>
          </p:spPr>
        </p:sp>
      </p:grpSp>
      <p:grpSp>
        <p:nvGrpSpPr>
          <p:cNvPr name="Group 45" id="45"/>
          <p:cNvGrpSpPr/>
          <p:nvPr/>
        </p:nvGrpSpPr>
        <p:grpSpPr>
          <a:xfrm rot="0">
            <a:off x="1069848" y="8174736"/>
            <a:ext cx="2537460" cy="411480"/>
            <a:chOff x="0" y="0"/>
            <a:chExt cx="3383280" cy="548640"/>
          </a:xfrm>
        </p:grpSpPr>
        <p:sp>
          <p:nvSpPr>
            <p:cNvPr name="Freeform 46" id="46"/>
            <p:cNvSpPr/>
            <p:nvPr/>
          </p:nvSpPr>
          <p:spPr>
            <a:xfrm flipH="false" flipV="false" rot="0">
              <a:off x="0" y="0"/>
              <a:ext cx="3383280" cy="548640"/>
            </a:xfrm>
            <a:custGeom>
              <a:avLst/>
              <a:gdLst/>
              <a:ahLst/>
              <a:cxnLst/>
              <a:rect r="r" b="b" t="t" l="l"/>
              <a:pathLst>
                <a:path h="548640" w="3383280">
                  <a:moveTo>
                    <a:pt x="0" y="0"/>
                  </a:moveTo>
                  <a:lnTo>
                    <a:pt x="3383280" y="0"/>
                  </a:lnTo>
                  <a:lnTo>
                    <a:pt x="3383280" y="548640"/>
                  </a:lnTo>
                  <a:lnTo>
                    <a:pt x="0" y="548640"/>
                  </a:lnTo>
                  <a:close/>
                </a:path>
              </a:pathLst>
            </a:custGeom>
            <a:blipFill>
              <a:blip r:embed="rId2">
                <a:alphaModFix amt="0"/>
              </a:blip>
              <a:stretch>
                <a:fillRect l="0" t="-70157" r="0" b="-70157"/>
              </a:stretch>
            </a:blipFill>
          </p:spPr>
        </p:sp>
        <p:sp>
          <p:nvSpPr>
            <p:cNvPr name="TextBox 47" id="47"/>
            <p:cNvSpPr txBox="true"/>
            <p:nvPr/>
          </p:nvSpPr>
          <p:spPr>
            <a:xfrm>
              <a:off x="0" y="-47625"/>
              <a:ext cx="3383280" cy="596265"/>
            </a:xfrm>
            <a:prstGeom prst="rect">
              <a:avLst/>
            </a:prstGeom>
          </p:spPr>
          <p:txBody>
            <a:bodyPr anchor="ctr" rtlCol="false" tIns="0" lIns="0" bIns="0" rIns="0"/>
            <a:lstStyle/>
            <a:p>
              <a:pPr algn="l">
                <a:lnSpc>
                  <a:spcPts val="2340"/>
                </a:lnSpc>
              </a:pPr>
              <a:r>
                <a:rPr lang="en-US" sz="1950" b="true">
                  <a:solidFill>
                    <a:srgbClr val="ED232A"/>
                  </a:solidFill>
                  <a:latin typeface="Calibri (MS) Bold"/>
                  <a:ea typeface="Calibri (MS) Bold"/>
                  <a:cs typeface="Calibri (MS) Bold"/>
                  <a:sym typeface="Calibri (MS) Bold"/>
                </a:rPr>
                <a:t>Model drift</a:t>
              </a:r>
            </a:p>
          </p:txBody>
        </p:sp>
      </p:grpSp>
      <p:sp>
        <p:nvSpPr>
          <p:cNvPr name="TextBox 48" id="48"/>
          <p:cNvSpPr txBox="true"/>
          <p:nvPr/>
        </p:nvSpPr>
        <p:spPr>
          <a:xfrm rot="0">
            <a:off x="3703320" y="8127111"/>
            <a:ext cx="5829300" cy="1172337"/>
          </a:xfrm>
          <a:prstGeom prst="rect">
            <a:avLst/>
          </a:prstGeom>
        </p:spPr>
        <p:txBody>
          <a:bodyPr anchor="t" rtlCol="false" tIns="0" lIns="0" bIns="0" rIns="0">
            <a:spAutoFit/>
          </a:bodyPr>
          <a:lstStyle/>
          <a:p>
            <a:pPr algn="l">
              <a:lnSpc>
                <a:spcPts val="2100"/>
              </a:lnSpc>
            </a:pPr>
            <a:r>
              <a:rPr lang="en-US" sz="1650">
                <a:solidFill>
                  <a:srgbClr val="3D4C5A"/>
                </a:solidFill>
                <a:latin typeface="Calibri (MS)"/>
                <a:ea typeface="Calibri (MS)"/>
                <a:cs typeface="Calibri (MS)"/>
                <a:sym typeface="Calibri (MS)"/>
              </a:rPr>
              <a:t>Fraudsters change tactics, so performance silently decays over time.</a:t>
            </a:r>
          </a:p>
        </p:txBody>
      </p:sp>
      <p:sp>
        <p:nvSpPr>
          <p:cNvPr name="TextBox 49" id="49"/>
          <p:cNvSpPr txBox="true"/>
          <p:nvPr/>
        </p:nvSpPr>
        <p:spPr>
          <a:xfrm rot="0">
            <a:off x="9738360" y="8127111"/>
            <a:ext cx="7475220" cy="1172337"/>
          </a:xfrm>
          <a:prstGeom prst="rect">
            <a:avLst/>
          </a:prstGeom>
        </p:spPr>
        <p:txBody>
          <a:bodyPr anchor="t" rtlCol="false" tIns="0" lIns="0" bIns="0" rIns="0">
            <a:spAutoFit/>
          </a:bodyPr>
          <a:lstStyle/>
          <a:p>
            <a:pPr algn="l">
              <a:lnSpc>
                <a:spcPts val="2100"/>
              </a:lnSpc>
            </a:pPr>
            <a:r>
              <a:rPr lang="en-US" sz="1650">
                <a:solidFill>
                  <a:srgbClr val="004C8F"/>
                </a:solidFill>
                <a:latin typeface="Calibri (MS)"/>
                <a:ea typeface="Calibri (MS)"/>
                <a:cs typeface="Calibri (MS)"/>
                <a:sym typeface="Calibri (MS)"/>
              </a:rPr>
              <a:t>Monitor live precision and recall; retrain on a fixed schedule and after major incidents.</a:t>
            </a:r>
          </a:p>
        </p:txBody>
      </p:sp>
      <p:grpSp>
        <p:nvGrpSpPr>
          <p:cNvPr name="Group 50" id="50"/>
          <p:cNvGrpSpPr/>
          <p:nvPr/>
        </p:nvGrpSpPr>
        <p:grpSpPr>
          <a:xfrm rot="0">
            <a:off x="818198" y="9596438"/>
            <a:ext cx="16647033" cy="9658"/>
            <a:chOff x="0" y="0"/>
            <a:chExt cx="22196044" cy="12878"/>
          </a:xfrm>
        </p:grpSpPr>
        <p:sp>
          <p:nvSpPr>
            <p:cNvPr name="Freeform 51" id="51"/>
            <p:cNvSpPr/>
            <p:nvPr/>
          </p:nvSpPr>
          <p:spPr>
            <a:xfrm flipH="false" flipV="false" rot="0">
              <a:off x="0" y="0"/>
              <a:ext cx="22196044" cy="12954"/>
            </a:xfrm>
            <a:custGeom>
              <a:avLst/>
              <a:gdLst/>
              <a:ahLst/>
              <a:cxnLst/>
              <a:rect r="r" b="b" t="t" l="l"/>
              <a:pathLst>
                <a:path h="12954" w="22196044">
                  <a:moveTo>
                    <a:pt x="0" y="6477"/>
                  </a:moveTo>
                  <a:cubicBezTo>
                    <a:pt x="0" y="2921"/>
                    <a:pt x="2921" y="0"/>
                    <a:pt x="6477" y="0"/>
                  </a:cubicBezTo>
                  <a:lnTo>
                    <a:pt x="22189567" y="0"/>
                  </a:lnTo>
                  <a:cubicBezTo>
                    <a:pt x="22193123" y="0"/>
                    <a:pt x="22196044" y="2921"/>
                    <a:pt x="22196044" y="6477"/>
                  </a:cubicBezTo>
                  <a:cubicBezTo>
                    <a:pt x="22196044" y="10033"/>
                    <a:pt x="22193123" y="12954"/>
                    <a:pt x="22189567" y="12954"/>
                  </a:cubicBezTo>
                  <a:lnTo>
                    <a:pt x="6477" y="12954"/>
                  </a:lnTo>
                  <a:cubicBezTo>
                    <a:pt x="2921" y="12827"/>
                    <a:pt x="0" y="10033"/>
                    <a:pt x="0" y="6477"/>
                  </a:cubicBezTo>
                  <a:close/>
                </a:path>
              </a:pathLst>
            </a:custGeom>
            <a:solidFill>
              <a:srgbClr val="FFFFFF"/>
            </a:solidFill>
            <a:ln w="9525" cap="sq">
              <a:solidFill>
                <a:srgbClr val="FFFFFF"/>
              </a:solidFill>
              <a:prstDash val="solid"/>
              <a:miter/>
            </a:ln>
          </p:spPr>
        </p:sp>
      </p:grpSp>
      <p:grpSp>
        <p:nvGrpSpPr>
          <p:cNvPr name="Group 52" id="52"/>
          <p:cNvGrpSpPr/>
          <p:nvPr/>
        </p:nvGrpSpPr>
        <p:grpSpPr>
          <a:xfrm rot="0">
            <a:off x="822960" y="9532620"/>
            <a:ext cx="16637508" cy="548640"/>
            <a:chOff x="0" y="0"/>
            <a:chExt cx="22183344" cy="731520"/>
          </a:xfrm>
        </p:grpSpPr>
        <p:sp>
          <p:nvSpPr>
            <p:cNvPr name="Freeform 53" id="53"/>
            <p:cNvSpPr/>
            <p:nvPr/>
          </p:nvSpPr>
          <p:spPr>
            <a:xfrm flipH="false" flipV="false" rot="0">
              <a:off x="0" y="0"/>
              <a:ext cx="22183344" cy="731520"/>
            </a:xfrm>
            <a:custGeom>
              <a:avLst/>
              <a:gdLst/>
              <a:ahLst/>
              <a:cxnLst/>
              <a:rect r="r" b="b" t="t" l="l"/>
              <a:pathLst>
                <a:path h="731520" w="22183344">
                  <a:moveTo>
                    <a:pt x="0" y="0"/>
                  </a:moveTo>
                  <a:lnTo>
                    <a:pt x="22183344" y="0"/>
                  </a:lnTo>
                  <a:lnTo>
                    <a:pt x="22183344" y="731520"/>
                  </a:lnTo>
                  <a:lnTo>
                    <a:pt x="0" y="731520"/>
                  </a:lnTo>
                  <a:close/>
                </a:path>
              </a:pathLst>
            </a:custGeom>
            <a:blipFill>
              <a:blip r:embed="rId2">
                <a:alphaModFix amt="0"/>
              </a:blip>
              <a:stretch>
                <a:fillRect l="0" t="-540883" r="0" b="-540883"/>
              </a:stretch>
            </a:blipFill>
          </p:spPr>
        </p:sp>
        <p:sp>
          <p:nvSpPr>
            <p:cNvPr name="TextBox 54" id="54"/>
            <p:cNvSpPr txBox="true"/>
            <p:nvPr/>
          </p:nvSpPr>
          <p:spPr>
            <a:xfrm>
              <a:off x="0" y="-38100"/>
              <a:ext cx="22183344" cy="769620"/>
            </a:xfrm>
            <a:prstGeom prst="rect">
              <a:avLst/>
            </a:prstGeom>
          </p:spPr>
          <p:txBody>
            <a:bodyPr anchor="ctr" rtlCol="false" tIns="0" lIns="0" bIns="0" rIns="0"/>
            <a:lstStyle/>
            <a:p>
              <a:pPr algn="l">
                <a:lnSpc>
                  <a:spcPts val="2160"/>
                </a:lnSpc>
              </a:pPr>
              <a:r>
                <a:rPr lang="en-US" b="true" sz="1800" i="true">
                  <a:solidFill>
                    <a:srgbClr val="0A2540"/>
                  </a:solidFill>
                  <a:latin typeface="Calibri (MS) Bold Italics"/>
                  <a:ea typeface="Calibri (MS) Bold Italics"/>
                  <a:cs typeface="Calibri (MS) Bold Italics"/>
                  <a:sym typeface="Calibri (MS) Bold Italics"/>
                </a:rPr>
                <a:t>Responsible AI principle: the model advises, a human decides. No customer account should be permanently frozen on an algorithmic score alone.</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4264640" cy="822960"/>
            <a:chOff x="0" y="0"/>
            <a:chExt cx="19019520" cy="1097280"/>
          </a:xfrm>
        </p:grpSpPr>
        <p:sp>
          <p:nvSpPr>
            <p:cNvPr name="Freeform 3" id="3"/>
            <p:cNvSpPr/>
            <p:nvPr/>
          </p:nvSpPr>
          <p:spPr>
            <a:xfrm flipH="false" flipV="false" rot="0">
              <a:off x="0" y="0"/>
              <a:ext cx="19019520" cy="1097280"/>
            </a:xfrm>
            <a:custGeom>
              <a:avLst/>
              <a:gdLst/>
              <a:ahLst/>
              <a:cxnLst/>
              <a:rect r="r" b="b" t="t" l="l"/>
              <a:pathLst>
                <a:path h="1097280" w="19019520">
                  <a:moveTo>
                    <a:pt x="0" y="0"/>
                  </a:moveTo>
                  <a:lnTo>
                    <a:pt x="19019520" y="0"/>
                  </a:lnTo>
                  <a:lnTo>
                    <a:pt x="19019520" y="1097280"/>
                  </a:lnTo>
                  <a:lnTo>
                    <a:pt x="0" y="1097280"/>
                  </a:lnTo>
                  <a:close/>
                </a:path>
              </a:pathLst>
            </a:custGeom>
            <a:blipFill>
              <a:blip r:embed="rId2">
                <a:alphaModFix amt="0"/>
              </a:blip>
              <a:stretch>
                <a:fillRect l="0" t="-287740" r="0" b="-287740"/>
              </a:stretch>
            </a:blipFill>
          </p:spPr>
        </p:sp>
        <p:sp>
          <p:nvSpPr>
            <p:cNvPr name="TextBox 4" id="4"/>
            <p:cNvSpPr txBox="true"/>
            <p:nvPr/>
          </p:nvSpPr>
          <p:spPr>
            <a:xfrm>
              <a:off x="0" y="-9525"/>
              <a:ext cx="19019520" cy="1106805"/>
            </a:xfrm>
            <a:prstGeom prst="rect">
              <a:avLst/>
            </a:prstGeom>
          </p:spPr>
          <p:txBody>
            <a:bodyPr anchor="ctr" rtlCol="false" tIns="0" lIns="0" bIns="0" rIns="0"/>
            <a:lstStyle/>
            <a:p>
              <a:pPr algn="l">
                <a:lnSpc>
                  <a:spcPts val="5759"/>
                </a:lnSpc>
              </a:pPr>
              <a:r>
                <a:rPr lang="en-US" sz="4800" b="true">
                  <a:solidFill>
                    <a:srgbClr val="0A2540"/>
                  </a:solidFill>
                  <a:latin typeface="Cambria Bold"/>
                  <a:ea typeface="Cambria Bold"/>
                  <a:cs typeface="Cambria Bold"/>
                  <a:sym typeface="Cambria Bold"/>
                </a:rPr>
                <a:t>AI Tools &amp; Prompts Used</a:t>
              </a:r>
            </a:p>
          </p:txBody>
        </p:sp>
      </p:grpSp>
      <p:grpSp>
        <p:nvGrpSpPr>
          <p:cNvPr name="Group 5" id="5"/>
          <p:cNvGrpSpPr/>
          <p:nvPr/>
        </p:nvGrpSpPr>
        <p:grpSpPr>
          <a:xfrm rot="0">
            <a:off x="822960" y="1426464"/>
            <a:ext cx="14264640" cy="438912"/>
            <a:chOff x="0" y="0"/>
            <a:chExt cx="19019520" cy="585216"/>
          </a:xfrm>
        </p:grpSpPr>
        <p:sp>
          <p:nvSpPr>
            <p:cNvPr name="Freeform 6" id="6"/>
            <p:cNvSpPr/>
            <p:nvPr/>
          </p:nvSpPr>
          <p:spPr>
            <a:xfrm flipH="false" flipV="false" rot="0">
              <a:off x="0" y="0"/>
              <a:ext cx="19019520" cy="585216"/>
            </a:xfrm>
            <a:custGeom>
              <a:avLst/>
              <a:gdLst/>
              <a:ahLst/>
              <a:cxnLst/>
              <a:rect r="r" b="b" t="t" l="l"/>
              <a:pathLst>
                <a:path h="585216" w="19019520">
                  <a:moveTo>
                    <a:pt x="0" y="0"/>
                  </a:moveTo>
                  <a:lnTo>
                    <a:pt x="19019520" y="0"/>
                  </a:lnTo>
                  <a:lnTo>
                    <a:pt x="19019520" y="585216"/>
                  </a:lnTo>
                  <a:lnTo>
                    <a:pt x="0" y="585216"/>
                  </a:lnTo>
                  <a:close/>
                </a:path>
              </a:pathLst>
            </a:custGeom>
            <a:blipFill>
              <a:blip r:embed="rId2">
                <a:alphaModFix amt="0"/>
              </a:blip>
              <a:stretch>
                <a:fillRect l="0" t="-583263" r="0" b="-583263"/>
              </a:stretch>
            </a:blipFill>
          </p:spPr>
        </p:sp>
        <p:sp>
          <p:nvSpPr>
            <p:cNvPr name="TextBox 7" id="7"/>
            <p:cNvSpPr txBox="true"/>
            <p:nvPr/>
          </p:nvSpPr>
          <p:spPr>
            <a:xfrm>
              <a:off x="0" y="-47625"/>
              <a:ext cx="19019520" cy="632841"/>
            </a:xfrm>
            <a:prstGeom prst="rect">
              <a:avLst/>
            </a:prstGeom>
          </p:spPr>
          <p:txBody>
            <a:bodyPr anchor="ctr" rtlCol="false" tIns="0" lIns="0" bIns="0" rIns="0"/>
            <a:lstStyle/>
            <a:p>
              <a:pPr algn="l">
                <a:lnSpc>
                  <a:spcPts val="2340"/>
                </a:lnSpc>
              </a:pPr>
              <a:r>
                <a:rPr lang="en-US" sz="1950" i="true">
                  <a:solidFill>
                    <a:srgbClr val="5A6B7C"/>
                  </a:solidFill>
                  <a:latin typeface="Calibri (MS) Italics"/>
                  <a:ea typeface="Calibri (MS) Italics"/>
                  <a:cs typeface="Calibri (MS) Italics"/>
                  <a:sym typeface="Calibri (MS) Italics"/>
                </a:rPr>
                <a:t>Part B — How Generative AI supported this research</a:t>
              </a:r>
            </a:p>
          </p:txBody>
        </p:sp>
      </p:grpSp>
      <p:grpSp>
        <p:nvGrpSpPr>
          <p:cNvPr name="Group 8" id="8"/>
          <p:cNvGrpSpPr/>
          <p:nvPr/>
        </p:nvGrpSpPr>
        <p:grpSpPr>
          <a:xfrm rot="0">
            <a:off x="16664940" y="576072"/>
            <a:ext cx="850392" cy="850392"/>
            <a:chOff x="0" y="0"/>
            <a:chExt cx="1133856" cy="1133856"/>
          </a:xfrm>
        </p:grpSpPr>
        <p:sp>
          <p:nvSpPr>
            <p:cNvPr name="Freeform 9" id="9"/>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F1F5F9"/>
            </a:solidFill>
          </p:spPr>
        </p:sp>
      </p:grpSp>
      <p:grpSp>
        <p:nvGrpSpPr>
          <p:cNvPr name="Group 10" id="10"/>
          <p:cNvGrpSpPr/>
          <p:nvPr/>
        </p:nvGrpSpPr>
        <p:grpSpPr>
          <a:xfrm rot="0">
            <a:off x="16664940" y="576072"/>
            <a:ext cx="850392" cy="850392"/>
            <a:chOff x="0" y="0"/>
            <a:chExt cx="1133856" cy="1133856"/>
          </a:xfrm>
        </p:grpSpPr>
        <p:sp>
          <p:nvSpPr>
            <p:cNvPr name="Freeform 11" id="11"/>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2">
                <a:alphaModFix amt="0"/>
              </a:blip>
              <a:stretch>
                <a:fillRect l="-78303" t="0" r="-78303" b="0"/>
              </a:stretch>
            </a:blipFill>
          </p:spPr>
        </p:sp>
        <p:sp>
          <p:nvSpPr>
            <p:cNvPr name="TextBox 12" id="12"/>
            <p:cNvSpPr txBox="true"/>
            <p:nvPr/>
          </p:nvSpPr>
          <p:spPr>
            <a:xfrm>
              <a:off x="0" y="-9525"/>
              <a:ext cx="1133856" cy="1143381"/>
            </a:xfrm>
            <a:prstGeom prst="rect">
              <a:avLst/>
            </a:prstGeom>
          </p:spPr>
          <p:txBody>
            <a:bodyPr anchor="ctr" rtlCol="false" tIns="0" lIns="0" bIns="0" rIns="0"/>
            <a:lstStyle/>
            <a:p>
              <a:pPr algn="ctr">
                <a:lnSpc>
                  <a:spcPts val="2879"/>
                </a:lnSpc>
              </a:pPr>
              <a:r>
                <a:rPr lang="en-US" sz="2400" b="true">
                  <a:solidFill>
                    <a:srgbClr val="004C8F"/>
                  </a:solidFill>
                  <a:latin typeface="Cambria Bold"/>
                  <a:ea typeface="Cambria Bold"/>
                  <a:cs typeface="Cambria Bold"/>
                  <a:sym typeface="Cambria Bold"/>
                </a:rPr>
                <a:t>9</a:t>
              </a:r>
            </a:p>
          </p:txBody>
        </p:sp>
      </p:grpSp>
      <p:grpSp>
        <p:nvGrpSpPr>
          <p:cNvPr name="Group 13" id="13"/>
          <p:cNvGrpSpPr/>
          <p:nvPr/>
        </p:nvGrpSpPr>
        <p:grpSpPr>
          <a:xfrm rot="0">
            <a:off x="813435" y="2253615"/>
            <a:ext cx="7768590" cy="1774698"/>
            <a:chOff x="0" y="0"/>
            <a:chExt cx="10358120" cy="2366264"/>
          </a:xfrm>
        </p:grpSpPr>
        <p:sp>
          <p:nvSpPr>
            <p:cNvPr name="Freeform 14" id="14"/>
            <p:cNvSpPr/>
            <p:nvPr/>
          </p:nvSpPr>
          <p:spPr>
            <a:xfrm flipH="false" flipV="false" rot="0">
              <a:off x="0" y="0"/>
              <a:ext cx="10357993" cy="2366264"/>
            </a:xfrm>
            <a:custGeom>
              <a:avLst/>
              <a:gdLst/>
              <a:ahLst/>
              <a:cxnLst/>
              <a:rect r="r" b="b" t="t" l="l"/>
              <a:pathLst>
                <a:path h="2366264" w="10357993">
                  <a:moveTo>
                    <a:pt x="0" y="147828"/>
                  </a:moveTo>
                  <a:cubicBezTo>
                    <a:pt x="0" y="66167"/>
                    <a:pt x="66167" y="0"/>
                    <a:pt x="147828" y="0"/>
                  </a:cubicBezTo>
                  <a:lnTo>
                    <a:pt x="10210165" y="0"/>
                  </a:lnTo>
                  <a:cubicBezTo>
                    <a:pt x="10291826" y="0"/>
                    <a:pt x="10357993" y="66167"/>
                    <a:pt x="10357993" y="147828"/>
                  </a:cubicBezTo>
                  <a:lnTo>
                    <a:pt x="10357993" y="2218309"/>
                  </a:lnTo>
                  <a:cubicBezTo>
                    <a:pt x="10357993" y="2299970"/>
                    <a:pt x="10291826" y="2366264"/>
                    <a:pt x="10210165" y="2366264"/>
                  </a:cubicBezTo>
                  <a:lnTo>
                    <a:pt x="147828" y="2366264"/>
                  </a:lnTo>
                  <a:cubicBezTo>
                    <a:pt x="66167" y="2366264"/>
                    <a:pt x="0" y="2300097"/>
                    <a:pt x="0" y="2218309"/>
                  </a:cubicBezTo>
                  <a:close/>
                </a:path>
              </a:pathLst>
            </a:custGeom>
            <a:solidFill>
              <a:srgbClr val="F1F5F9"/>
            </a:solidFill>
            <a:ln w="19050" cap="sq">
              <a:solidFill>
                <a:srgbClr val="F1F5F9"/>
              </a:solidFill>
              <a:prstDash val="solid"/>
              <a:miter/>
            </a:ln>
          </p:spPr>
        </p:sp>
      </p:grpSp>
      <p:grpSp>
        <p:nvGrpSpPr>
          <p:cNvPr name="Group 15" id="15"/>
          <p:cNvGrpSpPr/>
          <p:nvPr/>
        </p:nvGrpSpPr>
        <p:grpSpPr>
          <a:xfrm rot="0">
            <a:off x="1234440" y="2468880"/>
            <a:ext cx="4114800" cy="384048"/>
            <a:chOff x="0" y="0"/>
            <a:chExt cx="5486400" cy="512064"/>
          </a:xfrm>
        </p:grpSpPr>
        <p:sp>
          <p:nvSpPr>
            <p:cNvPr name="Freeform 16" id="16"/>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2">
                <a:alphaModFix amt="0"/>
              </a:blip>
              <a:stretch>
                <a:fillRect l="0" t="-158768" r="0" b="-158768"/>
              </a:stretch>
            </a:blipFill>
          </p:spPr>
        </p:sp>
        <p:sp>
          <p:nvSpPr>
            <p:cNvPr name="TextBox 17" id="17"/>
            <p:cNvSpPr txBox="true"/>
            <p:nvPr/>
          </p:nvSpPr>
          <p:spPr>
            <a:xfrm>
              <a:off x="0" y="-28575"/>
              <a:ext cx="5486400" cy="540639"/>
            </a:xfrm>
            <a:prstGeom prst="rect">
              <a:avLst/>
            </a:prstGeom>
          </p:spPr>
          <p:txBody>
            <a:bodyPr anchor="ctr" rtlCol="false" tIns="0" lIns="0" bIns="0" rIns="0"/>
            <a:lstStyle/>
            <a:p>
              <a:pPr algn="l">
                <a:lnSpc>
                  <a:spcPts val="1980"/>
                </a:lnSpc>
              </a:pPr>
              <a:r>
                <a:rPr lang="en-US" b="true" sz="1650" spc="150">
                  <a:solidFill>
                    <a:srgbClr val="5A6B7C"/>
                  </a:solidFill>
                  <a:latin typeface="Calibri (MS) Bold"/>
                  <a:ea typeface="Calibri (MS) Bold"/>
                  <a:cs typeface="Calibri (MS) Bold"/>
                  <a:sym typeface="Calibri (MS) Bold"/>
                </a:rPr>
                <a:t>Tool used</a:t>
              </a:r>
            </a:p>
          </p:txBody>
        </p:sp>
      </p:grpSp>
      <p:grpSp>
        <p:nvGrpSpPr>
          <p:cNvPr name="Group 18" id="18"/>
          <p:cNvGrpSpPr/>
          <p:nvPr/>
        </p:nvGrpSpPr>
        <p:grpSpPr>
          <a:xfrm rot="0">
            <a:off x="1234440" y="2825496"/>
            <a:ext cx="4114800" cy="493776"/>
            <a:chOff x="0" y="0"/>
            <a:chExt cx="5486400" cy="658368"/>
          </a:xfrm>
        </p:grpSpPr>
        <p:sp>
          <p:nvSpPr>
            <p:cNvPr name="Freeform 19" id="19"/>
            <p:cNvSpPr/>
            <p:nvPr/>
          </p:nvSpPr>
          <p:spPr>
            <a:xfrm flipH="false" flipV="false" rot="0">
              <a:off x="0" y="0"/>
              <a:ext cx="5486400" cy="658368"/>
            </a:xfrm>
            <a:custGeom>
              <a:avLst/>
              <a:gdLst/>
              <a:ahLst/>
              <a:cxnLst/>
              <a:rect r="r" b="b" t="t" l="l"/>
              <a:pathLst>
                <a:path h="658368" w="5486400">
                  <a:moveTo>
                    <a:pt x="0" y="0"/>
                  </a:moveTo>
                  <a:lnTo>
                    <a:pt x="5486400" y="0"/>
                  </a:lnTo>
                  <a:lnTo>
                    <a:pt x="5486400" y="658368"/>
                  </a:lnTo>
                  <a:lnTo>
                    <a:pt x="0" y="658368"/>
                  </a:lnTo>
                  <a:close/>
                </a:path>
              </a:pathLst>
            </a:custGeom>
            <a:blipFill>
              <a:blip r:embed="rId2">
                <a:alphaModFix amt="0"/>
              </a:blip>
              <a:stretch>
                <a:fillRect l="0" t="-112375" r="0" b="-112375"/>
              </a:stretch>
            </a:blipFill>
          </p:spPr>
        </p:sp>
        <p:sp>
          <p:nvSpPr>
            <p:cNvPr name="TextBox 20" id="20"/>
            <p:cNvSpPr txBox="true"/>
            <p:nvPr/>
          </p:nvSpPr>
          <p:spPr>
            <a:xfrm>
              <a:off x="0" y="-19050"/>
              <a:ext cx="5486400" cy="677418"/>
            </a:xfrm>
            <a:prstGeom prst="rect">
              <a:avLst/>
            </a:prstGeom>
          </p:spPr>
          <p:txBody>
            <a:bodyPr anchor="ctr" rtlCol="false" tIns="0" lIns="0" bIns="0" rIns="0"/>
            <a:lstStyle/>
            <a:p>
              <a:pPr algn="l">
                <a:lnSpc>
                  <a:spcPts val="3600"/>
                </a:lnSpc>
              </a:pPr>
              <a:r>
                <a:rPr lang="en-US" sz="3000" b="true">
                  <a:solidFill>
                    <a:srgbClr val="004C8F"/>
                  </a:solidFill>
                  <a:latin typeface="Cambria Bold"/>
                  <a:ea typeface="Cambria Bold"/>
                  <a:cs typeface="Cambria Bold"/>
                  <a:sym typeface="Cambria Bold"/>
                </a:rPr>
                <a:t>Claude</a:t>
              </a:r>
            </a:p>
          </p:txBody>
        </p:sp>
      </p:grpSp>
      <p:grpSp>
        <p:nvGrpSpPr>
          <p:cNvPr name="Group 21" id="21"/>
          <p:cNvGrpSpPr/>
          <p:nvPr/>
        </p:nvGrpSpPr>
        <p:grpSpPr>
          <a:xfrm rot="0">
            <a:off x="1234440" y="3346704"/>
            <a:ext cx="6926580" cy="754380"/>
            <a:chOff x="0" y="0"/>
            <a:chExt cx="9235440" cy="1005840"/>
          </a:xfrm>
        </p:grpSpPr>
        <p:sp>
          <p:nvSpPr>
            <p:cNvPr name="Freeform 22" id="22"/>
            <p:cNvSpPr/>
            <p:nvPr/>
          </p:nvSpPr>
          <p:spPr>
            <a:xfrm flipH="false" flipV="false" rot="0">
              <a:off x="0" y="0"/>
              <a:ext cx="9235440" cy="1005840"/>
            </a:xfrm>
            <a:custGeom>
              <a:avLst/>
              <a:gdLst/>
              <a:ahLst/>
              <a:cxnLst/>
              <a:rect r="r" b="b" t="t" l="l"/>
              <a:pathLst>
                <a:path h="1005840" w="9235440">
                  <a:moveTo>
                    <a:pt x="0" y="0"/>
                  </a:moveTo>
                  <a:lnTo>
                    <a:pt x="9235440" y="0"/>
                  </a:lnTo>
                  <a:lnTo>
                    <a:pt x="9235440" y="1005840"/>
                  </a:lnTo>
                  <a:lnTo>
                    <a:pt x="0" y="1005840"/>
                  </a:lnTo>
                  <a:close/>
                </a:path>
              </a:pathLst>
            </a:custGeom>
            <a:blipFill>
              <a:blip r:embed="rId2">
                <a:alphaModFix amt="0"/>
              </a:blip>
              <a:stretch>
                <a:fillRect l="0" t="-128908" r="0" b="-128908"/>
              </a:stretch>
            </a:blipFill>
          </p:spPr>
        </p:sp>
        <p:sp>
          <p:nvSpPr>
            <p:cNvPr name="TextBox 23" id="23"/>
            <p:cNvSpPr txBox="true"/>
            <p:nvPr/>
          </p:nvSpPr>
          <p:spPr>
            <a:xfrm>
              <a:off x="0" y="-38100"/>
              <a:ext cx="9235440" cy="1043940"/>
            </a:xfrm>
            <a:prstGeom prst="rect">
              <a:avLst/>
            </a:prstGeom>
          </p:spPr>
          <p:txBody>
            <a:bodyPr anchor="ctr" rtlCol="false" tIns="0" lIns="0" bIns="0" rIns="0"/>
            <a:lstStyle/>
            <a:p>
              <a:pPr algn="l">
                <a:lnSpc>
                  <a:spcPts val="2099"/>
                </a:lnSpc>
              </a:pPr>
              <a:r>
                <a:rPr lang="en-US" sz="1575">
                  <a:solidFill>
                    <a:srgbClr val="5A6B7C"/>
                  </a:solidFill>
                  <a:latin typeface="Calibri (MS)"/>
                  <a:ea typeface="Calibri (MS)"/>
                  <a:cs typeface="Calibri (MS)"/>
                  <a:sym typeface="Calibri (MS)"/>
                </a:rPr>
                <a:t>Used for structuring the case study, running live searches against RBI and HDFC's own filings, cross-checking figures, and generating this deck.</a:t>
              </a:r>
            </a:p>
          </p:txBody>
        </p:sp>
      </p:grpSp>
      <p:grpSp>
        <p:nvGrpSpPr>
          <p:cNvPr name="Group 24" id="24"/>
          <p:cNvGrpSpPr/>
          <p:nvPr/>
        </p:nvGrpSpPr>
        <p:grpSpPr>
          <a:xfrm rot="0">
            <a:off x="822960" y="4183380"/>
            <a:ext cx="8229600" cy="438912"/>
            <a:chOff x="0" y="0"/>
            <a:chExt cx="10972800" cy="585216"/>
          </a:xfrm>
        </p:grpSpPr>
        <p:sp>
          <p:nvSpPr>
            <p:cNvPr name="Freeform 25" id="25"/>
            <p:cNvSpPr/>
            <p:nvPr/>
          </p:nvSpPr>
          <p:spPr>
            <a:xfrm flipH="false" flipV="false" rot="0">
              <a:off x="0" y="0"/>
              <a:ext cx="10972800" cy="585216"/>
            </a:xfrm>
            <a:custGeom>
              <a:avLst/>
              <a:gdLst/>
              <a:ahLst/>
              <a:cxnLst/>
              <a:rect r="r" b="b" t="t" l="l"/>
              <a:pathLst>
                <a:path h="585216" w="10972800">
                  <a:moveTo>
                    <a:pt x="0" y="0"/>
                  </a:moveTo>
                  <a:lnTo>
                    <a:pt x="10972800" y="0"/>
                  </a:lnTo>
                  <a:lnTo>
                    <a:pt x="10972800" y="585216"/>
                  </a:lnTo>
                  <a:lnTo>
                    <a:pt x="0" y="585216"/>
                  </a:lnTo>
                  <a:close/>
                </a:path>
              </a:pathLst>
            </a:custGeom>
            <a:blipFill>
              <a:blip r:embed="rId2">
                <a:alphaModFix amt="0"/>
              </a:blip>
              <a:stretch>
                <a:fillRect l="0" t="-315344" r="0" b="-315344"/>
              </a:stretch>
            </a:blipFill>
          </p:spPr>
        </p:sp>
        <p:sp>
          <p:nvSpPr>
            <p:cNvPr name="TextBox 26" id="26"/>
            <p:cNvSpPr txBox="true"/>
            <p:nvPr/>
          </p:nvSpPr>
          <p:spPr>
            <a:xfrm>
              <a:off x="0" y="-57150"/>
              <a:ext cx="10972800" cy="642366"/>
            </a:xfrm>
            <a:prstGeom prst="rect">
              <a:avLst/>
            </a:prstGeom>
          </p:spPr>
          <p:txBody>
            <a:bodyPr anchor="ctr" rtlCol="false" tIns="0" lIns="0" bIns="0" rIns="0"/>
            <a:lstStyle/>
            <a:p>
              <a:pPr algn="l">
                <a:lnSpc>
                  <a:spcPts val="2700"/>
                </a:lnSpc>
              </a:pPr>
              <a:r>
                <a:rPr lang="en-US" sz="2250" b="true">
                  <a:solidFill>
                    <a:srgbClr val="0A2540"/>
                  </a:solidFill>
                  <a:latin typeface="Calibri (MS) Bold"/>
                  <a:ea typeface="Calibri (MS) Bold"/>
                  <a:cs typeface="Calibri (MS) Bold"/>
                  <a:sym typeface="Calibri (MS) Bold"/>
                </a:rPr>
                <a:t>Research prompts used</a:t>
              </a:r>
            </a:p>
          </p:txBody>
        </p:sp>
      </p:grpSp>
      <p:grpSp>
        <p:nvGrpSpPr>
          <p:cNvPr name="Group 27" id="27"/>
          <p:cNvGrpSpPr/>
          <p:nvPr/>
        </p:nvGrpSpPr>
        <p:grpSpPr>
          <a:xfrm rot="0">
            <a:off x="813435" y="4722495"/>
            <a:ext cx="16656558" cy="1116330"/>
            <a:chOff x="0" y="0"/>
            <a:chExt cx="22208744" cy="1488440"/>
          </a:xfrm>
        </p:grpSpPr>
        <p:sp>
          <p:nvSpPr>
            <p:cNvPr name="Freeform 28" id="28"/>
            <p:cNvSpPr/>
            <p:nvPr/>
          </p:nvSpPr>
          <p:spPr>
            <a:xfrm flipH="false" flipV="false" rot="0">
              <a:off x="0" y="0"/>
              <a:ext cx="22208744" cy="1488440"/>
            </a:xfrm>
            <a:custGeom>
              <a:avLst/>
              <a:gdLst/>
              <a:ahLst/>
              <a:cxnLst/>
              <a:rect r="r" b="b" t="t" l="l"/>
              <a:pathLst>
                <a:path h="1488440" w="22208744">
                  <a:moveTo>
                    <a:pt x="0" y="148844"/>
                  </a:moveTo>
                  <a:cubicBezTo>
                    <a:pt x="0" y="66675"/>
                    <a:pt x="66675" y="0"/>
                    <a:pt x="148844" y="0"/>
                  </a:cubicBezTo>
                  <a:lnTo>
                    <a:pt x="22059900" y="0"/>
                  </a:lnTo>
                  <a:cubicBezTo>
                    <a:pt x="22142069" y="0"/>
                    <a:pt x="22208744" y="66675"/>
                    <a:pt x="22208744" y="148844"/>
                  </a:cubicBezTo>
                  <a:lnTo>
                    <a:pt x="22208744" y="1339596"/>
                  </a:lnTo>
                  <a:cubicBezTo>
                    <a:pt x="22208744" y="1421765"/>
                    <a:pt x="22142069" y="1488440"/>
                    <a:pt x="22059900" y="1488440"/>
                  </a:cubicBezTo>
                  <a:lnTo>
                    <a:pt x="148844" y="1488440"/>
                  </a:lnTo>
                  <a:cubicBezTo>
                    <a:pt x="66675" y="1488440"/>
                    <a:pt x="0" y="1421765"/>
                    <a:pt x="0" y="1339596"/>
                  </a:cubicBezTo>
                  <a:close/>
                </a:path>
              </a:pathLst>
            </a:custGeom>
            <a:solidFill>
              <a:srgbClr val="FFFFFF"/>
            </a:solidFill>
            <a:ln w="19050" cap="sq">
              <a:solidFill>
                <a:srgbClr val="DCE4EC"/>
              </a:solidFill>
              <a:prstDash val="solid"/>
              <a:miter/>
            </a:ln>
          </p:spPr>
        </p:sp>
      </p:grpSp>
      <p:grpSp>
        <p:nvGrpSpPr>
          <p:cNvPr name="Group 29" id="29"/>
          <p:cNvGrpSpPr/>
          <p:nvPr/>
        </p:nvGrpSpPr>
        <p:grpSpPr>
          <a:xfrm rot="0">
            <a:off x="1097280" y="5033772"/>
            <a:ext cx="493776" cy="493776"/>
            <a:chOff x="0" y="0"/>
            <a:chExt cx="658368" cy="658368"/>
          </a:xfrm>
        </p:grpSpPr>
        <p:sp>
          <p:nvSpPr>
            <p:cNvPr name="Freeform 30" id="30"/>
            <p:cNvSpPr/>
            <p:nvPr/>
          </p:nvSpPr>
          <p:spPr>
            <a:xfrm flipH="false" flipV="false" rot="0">
              <a:off x="0" y="0"/>
              <a:ext cx="658368" cy="658368"/>
            </a:xfrm>
            <a:custGeom>
              <a:avLst/>
              <a:gdLst/>
              <a:ahLst/>
              <a:cxnLst/>
              <a:rect r="r" b="b" t="t" l="l"/>
              <a:pathLst>
                <a:path h="658368" w="658368">
                  <a:moveTo>
                    <a:pt x="0" y="329184"/>
                  </a:moveTo>
                  <a:cubicBezTo>
                    <a:pt x="0" y="147320"/>
                    <a:pt x="147320" y="0"/>
                    <a:pt x="329184" y="0"/>
                  </a:cubicBezTo>
                  <a:cubicBezTo>
                    <a:pt x="511048" y="0"/>
                    <a:pt x="658368" y="147320"/>
                    <a:pt x="658368" y="329184"/>
                  </a:cubicBezTo>
                  <a:cubicBezTo>
                    <a:pt x="658368" y="511048"/>
                    <a:pt x="511048" y="658368"/>
                    <a:pt x="329184" y="658368"/>
                  </a:cubicBezTo>
                  <a:cubicBezTo>
                    <a:pt x="147320" y="658368"/>
                    <a:pt x="0" y="511048"/>
                    <a:pt x="0" y="329184"/>
                  </a:cubicBezTo>
                  <a:close/>
                </a:path>
              </a:pathLst>
            </a:custGeom>
            <a:solidFill>
              <a:srgbClr val="004C8F"/>
            </a:solidFill>
          </p:spPr>
        </p:sp>
      </p:grpSp>
      <p:grpSp>
        <p:nvGrpSpPr>
          <p:cNvPr name="Group 31" id="31"/>
          <p:cNvGrpSpPr/>
          <p:nvPr/>
        </p:nvGrpSpPr>
        <p:grpSpPr>
          <a:xfrm rot="0">
            <a:off x="1097280" y="5033772"/>
            <a:ext cx="493776" cy="493776"/>
            <a:chOff x="0" y="0"/>
            <a:chExt cx="658368" cy="658368"/>
          </a:xfrm>
        </p:grpSpPr>
        <p:sp>
          <p:nvSpPr>
            <p:cNvPr name="Freeform 32" id="32"/>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close/>
                </a:path>
              </a:pathLst>
            </a:custGeom>
            <a:blipFill>
              <a:blip r:embed="rId2">
                <a:alphaModFix amt="0"/>
              </a:blip>
              <a:stretch>
                <a:fillRect l="-78303" t="0" r="-78303" b="0"/>
              </a:stretch>
            </a:blipFill>
          </p:spPr>
        </p:sp>
        <p:sp>
          <p:nvSpPr>
            <p:cNvPr name="TextBox 33" id="33"/>
            <p:cNvSpPr txBox="true"/>
            <p:nvPr/>
          </p:nvSpPr>
          <p:spPr>
            <a:xfrm>
              <a:off x="0" y="-47625"/>
              <a:ext cx="658368" cy="705993"/>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1</a:t>
              </a:r>
            </a:p>
          </p:txBody>
        </p:sp>
      </p:grpSp>
      <p:grpSp>
        <p:nvGrpSpPr>
          <p:cNvPr name="Group 34" id="34"/>
          <p:cNvGrpSpPr/>
          <p:nvPr/>
        </p:nvGrpSpPr>
        <p:grpSpPr>
          <a:xfrm rot="0">
            <a:off x="1851660" y="4869180"/>
            <a:ext cx="9464040" cy="822960"/>
            <a:chOff x="0" y="0"/>
            <a:chExt cx="12618720" cy="1097280"/>
          </a:xfrm>
        </p:grpSpPr>
        <p:sp>
          <p:nvSpPr>
            <p:cNvPr name="Freeform 35" id="35"/>
            <p:cNvSpPr/>
            <p:nvPr/>
          </p:nvSpPr>
          <p:spPr>
            <a:xfrm flipH="false" flipV="false" rot="0">
              <a:off x="0" y="0"/>
              <a:ext cx="12618720" cy="1097280"/>
            </a:xfrm>
            <a:custGeom>
              <a:avLst/>
              <a:gdLst/>
              <a:ahLst/>
              <a:cxnLst/>
              <a:rect r="r" b="b" t="t" l="l"/>
              <a:pathLst>
                <a:path h="1097280" w="12618720">
                  <a:moveTo>
                    <a:pt x="0" y="0"/>
                  </a:moveTo>
                  <a:lnTo>
                    <a:pt x="12618720" y="0"/>
                  </a:lnTo>
                  <a:lnTo>
                    <a:pt x="12618720" y="1097280"/>
                  </a:lnTo>
                  <a:lnTo>
                    <a:pt x="0" y="1097280"/>
                  </a:lnTo>
                  <a:close/>
                </a:path>
              </a:pathLst>
            </a:custGeom>
            <a:blipFill>
              <a:blip r:embed="rId2">
                <a:alphaModFix amt="0"/>
              </a:blip>
              <a:stretch>
                <a:fillRect l="0" t="-174077" r="0" b="-174077"/>
              </a:stretch>
            </a:blipFill>
          </p:spPr>
        </p:sp>
        <p:sp>
          <p:nvSpPr>
            <p:cNvPr name="TextBox 36" id="36"/>
            <p:cNvSpPr txBox="true"/>
            <p:nvPr/>
          </p:nvSpPr>
          <p:spPr>
            <a:xfrm>
              <a:off x="0" y="-38100"/>
              <a:ext cx="12618720" cy="1135380"/>
            </a:xfrm>
            <a:prstGeom prst="rect">
              <a:avLst/>
            </a:prstGeom>
          </p:spPr>
          <p:txBody>
            <a:bodyPr anchor="ctr" rtlCol="false" tIns="0" lIns="0" bIns="0" rIns="0"/>
            <a:lstStyle/>
            <a:p>
              <a:pPr algn="l">
                <a:lnSpc>
                  <a:spcPts val="2099"/>
                </a:lnSpc>
              </a:pPr>
              <a:r>
                <a:rPr lang="en-US" sz="1725" i="true">
                  <a:solidFill>
                    <a:srgbClr val="0A2540"/>
                  </a:solidFill>
                  <a:latin typeface="Calibri (MS) Italics"/>
                  <a:ea typeface="Calibri (MS) Italics"/>
                  <a:cs typeface="Calibri (MS) Italics"/>
                  <a:sym typeface="Calibri (MS) Italics"/>
                </a:rPr>
                <a:t>“HDFC Bank AI fraud detection machine learning”</a:t>
              </a:r>
            </a:p>
          </p:txBody>
        </p:sp>
      </p:grpSp>
      <p:grpSp>
        <p:nvGrpSpPr>
          <p:cNvPr name="Group 37" id="37"/>
          <p:cNvGrpSpPr/>
          <p:nvPr/>
        </p:nvGrpSpPr>
        <p:grpSpPr>
          <a:xfrm rot="0">
            <a:off x="11521440" y="4869180"/>
            <a:ext cx="5623560" cy="822960"/>
            <a:chOff x="0" y="0"/>
            <a:chExt cx="7498080" cy="1097280"/>
          </a:xfrm>
        </p:grpSpPr>
        <p:sp>
          <p:nvSpPr>
            <p:cNvPr name="Freeform 38" id="38"/>
            <p:cNvSpPr/>
            <p:nvPr/>
          </p:nvSpPr>
          <p:spPr>
            <a:xfrm flipH="false" flipV="false" rot="0">
              <a:off x="0" y="0"/>
              <a:ext cx="7498080" cy="1097280"/>
            </a:xfrm>
            <a:custGeom>
              <a:avLst/>
              <a:gdLst/>
              <a:ahLst/>
              <a:cxnLst/>
              <a:rect r="r" b="b" t="t" l="l"/>
              <a:pathLst>
                <a:path h="1097280" w="7498080">
                  <a:moveTo>
                    <a:pt x="0" y="0"/>
                  </a:moveTo>
                  <a:lnTo>
                    <a:pt x="7498080" y="0"/>
                  </a:lnTo>
                  <a:lnTo>
                    <a:pt x="7498080" y="1097280"/>
                  </a:lnTo>
                  <a:lnTo>
                    <a:pt x="0" y="1097280"/>
                  </a:lnTo>
                  <a:close/>
                </a:path>
              </a:pathLst>
            </a:custGeom>
            <a:blipFill>
              <a:blip r:embed="rId2">
                <a:alphaModFix amt="0"/>
              </a:blip>
              <a:stretch>
                <a:fillRect l="0" t="-83147" r="0" b="-83147"/>
              </a:stretch>
            </a:blipFill>
          </p:spPr>
        </p:sp>
        <p:sp>
          <p:nvSpPr>
            <p:cNvPr name="TextBox 39" id="39"/>
            <p:cNvSpPr txBox="true"/>
            <p:nvPr/>
          </p:nvSpPr>
          <p:spPr>
            <a:xfrm>
              <a:off x="0" y="-38100"/>
              <a:ext cx="7498080" cy="1135380"/>
            </a:xfrm>
            <a:prstGeom prst="rect">
              <a:avLst/>
            </a:prstGeom>
          </p:spPr>
          <p:txBody>
            <a:bodyPr anchor="ctr" rtlCol="false" tIns="0" lIns="0" bIns="0" rIns="0"/>
            <a:lstStyle/>
            <a:p>
              <a:pPr algn="l">
                <a:lnSpc>
                  <a:spcPts val="2099"/>
                </a:lnSpc>
              </a:pPr>
              <a:r>
                <a:rPr lang="en-US" sz="1575">
                  <a:solidFill>
                    <a:srgbClr val="5A6B7C"/>
                  </a:solidFill>
                  <a:latin typeface="Calibri (MS)"/>
                  <a:ea typeface="Calibri (MS)"/>
                  <a:cs typeface="Calibri (MS)"/>
                  <a:sym typeface="Calibri (MS)"/>
                </a:rPr>
                <a:t>Broad first pass — find what HDFC has publicly said about AI/ML use</a:t>
              </a:r>
            </a:p>
          </p:txBody>
        </p:sp>
      </p:grpSp>
      <p:grpSp>
        <p:nvGrpSpPr>
          <p:cNvPr name="Group 40" id="40"/>
          <p:cNvGrpSpPr/>
          <p:nvPr/>
        </p:nvGrpSpPr>
        <p:grpSpPr>
          <a:xfrm rot="0">
            <a:off x="813435" y="5984367"/>
            <a:ext cx="16656558" cy="1116330"/>
            <a:chOff x="0" y="0"/>
            <a:chExt cx="22208744" cy="1488440"/>
          </a:xfrm>
        </p:grpSpPr>
        <p:sp>
          <p:nvSpPr>
            <p:cNvPr name="Freeform 41" id="41"/>
            <p:cNvSpPr/>
            <p:nvPr/>
          </p:nvSpPr>
          <p:spPr>
            <a:xfrm flipH="false" flipV="false" rot="0">
              <a:off x="0" y="0"/>
              <a:ext cx="22208744" cy="1488440"/>
            </a:xfrm>
            <a:custGeom>
              <a:avLst/>
              <a:gdLst/>
              <a:ahLst/>
              <a:cxnLst/>
              <a:rect r="r" b="b" t="t" l="l"/>
              <a:pathLst>
                <a:path h="1488440" w="22208744">
                  <a:moveTo>
                    <a:pt x="0" y="148844"/>
                  </a:moveTo>
                  <a:cubicBezTo>
                    <a:pt x="0" y="66675"/>
                    <a:pt x="66675" y="0"/>
                    <a:pt x="148844" y="0"/>
                  </a:cubicBezTo>
                  <a:lnTo>
                    <a:pt x="22059900" y="0"/>
                  </a:lnTo>
                  <a:cubicBezTo>
                    <a:pt x="22142069" y="0"/>
                    <a:pt x="22208744" y="66675"/>
                    <a:pt x="22208744" y="148844"/>
                  </a:cubicBezTo>
                  <a:lnTo>
                    <a:pt x="22208744" y="1339596"/>
                  </a:lnTo>
                  <a:cubicBezTo>
                    <a:pt x="22208744" y="1421765"/>
                    <a:pt x="22142069" y="1488440"/>
                    <a:pt x="22059900" y="1488440"/>
                  </a:cubicBezTo>
                  <a:lnTo>
                    <a:pt x="148844" y="1488440"/>
                  </a:lnTo>
                  <a:cubicBezTo>
                    <a:pt x="66675" y="1488440"/>
                    <a:pt x="0" y="1421765"/>
                    <a:pt x="0" y="1339596"/>
                  </a:cubicBezTo>
                  <a:close/>
                </a:path>
              </a:pathLst>
            </a:custGeom>
            <a:solidFill>
              <a:srgbClr val="FFFFFF"/>
            </a:solidFill>
            <a:ln w="19050" cap="sq">
              <a:solidFill>
                <a:srgbClr val="DCE4EC"/>
              </a:solidFill>
              <a:prstDash val="solid"/>
              <a:miter/>
            </a:ln>
          </p:spPr>
        </p:sp>
      </p:grpSp>
      <p:grpSp>
        <p:nvGrpSpPr>
          <p:cNvPr name="Group 42" id="42"/>
          <p:cNvGrpSpPr/>
          <p:nvPr/>
        </p:nvGrpSpPr>
        <p:grpSpPr>
          <a:xfrm rot="0">
            <a:off x="1097280" y="6295644"/>
            <a:ext cx="493776" cy="493776"/>
            <a:chOff x="0" y="0"/>
            <a:chExt cx="658368" cy="658368"/>
          </a:xfrm>
        </p:grpSpPr>
        <p:sp>
          <p:nvSpPr>
            <p:cNvPr name="Freeform 43" id="43"/>
            <p:cNvSpPr/>
            <p:nvPr/>
          </p:nvSpPr>
          <p:spPr>
            <a:xfrm flipH="false" flipV="false" rot="0">
              <a:off x="0" y="0"/>
              <a:ext cx="658368" cy="658368"/>
            </a:xfrm>
            <a:custGeom>
              <a:avLst/>
              <a:gdLst/>
              <a:ahLst/>
              <a:cxnLst/>
              <a:rect r="r" b="b" t="t" l="l"/>
              <a:pathLst>
                <a:path h="658368" w="658368">
                  <a:moveTo>
                    <a:pt x="0" y="329184"/>
                  </a:moveTo>
                  <a:cubicBezTo>
                    <a:pt x="0" y="147320"/>
                    <a:pt x="147320" y="0"/>
                    <a:pt x="329184" y="0"/>
                  </a:cubicBezTo>
                  <a:cubicBezTo>
                    <a:pt x="511048" y="0"/>
                    <a:pt x="658368" y="147320"/>
                    <a:pt x="658368" y="329184"/>
                  </a:cubicBezTo>
                  <a:cubicBezTo>
                    <a:pt x="658368" y="511048"/>
                    <a:pt x="511048" y="658368"/>
                    <a:pt x="329184" y="658368"/>
                  </a:cubicBezTo>
                  <a:cubicBezTo>
                    <a:pt x="147320" y="658368"/>
                    <a:pt x="0" y="511048"/>
                    <a:pt x="0" y="329184"/>
                  </a:cubicBezTo>
                  <a:close/>
                </a:path>
              </a:pathLst>
            </a:custGeom>
            <a:solidFill>
              <a:srgbClr val="004C8F"/>
            </a:solidFill>
          </p:spPr>
        </p:sp>
      </p:grpSp>
      <p:grpSp>
        <p:nvGrpSpPr>
          <p:cNvPr name="Group 44" id="44"/>
          <p:cNvGrpSpPr/>
          <p:nvPr/>
        </p:nvGrpSpPr>
        <p:grpSpPr>
          <a:xfrm rot="0">
            <a:off x="1097280" y="6295644"/>
            <a:ext cx="493776" cy="493776"/>
            <a:chOff x="0" y="0"/>
            <a:chExt cx="658368" cy="658368"/>
          </a:xfrm>
        </p:grpSpPr>
        <p:sp>
          <p:nvSpPr>
            <p:cNvPr name="Freeform 45" id="45"/>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close/>
                </a:path>
              </a:pathLst>
            </a:custGeom>
            <a:blipFill>
              <a:blip r:embed="rId2">
                <a:alphaModFix amt="0"/>
              </a:blip>
              <a:stretch>
                <a:fillRect l="-78303" t="0" r="-78303" b="0"/>
              </a:stretch>
            </a:blipFill>
          </p:spPr>
        </p:sp>
        <p:sp>
          <p:nvSpPr>
            <p:cNvPr name="TextBox 46" id="46"/>
            <p:cNvSpPr txBox="true"/>
            <p:nvPr/>
          </p:nvSpPr>
          <p:spPr>
            <a:xfrm>
              <a:off x="0" y="-47625"/>
              <a:ext cx="658368" cy="705993"/>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2</a:t>
              </a:r>
            </a:p>
          </p:txBody>
        </p:sp>
      </p:grpSp>
      <p:grpSp>
        <p:nvGrpSpPr>
          <p:cNvPr name="Group 47" id="47"/>
          <p:cNvGrpSpPr/>
          <p:nvPr/>
        </p:nvGrpSpPr>
        <p:grpSpPr>
          <a:xfrm rot="0">
            <a:off x="1851660" y="6131052"/>
            <a:ext cx="9464040" cy="822960"/>
            <a:chOff x="0" y="0"/>
            <a:chExt cx="12618720" cy="1097280"/>
          </a:xfrm>
        </p:grpSpPr>
        <p:sp>
          <p:nvSpPr>
            <p:cNvPr name="Freeform 48" id="48"/>
            <p:cNvSpPr/>
            <p:nvPr/>
          </p:nvSpPr>
          <p:spPr>
            <a:xfrm flipH="false" flipV="false" rot="0">
              <a:off x="0" y="0"/>
              <a:ext cx="12618720" cy="1097280"/>
            </a:xfrm>
            <a:custGeom>
              <a:avLst/>
              <a:gdLst/>
              <a:ahLst/>
              <a:cxnLst/>
              <a:rect r="r" b="b" t="t" l="l"/>
              <a:pathLst>
                <a:path h="1097280" w="12618720">
                  <a:moveTo>
                    <a:pt x="0" y="0"/>
                  </a:moveTo>
                  <a:lnTo>
                    <a:pt x="12618720" y="0"/>
                  </a:lnTo>
                  <a:lnTo>
                    <a:pt x="12618720" y="1097280"/>
                  </a:lnTo>
                  <a:lnTo>
                    <a:pt x="0" y="1097280"/>
                  </a:lnTo>
                  <a:close/>
                </a:path>
              </a:pathLst>
            </a:custGeom>
            <a:blipFill>
              <a:blip r:embed="rId2">
                <a:alphaModFix amt="0"/>
              </a:blip>
              <a:stretch>
                <a:fillRect l="0" t="-174077" r="0" b="-174077"/>
              </a:stretch>
            </a:blipFill>
          </p:spPr>
        </p:sp>
        <p:sp>
          <p:nvSpPr>
            <p:cNvPr name="TextBox 49" id="49"/>
            <p:cNvSpPr txBox="true"/>
            <p:nvPr/>
          </p:nvSpPr>
          <p:spPr>
            <a:xfrm>
              <a:off x="0" y="-38100"/>
              <a:ext cx="12618720" cy="1135380"/>
            </a:xfrm>
            <a:prstGeom prst="rect">
              <a:avLst/>
            </a:prstGeom>
          </p:spPr>
          <p:txBody>
            <a:bodyPr anchor="ctr" rtlCol="false" tIns="0" lIns="0" bIns="0" rIns="0"/>
            <a:lstStyle/>
            <a:p>
              <a:pPr algn="l">
                <a:lnSpc>
                  <a:spcPts val="2099"/>
                </a:lnSpc>
              </a:pPr>
              <a:r>
                <a:rPr lang="en-US" sz="1725" i="true">
                  <a:solidFill>
                    <a:srgbClr val="0A2540"/>
                  </a:solidFill>
                  <a:latin typeface="Calibri (MS) Italics"/>
                  <a:ea typeface="Calibri (MS) Italics"/>
                  <a:cs typeface="Calibri (MS) Italics"/>
                  <a:sym typeface="Calibri (MS) Italics"/>
                </a:rPr>
                <a:t>“RBI annual report bank frauds amount FY2025 digital payment fraud India statistics”</a:t>
              </a:r>
            </a:p>
          </p:txBody>
        </p:sp>
      </p:grpSp>
      <p:grpSp>
        <p:nvGrpSpPr>
          <p:cNvPr name="Group 50" id="50"/>
          <p:cNvGrpSpPr/>
          <p:nvPr/>
        </p:nvGrpSpPr>
        <p:grpSpPr>
          <a:xfrm rot="0">
            <a:off x="11521440" y="6131052"/>
            <a:ext cx="5623560" cy="822960"/>
            <a:chOff x="0" y="0"/>
            <a:chExt cx="7498080" cy="1097280"/>
          </a:xfrm>
        </p:grpSpPr>
        <p:sp>
          <p:nvSpPr>
            <p:cNvPr name="Freeform 51" id="51"/>
            <p:cNvSpPr/>
            <p:nvPr/>
          </p:nvSpPr>
          <p:spPr>
            <a:xfrm flipH="false" flipV="false" rot="0">
              <a:off x="0" y="0"/>
              <a:ext cx="7498080" cy="1097280"/>
            </a:xfrm>
            <a:custGeom>
              <a:avLst/>
              <a:gdLst/>
              <a:ahLst/>
              <a:cxnLst/>
              <a:rect r="r" b="b" t="t" l="l"/>
              <a:pathLst>
                <a:path h="1097280" w="7498080">
                  <a:moveTo>
                    <a:pt x="0" y="0"/>
                  </a:moveTo>
                  <a:lnTo>
                    <a:pt x="7498080" y="0"/>
                  </a:lnTo>
                  <a:lnTo>
                    <a:pt x="7498080" y="1097280"/>
                  </a:lnTo>
                  <a:lnTo>
                    <a:pt x="0" y="1097280"/>
                  </a:lnTo>
                  <a:close/>
                </a:path>
              </a:pathLst>
            </a:custGeom>
            <a:blipFill>
              <a:blip r:embed="rId2">
                <a:alphaModFix amt="0"/>
              </a:blip>
              <a:stretch>
                <a:fillRect l="0" t="-83147" r="0" b="-83147"/>
              </a:stretch>
            </a:blipFill>
          </p:spPr>
        </p:sp>
        <p:sp>
          <p:nvSpPr>
            <p:cNvPr name="TextBox 52" id="52"/>
            <p:cNvSpPr txBox="true"/>
            <p:nvPr/>
          </p:nvSpPr>
          <p:spPr>
            <a:xfrm>
              <a:off x="0" y="-38100"/>
              <a:ext cx="7498080" cy="1135380"/>
            </a:xfrm>
            <a:prstGeom prst="rect">
              <a:avLst/>
            </a:prstGeom>
          </p:spPr>
          <p:txBody>
            <a:bodyPr anchor="ctr" rtlCol="false" tIns="0" lIns="0" bIns="0" rIns="0"/>
            <a:lstStyle/>
            <a:p>
              <a:pPr algn="l">
                <a:lnSpc>
                  <a:spcPts val="2099"/>
                </a:lnSpc>
              </a:pPr>
              <a:r>
                <a:rPr lang="en-US" sz="1575">
                  <a:solidFill>
                    <a:srgbClr val="5A6B7C"/>
                  </a:solidFill>
                  <a:latin typeface="Calibri (MS)"/>
                  <a:ea typeface="Calibri (MS)"/>
                  <a:cs typeface="Calibri (MS)"/>
                  <a:sym typeface="Calibri (MS)"/>
                </a:rPr>
                <a:t>Get authoritative, sourced fraud figures</a:t>
              </a:r>
            </a:p>
          </p:txBody>
        </p:sp>
      </p:grpSp>
      <p:grpSp>
        <p:nvGrpSpPr>
          <p:cNvPr name="Group 53" id="53"/>
          <p:cNvGrpSpPr/>
          <p:nvPr/>
        </p:nvGrpSpPr>
        <p:grpSpPr>
          <a:xfrm rot="0">
            <a:off x="813435" y="7246239"/>
            <a:ext cx="16656558" cy="1116330"/>
            <a:chOff x="0" y="0"/>
            <a:chExt cx="22208744" cy="1488440"/>
          </a:xfrm>
        </p:grpSpPr>
        <p:sp>
          <p:nvSpPr>
            <p:cNvPr name="Freeform 54" id="54"/>
            <p:cNvSpPr/>
            <p:nvPr/>
          </p:nvSpPr>
          <p:spPr>
            <a:xfrm flipH="false" flipV="false" rot="0">
              <a:off x="0" y="0"/>
              <a:ext cx="22208744" cy="1488440"/>
            </a:xfrm>
            <a:custGeom>
              <a:avLst/>
              <a:gdLst/>
              <a:ahLst/>
              <a:cxnLst/>
              <a:rect r="r" b="b" t="t" l="l"/>
              <a:pathLst>
                <a:path h="1488440" w="22208744">
                  <a:moveTo>
                    <a:pt x="0" y="148844"/>
                  </a:moveTo>
                  <a:cubicBezTo>
                    <a:pt x="0" y="66675"/>
                    <a:pt x="66675" y="0"/>
                    <a:pt x="148844" y="0"/>
                  </a:cubicBezTo>
                  <a:lnTo>
                    <a:pt x="22059900" y="0"/>
                  </a:lnTo>
                  <a:cubicBezTo>
                    <a:pt x="22142069" y="0"/>
                    <a:pt x="22208744" y="66675"/>
                    <a:pt x="22208744" y="148844"/>
                  </a:cubicBezTo>
                  <a:lnTo>
                    <a:pt x="22208744" y="1339596"/>
                  </a:lnTo>
                  <a:cubicBezTo>
                    <a:pt x="22208744" y="1421765"/>
                    <a:pt x="22142069" y="1488440"/>
                    <a:pt x="22059900" y="1488440"/>
                  </a:cubicBezTo>
                  <a:lnTo>
                    <a:pt x="148844" y="1488440"/>
                  </a:lnTo>
                  <a:cubicBezTo>
                    <a:pt x="66675" y="1488440"/>
                    <a:pt x="0" y="1421765"/>
                    <a:pt x="0" y="1339596"/>
                  </a:cubicBezTo>
                  <a:close/>
                </a:path>
              </a:pathLst>
            </a:custGeom>
            <a:solidFill>
              <a:srgbClr val="FFFFFF"/>
            </a:solidFill>
            <a:ln w="19050" cap="sq">
              <a:solidFill>
                <a:srgbClr val="DCE4EC"/>
              </a:solidFill>
              <a:prstDash val="solid"/>
              <a:miter/>
            </a:ln>
          </p:spPr>
        </p:sp>
      </p:grpSp>
      <p:grpSp>
        <p:nvGrpSpPr>
          <p:cNvPr name="Group 55" id="55"/>
          <p:cNvGrpSpPr/>
          <p:nvPr/>
        </p:nvGrpSpPr>
        <p:grpSpPr>
          <a:xfrm rot="0">
            <a:off x="1097280" y="7557516"/>
            <a:ext cx="493776" cy="493776"/>
            <a:chOff x="0" y="0"/>
            <a:chExt cx="658368" cy="658368"/>
          </a:xfrm>
        </p:grpSpPr>
        <p:sp>
          <p:nvSpPr>
            <p:cNvPr name="Freeform 56" id="56"/>
            <p:cNvSpPr/>
            <p:nvPr/>
          </p:nvSpPr>
          <p:spPr>
            <a:xfrm flipH="false" flipV="false" rot="0">
              <a:off x="0" y="0"/>
              <a:ext cx="658368" cy="658368"/>
            </a:xfrm>
            <a:custGeom>
              <a:avLst/>
              <a:gdLst/>
              <a:ahLst/>
              <a:cxnLst/>
              <a:rect r="r" b="b" t="t" l="l"/>
              <a:pathLst>
                <a:path h="658368" w="658368">
                  <a:moveTo>
                    <a:pt x="0" y="329184"/>
                  </a:moveTo>
                  <a:cubicBezTo>
                    <a:pt x="0" y="147320"/>
                    <a:pt x="147320" y="0"/>
                    <a:pt x="329184" y="0"/>
                  </a:cubicBezTo>
                  <a:cubicBezTo>
                    <a:pt x="511048" y="0"/>
                    <a:pt x="658368" y="147320"/>
                    <a:pt x="658368" y="329184"/>
                  </a:cubicBezTo>
                  <a:cubicBezTo>
                    <a:pt x="658368" y="511048"/>
                    <a:pt x="511048" y="658368"/>
                    <a:pt x="329184" y="658368"/>
                  </a:cubicBezTo>
                  <a:cubicBezTo>
                    <a:pt x="147320" y="658368"/>
                    <a:pt x="0" y="511048"/>
                    <a:pt x="0" y="329184"/>
                  </a:cubicBezTo>
                  <a:close/>
                </a:path>
              </a:pathLst>
            </a:custGeom>
            <a:solidFill>
              <a:srgbClr val="004C8F"/>
            </a:solidFill>
          </p:spPr>
        </p:sp>
      </p:grpSp>
      <p:grpSp>
        <p:nvGrpSpPr>
          <p:cNvPr name="Group 57" id="57"/>
          <p:cNvGrpSpPr/>
          <p:nvPr/>
        </p:nvGrpSpPr>
        <p:grpSpPr>
          <a:xfrm rot="0">
            <a:off x="1097280" y="7557516"/>
            <a:ext cx="493776" cy="493776"/>
            <a:chOff x="0" y="0"/>
            <a:chExt cx="658368" cy="658368"/>
          </a:xfrm>
        </p:grpSpPr>
        <p:sp>
          <p:nvSpPr>
            <p:cNvPr name="Freeform 58" id="58"/>
            <p:cNvSpPr/>
            <p:nvPr/>
          </p:nvSpPr>
          <p:spPr>
            <a:xfrm flipH="false" flipV="false" rot="0">
              <a:off x="0" y="0"/>
              <a:ext cx="658368" cy="658368"/>
            </a:xfrm>
            <a:custGeom>
              <a:avLst/>
              <a:gdLst/>
              <a:ahLst/>
              <a:cxnLst/>
              <a:rect r="r" b="b" t="t" l="l"/>
              <a:pathLst>
                <a:path h="658368" w="658368">
                  <a:moveTo>
                    <a:pt x="0" y="0"/>
                  </a:moveTo>
                  <a:lnTo>
                    <a:pt x="658368" y="0"/>
                  </a:lnTo>
                  <a:lnTo>
                    <a:pt x="658368" y="658368"/>
                  </a:lnTo>
                  <a:lnTo>
                    <a:pt x="0" y="658368"/>
                  </a:lnTo>
                  <a:close/>
                </a:path>
              </a:pathLst>
            </a:custGeom>
            <a:blipFill>
              <a:blip r:embed="rId2">
                <a:alphaModFix amt="0"/>
              </a:blip>
              <a:stretch>
                <a:fillRect l="-78303" t="0" r="-78303" b="0"/>
              </a:stretch>
            </a:blipFill>
          </p:spPr>
        </p:sp>
        <p:sp>
          <p:nvSpPr>
            <p:cNvPr name="TextBox 59" id="59"/>
            <p:cNvSpPr txBox="true"/>
            <p:nvPr/>
          </p:nvSpPr>
          <p:spPr>
            <a:xfrm>
              <a:off x="0" y="-47625"/>
              <a:ext cx="658368" cy="705993"/>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3</a:t>
              </a:r>
            </a:p>
          </p:txBody>
        </p:sp>
      </p:grpSp>
      <p:grpSp>
        <p:nvGrpSpPr>
          <p:cNvPr name="Group 60" id="60"/>
          <p:cNvGrpSpPr/>
          <p:nvPr/>
        </p:nvGrpSpPr>
        <p:grpSpPr>
          <a:xfrm rot="0">
            <a:off x="1851660" y="7392924"/>
            <a:ext cx="9464040" cy="822960"/>
            <a:chOff x="0" y="0"/>
            <a:chExt cx="12618720" cy="1097280"/>
          </a:xfrm>
        </p:grpSpPr>
        <p:sp>
          <p:nvSpPr>
            <p:cNvPr name="Freeform 61" id="61"/>
            <p:cNvSpPr/>
            <p:nvPr/>
          </p:nvSpPr>
          <p:spPr>
            <a:xfrm flipH="false" flipV="false" rot="0">
              <a:off x="0" y="0"/>
              <a:ext cx="12618720" cy="1097280"/>
            </a:xfrm>
            <a:custGeom>
              <a:avLst/>
              <a:gdLst/>
              <a:ahLst/>
              <a:cxnLst/>
              <a:rect r="r" b="b" t="t" l="l"/>
              <a:pathLst>
                <a:path h="1097280" w="12618720">
                  <a:moveTo>
                    <a:pt x="0" y="0"/>
                  </a:moveTo>
                  <a:lnTo>
                    <a:pt x="12618720" y="0"/>
                  </a:lnTo>
                  <a:lnTo>
                    <a:pt x="12618720" y="1097280"/>
                  </a:lnTo>
                  <a:lnTo>
                    <a:pt x="0" y="1097280"/>
                  </a:lnTo>
                  <a:close/>
                </a:path>
              </a:pathLst>
            </a:custGeom>
            <a:blipFill>
              <a:blip r:embed="rId2">
                <a:alphaModFix amt="0"/>
              </a:blip>
              <a:stretch>
                <a:fillRect l="0" t="-174077" r="0" b="-174077"/>
              </a:stretch>
            </a:blipFill>
          </p:spPr>
        </p:sp>
        <p:sp>
          <p:nvSpPr>
            <p:cNvPr name="TextBox 62" id="62"/>
            <p:cNvSpPr txBox="true"/>
            <p:nvPr/>
          </p:nvSpPr>
          <p:spPr>
            <a:xfrm>
              <a:off x="0" y="-38100"/>
              <a:ext cx="12618720" cy="1135380"/>
            </a:xfrm>
            <a:prstGeom prst="rect">
              <a:avLst/>
            </a:prstGeom>
          </p:spPr>
          <p:txBody>
            <a:bodyPr anchor="ctr" rtlCol="false" tIns="0" lIns="0" bIns="0" rIns="0"/>
            <a:lstStyle/>
            <a:p>
              <a:pPr algn="l">
                <a:lnSpc>
                  <a:spcPts val="2099"/>
                </a:lnSpc>
              </a:pPr>
              <a:r>
                <a:rPr lang="en-US" sz="1725" i="true">
                  <a:solidFill>
                    <a:srgbClr val="0A2540"/>
                  </a:solidFill>
                  <a:latin typeface="Calibri (MS) Italics"/>
                  <a:ea typeface="Calibri (MS) Italics"/>
                  <a:cs typeface="Calibri (MS) Italics"/>
                  <a:sym typeface="Calibri (MS) Italics"/>
                </a:rPr>
                <a:t>“HDFC Bank number of customers branches FY2026 annual results total deposits”</a:t>
              </a:r>
            </a:p>
          </p:txBody>
        </p:sp>
      </p:grpSp>
      <p:grpSp>
        <p:nvGrpSpPr>
          <p:cNvPr name="Group 63" id="63"/>
          <p:cNvGrpSpPr/>
          <p:nvPr/>
        </p:nvGrpSpPr>
        <p:grpSpPr>
          <a:xfrm rot="0">
            <a:off x="11521440" y="7392924"/>
            <a:ext cx="5623560" cy="822960"/>
            <a:chOff x="0" y="0"/>
            <a:chExt cx="7498080" cy="1097280"/>
          </a:xfrm>
        </p:grpSpPr>
        <p:sp>
          <p:nvSpPr>
            <p:cNvPr name="Freeform 64" id="64"/>
            <p:cNvSpPr/>
            <p:nvPr/>
          </p:nvSpPr>
          <p:spPr>
            <a:xfrm flipH="false" flipV="false" rot="0">
              <a:off x="0" y="0"/>
              <a:ext cx="7498080" cy="1097280"/>
            </a:xfrm>
            <a:custGeom>
              <a:avLst/>
              <a:gdLst/>
              <a:ahLst/>
              <a:cxnLst/>
              <a:rect r="r" b="b" t="t" l="l"/>
              <a:pathLst>
                <a:path h="1097280" w="7498080">
                  <a:moveTo>
                    <a:pt x="0" y="0"/>
                  </a:moveTo>
                  <a:lnTo>
                    <a:pt x="7498080" y="0"/>
                  </a:lnTo>
                  <a:lnTo>
                    <a:pt x="7498080" y="1097280"/>
                  </a:lnTo>
                  <a:lnTo>
                    <a:pt x="0" y="1097280"/>
                  </a:lnTo>
                  <a:close/>
                </a:path>
              </a:pathLst>
            </a:custGeom>
            <a:blipFill>
              <a:blip r:embed="rId2">
                <a:alphaModFix amt="0"/>
              </a:blip>
              <a:stretch>
                <a:fillRect l="0" t="-83147" r="0" b="-83147"/>
              </a:stretch>
            </a:blipFill>
          </p:spPr>
        </p:sp>
        <p:sp>
          <p:nvSpPr>
            <p:cNvPr name="TextBox 65" id="65"/>
            <p:cNvSpPr txBox="true"/>
            <p:nvPr/>
          </p:nvSpPr>
          <p:spPr>
            <a:xfrm>
              <a:off x="0" y="-38100"/>
              <a:ext cx="7498080" cy="1135380"/>
            </a:xfrm>
            <a:prstGeom prst="rect">
              <a:avLst/>
            </a:prstGeom>
          </p:spPr>
          <p:txBody>
            <a:bodyPr anchor="ctr" rtlCol="false" tIns="0" lIns="0" bIns="0" rIns="0"/>
            <a:lstStyle/>
            <a:p>
              <a:pPr algn="l">
                <a:lnSpc>
                  <a:spcPts val="2099"/>
                </a:lnSpc>
              </a:pPr>
              <a:r>
                <a:rPr lang="en-US" sz="1575">
                  <a:solidFill>
                    <a:srgbClr val="5A6B7C"/>
                  </a:solidFill>
                  <a:latin typeface="Calibri (MS)"/>
                  <a:ea typeface="Calibri (MS)"/>
                  <a:cs typeface="Calibri (MS)"/>
                  <a:sym typeface="Calibri (MS)"/>
                </a:rPr>
                <a:t>Verify company scale from a primary source</a:t>
              </a:r>
            </a:p>
          </p:txBody>
        </p:sp>
      </p:grpSp>
      <p:grpSp>
        <p:nvGrpSpPr>
          <p:cNvPr name="Group 66" id="66"/>
          <p:cNvGrpSpPr/>
          <p:nvPr/>
        </p:nvGrpSpPr>
        <p:grpSpPr>
          <a:xfrm rot="0">
            <a:off x="8796147" y="2253615"/>
            <a:ext cx="8673846" cy="1774698"/>
            <a:chOff x="0" y="0"/>
            <a:chExt cx="11565128" cy="2366264"/>
          </a:xfrm>
        </p:grpSpPr>
        <p:sp>
          <p:nvSpPr>
            <p:cNvPr name="Freeform 67" id="67"/>
            <p:cNvSpPr/>
            <p:nvPr/>
          </p:nvSpPr>
          <p:spPr>
            <a:xfrm flipH="false" flipV="false" rot="0">
              <a:off x="0" y="0"/>
              <a:ext cx="11565128" cy="2366264"/>
            </a:xfrm>
            <a:custGeom>
              <a:avLst/>
              <a:gdLst/>
              <a:ahLst/>
              <a:cxnLst/>
              <a:rect r="r" b="b" t="t" l="l"/>
              <a:pathLst>
                <a:path h="2366264" w="11565128">
                  <a:moveTo>
                    <a:pt x="0" y="147828"/>
                  </a:moveTo>
                  <a:cubicBezTo>
                    <a:pt x="0" y="66167"/>
                    <a:pt x="66167" y="0"/>
                    <a:pt x="147828" y="0"/>
                  </a:cubicBezTo>
                  <a:lnTo>
                    <a:pt x="11417300" y="0"/>
                  </a:lnTo>
                  <a:cubicBezTo>
                    <a:pt x="11498961" y="0"/>
                    <a:pt x="11565128" y="66167"/>
                    <a:pt x="11565128" y="147828"/>
                  </a:cubicBezTo>
                  <a:lnTo>
                    <a:pt x="11565128" y="2218309"/>
                  </a:lnTo>
                  <a:cubicBezTo>
                    <a:pt x="11565128" y="2299970"/>
                    <a:pt x="11498961" y="2366264"/>
                    <a:pt x="11417300" y="2366264"/>
                  </a:cubicBezTo>
                  <a:lnTo>
                    <a:pt x="147828" y="2366264"/>
                  </a:lnTo>
                  <a:cubicBezTo>
                    <a:pt x="66167" y="2366264"/>
                    <a:pt x="0" y="2300097"/>
                    <a:pt x="0" y="2218309"/>
                  </a:cubicBezTo>
                  <a:close/>
                </a:path>
              </a:pathLst>
            </a:custGeom>
            <a:solidFill>
              <a:srgbClr val="0A2540"/>
            </a:solidFill>
            <a:ln w="19050" cap="sq">
              <a:solidFill>
                <a:srgbClr val="0A2540"/>
              </a:solidFill>
              <a:prstDash val="solid"/>
              <a:miter/>
            </a:ln>
          </p:spPr>
        </p:sp>
      </p:grpSp>
      <p:grpSp>
        <p:nvGrpSpPr>
          <p:cNvPr name="Group 68" id="68"/>
          <p:cNvGrpSpPr/>
          <p:nvPr/>
        </p:nvGrpSpPr>
        <p:grpSpPr>
          <a:xfrm rot="0">
            <a:off x="9217152" y="2537460"/>
            <a:ext cx="7886700" cy="1303020"/>
            <a:chOff x="0" y="0"/>
            <a:chExt cx="10515600" cy="1737360"/>
          </a:xfrm>
        </p:grpSpPr>
        <p:sp>
          <p:nvSpPr>
            <p:cNvPr name="Freeform 69" id="69"/>
            <p:cNvSpPr/>
            <p:nvPr/>
          </p:nvSpPr>
          <p:spPr>
            <a:xfrm flipH="false" flipV="false" rot="0">
              <a:off x="0" y="0"/>
              <a:ext cx="10515600" cy="1737360"/>
            </a:xfrm>
            <a:custGeom>
              <a:avLst/>
              <a:gdLst/>
              <a:ahLst/>
              <a:cxnLst/>
              <a:rect r="r" b="b" t="t" l="l"/>
              <a:pathLst>
                <a:path h="1737360" w="10515600">
                  <a:moveTo>
                    <a:pt x="0" y="0"/>
                  </a:moveTo>
                  <a:lnTo>
                    <a:pt x="10515600" y="0"/>
                  </a:lnTo>
                  <a:lnTo>
                    <a:pt x="10515600" y="1737360"/>
                  </a:lnTo>
                  <a:lnTo>
                    <a:pt x="0" y="1737360"/>
                  </a:lnTo>
                  <a:close/>
                </a:path>
              </a:pathLst>
            </a:custGeom>
            <a:blipFill>
              <a:blip r:embed="rId2">
                <a:alphaModFix amt="0"/>
              </a:blip>
              <a:stretch>
                <a:fillRect l="0" t="-67935" r="0" b="-67935"/>
              </a:stretch>
            </a:blipFill>
          </p:spPr>
        </p:sp>
        <p:sp>
          <p:nvSpPr>
            <p:cNvPr name="TextBox 70" id="70"/>
            <p:cNvSpPr txBox="true"/>
            <p:nvPr/>
          </p:nvSpPr>
          <p:spPr>
            <a:xfrm>
              <a:off x="0" y="-76200"/>
              <a:ext cx="10515600" cy="1813560"/>
            </a:xfrm>
            <a:prstGeom prst="rect">
              <a:avLst/>
            </a:prstGeom>
          </p:spPr>
          <p:txBody>
            <a:bodyPr anchor="ctr" rtlCol="false" tIns="0" lIns="0" bIns="0" rIns="0"/>
            <a:lstStyle/>
            <a:p>
              <a:pPr algn="l">
                <a:lnSpc>
                  <a:spcPts val="2550"/>
                </a:lnSpc>
              </a:pPr>
              <a:r>
                <a:rPr lang="en-US" sz="1800" i="true">
                  <a:solidFill>
                    <a:srgbClr val="FFFFFF"/>
                  </a:solidFill>
                  <a:latin typeface="Calibri (MS) Italics"/>
                  <a:ea typeface="Calibri (MS) Italics"/>
                  <a:cs typeface="Calibri (MS) Italics"/>
                  <a:sym typeface="Calibri (MS) Italics"/>
                </a:rPr>
                <a:t>Only one tool was used for this project — stated plainly rather than implying multi-tool use that didn't happen.</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4264640" cy="822960"/>
            <a:chOff x="0" y="0"/>
            <a:chExt cx="19019520" cy="1097280"/>
          </a:xfrm>
        </p:grpSpPr>
        <p:sp>
          <p:nvSpPr>
            <p:cNvPr name="Freeform 3" id="3"/>
            <p:cNvSpPr/>
            <p:nvPr/>
          </p:nvSpPr>
          <p:spPr>
            <a:xfrm flipH="false" flipV="false" rot="0">
              <a:off x="0" y="0"/>
              <a:ext cx="19019520" cy="1097280"/>
            </a:xfrm>
            <a:custGeom>
              <a:avLst/>
              <a:gdLst/>
              <a:ahLst/>
              <a:cxnLst/>
              <a:rect r="r" b="b" t="t" l="l"/>
              <a:pathLst>
                <a:path h="1097280" w="19019520">
                  <a:moveTo>
                    <a:pt x="0" y="0"/>
                  </a:moveTo>
                  <a:lnTo>
                    <a:pt x="19019520" y="0"/>
                  </a:lnTo>
                  <a:lnTo>
                    <a:pt x="19019520" y="1097280"/>
                  </a:lnTo>
                  <a:lnTo>
                    <a:pt x="0" y="1097280"/>
                  </a:lnTo>
                  <a:close/>
                </a:path>
              </a:pathLst>
            </a:custGeom>
            <a:blipFill>
              <a:blip r:embed="rId2">
                <a:alphaModFix amt="0"/>
              </a:blip>
              <a:stretch>
                <a:fillRect l="0" t="-287740" r="0" b="-287740"/>
              </a:stretch>
            </a:blipFill>
          </p:spPr>
        </p:sp>
        <p:sp>
          <p:nvSpPr>
            <p:cNvPr name="TextBox 4" id="4"/>
            <p:cNvSpPr txBox="true"/>
            <p:nvPr/>
          </p:nvSpPr>
          <p:spPr>
            <a:xfrm>
              <a:off x="0" y="-9525"/>
              <a:ext cx="19019520" cy="1106805"/>
            </a:xfrm>
            <a:prstGeom prst="rect">
              <a:avLst/>
            </a:prstGeom>
          </p:spPr>
          <p:txBody>
            <a:bodyPr anchor="ctr" rtlCol="false" tIns="0" lIns="0" bIns="0" rIns="0"/>
            <a:lstStyle/>
            <a:p>
              <a:pPr algn="l">
                <a:lnSpc>
                  <a:spcPts val="5759"/>
                </a:lnSpc>
              </a:pPr>
              <a:r>
                <a:rPr lang="en-US" sz="4800" b="true">
                  <a:solidFill>
                    <a:srgbClr val="0A2540"/>
                  </a:solidFill>
                  <a:latin typeface="Cambria Bold"/>
                  <a:ea typeface="Cambria Bold"/>
                  <a:cs typeface="Cambria Bold"/>
                  <a:sym typeface="Cambria Bold"/>
                </a:rPr>
                <a:t>Prompt Improvement &amp; AI Evaluation</a:t>
              </a:r>
            </a:p>
          </p:txBody>
        </p:sp>
      </p:grpSp>
      <p:grpSp>
        <p:nvGrpSpPr>
          <p:cNvPr name="Group 5" id="5"/>
          <p:cNvGrpSpPr/>
          <p:nvPr/>
        </p:nvGrpSpPr>
        <p:grpSpPr>
          <a:xfrm rot="0">
            <a:off x="822960" y="1426464"/>
            <a:ext cx="14264640" cy="438912"/>
            <a:chOff x="0" y="0"/>
            <a:chExt cx="19019520" cy="585216"/>
          </a:xfrm>
        </p:grpSpPr>
        <p:sp>
          <p:nvSpPr>
            <p:cNvPr name="Freeform 6" id="6"/>
            <p:cNvSpPr/>
            <p:nvPr/>
          </p:nvSpPr>
          <p:spPr>
            <a:xfrm flipH="false" flipV="false" rot="0">
              <a:off x="0" y="0"/>
              <a:ext cx="19019520" cy="585216"/>
            </a:xfrm>
            <a:custGeom>
              <a:avLst/>
              <a:gdLst/>
              <a:ahLst/>
              <a:cxnLst/>
              <a:rect r="r" b="b" t="t" l="l"/>
              <a:pathLst>
                <a:path h="585216" w="19019520">
                  <a:moveTo>
                    <a:pt x="0" y="0"/>
                  </a:moveTo>
                  <a:lnTo>
                    <a:pt x="19019520" y="0"/>
                  </a:lnTo>
                  <a:lnTo>
                    <a:pt x="19019520" y="585216"/>
                  </a:lnTo>
                  <a:lnTo>
                    <a:pt x="0" y="585216"/>
                  </a:lnTo>
                  <a:close/>
                </a:path>
              </a:pathLst>
            </a:custGeom>
            <a:blipFill>
              <a:blip r:embed="rId2">
                <a:alphaModFix amt="0"/>
              </a:blip>
              <a:stretch>
                <a:fillRect l="0" t="-583263" r="0" b="-583263"/>
              </a:stretch>
            </a:blipFill>
          </p:spPr>
        </p:sp>
        <p:sp>
          <p:nvSpPr>
            <p:cNvPr name="TextBox 7" id="7"/>
            <p:cNvSpPr txBox="true"/>
            <p:nvPr/>
          </p:nvSpPr>
          <p:spPr>
            <a:xfrm>
              <a:off x="0" y="-47625"/>
              <a:ext cx="19019520" cy="632841"/>
            </a:xfrm>
            <a:prstGeom prst="rect">
              <a:avLst/>
            </a:prstGeom>
          </p:spPr>
          <p:txBody>
            <a:bodyPr anchor="ctr" rtlCol="false" tIns="0" lIns="0" bIns="0" rIns="0"/>
            <a:lstStyle/>
            <a:p>
              <a:pPr algn="l">
                <a:lnSpc>
                  <a:spcPts val="2340"/>
                </a:lnSpc>
              </a:pPr>
              <a:r>
                <a:rPr lang="en-US" sz="1950" i="true">
                  <a:solidFill>
                    <a:srgbClr val="5A6B7C"/>
                  </a:solidFill>
                  <a:latin typeface="Calibri (MS) Italics"/>
                  <a:ea typeface="Calibri (MS) Italics"/>
                  <a:cs typeface="Calibri (MS) Italics"/>
                  <a:sym typeface="Calibri (MS) Italics"/>
                </a:rPr>
                <a:t>How a sharper prompt changed the quality of the research</a:t>
              </a:r>
            </a:p>
          </p:txBody>
        </p:sp>
      </p:grpSp>
      <p:grpSp>
        <p:nvGrpSpPr>
          <p:cNvPr name="Group 8" id="8"/>
          <p:cNvGrpSpPr/>
          <p:nvPr/>
        </p:nvGrpSpPr>
        <p:grpSpPr>
          <a:xfrm rot="0">
            <a:off x="16664940" y="576072"/>
            <a:ext cx="850392" cy="850392"/>
            <a:chOff x="0" y="0"/>
            <a:chExt cx="1133856" cy="1133856"/>
          </a:xfrm>
        </p:grpSpPr>
        <p:sp>
          <p:nvSpPr>
            <p:cNvPr name="Freeform 9" id="9"/>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F1F5F9"/>
            </a:solidFill>
          </p:spPr>
        </p:sp>
      </p:grpSp>
      <p:grpSp>
        <p:nvGrpSpPr>
          <p:cNvPr name="Group 10" id="10"/>
          <p:cNvGrpSpPr/>
          <p:nvPr/>
        </p:nvGrpSpPr>
        <p:grpSpPr>
          <a:xfrm rot="0">
            <a:off x="16664940" y="576072"/>
            <a:ext cx="850392" cy="850392"/>
            <a:chOff x="0" y="0"/>
            <a:chExt cx="1133856" cy="1133856"/>
          </a:xfrm>
        </p:grpSpPr>
        <p:sp>
          <p:nvSpPr>
            <p:cNvPr name="Freeform 11" id="11"/>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2">
                <a:alphaModFix amt="0"/>
              </a:blip>
              <a:stretch>
                <a:fillRect l="-78303" t="0" r="-78303" b="0"/>
              </a:stretch>
            </a:blipFill>
          </p:spPr>
        </p:sp>
        <p:sp>
          <p:nvSpPr>
            <p:cNvPr name="TextBox 12" id="12"/>
            <p:cNvSpPr txBox="true"/>
            <p:nvPr/>
          </p:nvSpPr>
          <p:spPr>
            <a:xfrm>
              <a:off x="0" y="-9525"/>
              <a:ext cx="1133856" cy="1143381"/>
            </a:xfrm>
            <a:prstGeom prst="rect">
              <a:avLst/>
            </a:prstGeom>
          </p:spPr>
          <p:txBody>
            <a:bodyPr anchor="ctr" rtlCol="false" tIns="0" lIns="0" bIns="0" rIns="0"/>
            <a:lstStyle/>
            <a:p>
              <a:pPr algn="ctr">
                <a:lnSpc>
                  <a:spcPts val="2879"/>
                </a:lnSpc>
              </a:pPr>
              <a:r>
                <a:rPr lang="en-US" sz="2400" b="true">
                  <a:solidFill>
                    <a:srgbClr val="004C8F"/>
                  </a:solidFill>
                  <a:latin typeface="Cambria Bold"/>
                  <a:ea typeface="Cambria Bold"/>
                  <a:cs typeface="Cambria Bold"/>
                  <a:sym typeface="Cambria Bold"/>
                </a:rPr>
                <a:t>10</a:t>
              </a:r>
            </a:p>
          </p:txBody>
        </p:sp>
      </p:grpSp>
      <p:grpSp>
        <p:nvGrpSpPr>
          <p:cNvPr name="Group 13" id="13"/>
          <p:cNvGrpSpPr/>
          <p:nvPr/>
        </p:nvGrpSpPr>
        <p:grpSpPr>
          <a:xfrm rot="0">
            <a:off x="813435" y="2253615"/>
            <a:ext cx="8042910" cy="2350770"/>
            <a:chOff x="0" y="0"/>
            <a:chExt cx="10723880" cy="3134360"/>
          </a:xfrm>
        </p:grpSpPr>
        <p:sp>
          <p:nvSpPr>
            <p:cNvPr name="Freeform 14" id="14"/>
            <p:cNvSpPr/>
            <p:nvPr/>
          </p:nvSpPr>
          <p:spPr>
            <a:xfrm flipH="false" flipV="false" rot="0">
              <a:off x="0" y="0"/>
              <a:ext cx="10723880" cy="3134360"/>
            </a:xfrm>
            <a:custGeom>
              <a:avLst/>
              <a:gdLst/>
              <a:ahLst/>
              <a:cxnLst/>
              <a:rect r="r" b="b" t="t" l="l"/>
              <a:pathLst>
                <a:path h="3134360" w="10723880">
                  <a:moveTo>
                    <a:pt x="0" y="147447"/>
                  </a:moveTo>
                  <a:cubicBezTo>
                    <a:pt x="0" y="66040"/>
                    <a:pt x="66040" y="0"/>
                    <a:pt x="147447" y="0"/>
                  </a:cubicBezTo>
                  <a:lnTo>
                    <a:pt x="10576433" y="0"/>
                  </a:lnTo>
                  <a:cubicBezTo>
                    <a:pt x="10657839" y="0"/>
                    <a:pt x="10723880" y="66040"/>
                    <a:pt x="10723880" y="147447"/>
                  </a:cubicBezTo>
                  <a:lnTo>
                    <a:pt x="10723880" y="2986913"/>
                  </a:lnTo>
                  <a:cubicBezTo>
                    <a:pt x="10723880" y="3068320"/>
                    <a:pt x="10657839" y="3134360"/>
                    <a:pt x="10576433" y="3134360"/>
                  </a:cubicBezTo>
                  <a:lnTo>
                    <a:pt x="147447" y="3134360"/>
                  </a:lnTo>
                  <a:cubicBezTo>
                    <a:pt x="66040" y="3134360"/>
                    <a:pt x="0" y="3068320"/>
                    <a:pt x="0" y="2986913"/>
                  </a:cubicBezTo>
                  <a:close/>
                </a:path>
              </a:pathLst>
            </a:custGeom>
            <a:solidFill>
              <a:srgbClr val="FDF2F2"/>
            </a:solidFill>
            <a:ln w="19050" cap="sq">
              <a:solidFill>
                <a:srgbClr val="F5C6C7"/>
              </a:solidFill>
              <a:prstDash val="solid"/>
              <a:miter/>
            </a:ln>
          </p:spPr>
        </p:sp>
      </p:grpSp>
      <p:grpSp>
        <p:nvGrpSpPr>
          <p:cNvPr name="Group 15" id="15"/>
          <p:cNvGrpSpPr/>
          <p:nvPr/>
        </p:nvGrpSpPr>
        <p:grpSpPr>
          <a:xfrm rot="0">
            <a:off x="1234440" y="2496312"/>
            <a:ext cx="5486400" cy="384048"/>
            <a:chOff x="0" y="0"/>
            <a:chExt cx="7315200" cy="512064"/>
          </a:xfrm>
        </p:grpSpPr>
        <p:sp>
          <p:nvSpPr>
            <p:cNvPr name="Freeform 16" id="16"/>
            <p:cNvSpPr/>
            <p:nvPr/>
          </p:nvSpPr>
          <p:spPr>
            <a:xfrm flipH="false" flipV="false" rot="0">
              <a:off x="0" y="0"/>
              <a:ext cx="7315200" cy="512064"/>
            </a:xfrm>
            <a:custGeom>
              <a:avLst/>
              <a:gdLst/>
              <a:ahLst/>
              <a:cxnLst/>
              <a:rect r="r" b="b" t="t" l="l"/>
              <a:pathLst>
                <a:path h="512064" w="7315200">
                  <a:moveTo>
                    <a:pt x="0" y="0"/>
                  </a:moveTo>
                  <a:lnTo>
                    <a:pt x="7315200" y="0"/>
                  </a:lnTo>
                  <a:lnTo>
                    <a:pt x="7315200" y="512064"/>
                  </a:lnTo>
                  <a:lnTo>
                    <a:pt x="0" y="512064"/>
                  </a:lnTo>
                  <a:close/>
                </a:path>
              </a:pathLst>
            </a:custGeom>
            <a:blipFill>
              <a:blip r:embed="rId2">
                <a:alphaModFix amt="0"/>
              </a:blip>
              <a:stretch>
                <a:fillRect l="0" t="-228357" r="0" b="-228357"/>
              </a:stretch>
            </a:blipFill>
          </p:spPr>
        </p:sp>
        <p:sp>
          <p:nvSpPr>
            <p:cNvPr name="TextBox 17" id="17"/>
            <p:cNvSpPr txBox="true"/>
            <p:nvPr/>
          </p:nvSpPr>
          <p:spPr>
            <a:xfrm>
              <a:off x="0" y="-28575"/>
              <a:ext cx="7315200" cy="540639"/>
            </a:xfrm>
            <a:prstGeom prst="rect">
              <a:avLst/>
            </a:prstGeom>
          </p:spPr>
          <p:txBody>
            <a:bodyPr anchor="ctr" rtlCol="false" tIns="0" lIns="0" bIns="0" rIns="0"/>
            <a:lstStyle/>
            <a:p>
              <a:pPr algn="l">
                <a:lnSpc>
                  <a:spcPts val="1980"/>
                </a:lnSpc>
              </a:pPr>
              <a:r>
                <a:rPr lang="en-US" b="true" sz="1650" spc="299">
                  <a:solidFill>
                    <a:srgbClr val="8B1F24"/>
                  </a:solidFill>
                  <a:latin typeface="Calibri (MS) Bold"/>
                  <a:ea typeface="Calibri (MS) Bold"/>
                  <a:cs typeface="Calibri (MS) Bold"/>
                  <a:sym typeface="Calibri (MS) Bold"/>
                </a:rPr>
                <a:t>BASIC PROMPT</a:t>
              </a:r>
            </a:p>
          </p:txBody>
        </p:sp>
      </p:grpSp>
      <p:grpSp>
        <p:nvGrpSpPr>
          <p:cNvPr name="Group 18" id="18"/>
          <p:cNvGrpSpPr/>
          <p:nvPr/>
        </p:nvGrpSpPr>
        <p:grpSpPr>
          <a:xfrm rot="0">
            <a:off x="1234440" y="2948940"/>
            <a:ext cx="7200900" cy="685800"/>
            <a:chOff x="0" y="0"/>
            <a:chExt cx="9601200" cy="914400"/>
          </a:xfrm>
        </p:grpSpPr>
        <p:sp>
          <p:nvSpPr>
            <p:cNvPr name="Freeform 19" id="19"/>
            <p:cNvSpPr/>
            <p:nvPr/>
          </p:nvSpPr>
          <p:spPr>
            <a:xfrm flipH="false" flipV="false" rot="0">
              <a:off x="0" y="0"/>
              <a:ext cx="9601200" cy="914400"/>
            </a:xfrm>
            <a:custGeom>
              <a:avLst/>
              <a:gdLst/>
              <a:ahLst/>
              <a:cxnLst/>
              <a:rect r="r" b="b" t="t" l="l"/>
              <a:pathLst>
                <a:path h="914400" w="9601200">
                  <a:moveTo>
                    <a:pt x="0" y="0"/>
                  </a:moveTo>
                  <a:lnTo>
                    <a:pt x="9601200" y="0"/>
                  </a:lnTo>
                  <a:lnTo>
                    <a:pt x="9601200" y="914400"/>
                  </a:lnTo>
                  <a:lnTo>
                    <a:pt x="0" y="914400"/>
                  </a:lnTo>
                  <a:close/>
                </a:path>
              </a:pathLst>
            </a:custGeom>
            <a:blipFill>
              <a:blip r:embed="rId2">
                <a:alphaModFix amt="0"/>
              </a:blip>
              <a:stretch>
                <a:fillRect l="0" t="-154592" r="0" b="-154592"/>
              </a:stretch>
            </a:blipFill>
          </p:spPr>
        </p:sp>
        <p:sp>
          <p:nvSpPr>
            <p:cNvPr name="TextBox 20" id="20"/>
            <p:cNvSpPr txBox="true"/>
            <p:nvPr/>
          </p:nvSpPr>
          <p:spPr>
            <a:xfrm>
              <a:off x="0" y="-47625"/>
              <a:ext cx="9601200" cy="962025"/>
            </a:xfrm>
            <a:prstGeom prst="rect">
              <a:avLst/>
            </a:prstGeom>
          </p:spPr>
          <p:txBody>
            <a:bodyPr anchor="ctr" rtlCol="false" tIns="0" lIns="0" bIns="0" rIns="0"/>
            <a:lstStyle/>
            <a:p>
              <a:pPr algn="l">
                <a:lnSpc>
                  <a:spcPts val="2340"/>
                </a:lnSpc>
              </a:pPr>
              <a:r>
                <a:rPr lang="en-US" sz="1950" i="true">
                  <a:solidFill>
                    <a:srgbClr val="0A2540"/>
                  </a:solidFill>
                  <a:latin typeface="Calibri (MS) Italics"/>
                  <a:ea typeface="Calibri (MS) Italics"/>
                  <a:cs typeface="Calibri (MS) Italics"/>
                  <a:sym typeface="Calibri (MS) Italics"/>
                </a:rPr>
                <a:t>“HDFC Bank AI fraud detection machine learning”</a:t>
              </a:r>
            </a:p>
          </p:txBody>
        </p:sp>
      </p:grpSp>
      <p:grpSp>
        <p:nvGrpSpPr>
          <p:cNvPr name="Group 21" id="21"/>
          <p:cNvGrpSpPr/>
          <p:nvPr/>
        </p:nvGrpSpPr>
        <p:grpSpPr>
          <a:xfrm rot="0">
            <a:off x="1234440" y="3675888"/>
            <a:ext cx="7200900" cy="822960"/>
            <a:chOff x="0" y="0"/>
            <a:chExt cx="9601200" cy="1097280"/>
          </a:xfrm>
        </p:grpSpPr>
        <p:sp>
          <p:nvSpPr>
            <p:cNvPr name="Freeform 22" id="22"/>
            <p:cNvSpPr/>
            <p:nvPr/>
          </p:nvSpPr>
          <p:spPr>
            <a:xfrm flipH="false" flipV="false" rot="0">
              <a:off x="0" y="0"/>
              <a:ext cx="9601200" cy="1097280"/>
            </a:xfrm>
            <a:custGeom>
              <a:avLst/>
              <a:gdLst/>
              <a:ahLst/>
              <a:cxnLst/>
              <a:rect r="r" b="b" t="t" l="l"/>
              <a:pathLst>
                <a:path h="1097280" w="9601200">
                  <a:moveTo>
                    <a:pt x="0" y="0"/>
                  </a:moveTo>
                  <a:lnTo>
                    <a:pt x="9601200" y="0"/>
                  </a:lnTo>
                  <a:lnTo>
                    <a:pt x="9601200" y="1097280"/>
                  </a:lnTo>
                  <a:lnTo>
                    <a:pt x="0" y="1097280"/>
                  </a:lnTo>
                  <a:close/>
                </a:path>
              </a:pathLst>
            </a:custGeom>
            <a:blipFill>
              <a:blip r:embed="rId2">
                <a:alphaModFix amt="0"/>
              </a:blip>
              <a:stretch>
                <a:fillRect l="0" t="-120494" r="0" b="-120494"/>
              </a:stretch>
            </a:blipFill>
          </p:spPr>
        </p:sp>
        <p:sp>
          <p:nvSpPr>
            <p:cNvPr name="TextBox 23" id="23"/>
            <p:cNvSpPr txBox="true"/>
            <p:nvPr/>
          </p:nvSpPr>
          <p:spPr>
            <a:xfrm>
              <a:off x="0" y="-38100"/>
              <a:ext cx="9601200" cy="1135380"/>
            </a:xfrm>
            <a:prstGeom prst="rect">
              <a:avLst/>
            </a:prstGeom>
          </p:spPr>
          <p:txBody>
            <a:bodyPr anchor="ctr" rtlCol="false" tIns="0" lIns="0" bIns="0" rIns="0"/>
            <a:lstStyle/>
            <a:p>
              <a:pPr algn="l">
                <a:lnSpc>
                  <a:spcPts val="2099"/>
                </a:lnSpc>
              </a:pPr>
              <a:r>
                <a:rPr lang="en-US" sz="1575">
                  <a:solidFill>
                    <a:srgbClr val="6B4A4C"/>
                  </a:solidFill>
                  <a:latin typeface="Calibri (MS)"/>
                  <a:ea typeface="Calibri (MS)"/>
                  <a:cs typeface="Calibri (MS)"/>
                  <a:sym typeface="Calibri (MS)"/>
                </a:rPr>
                <a:t>Returned marketing-style blogs describing “behavioural biometrics” and “instant blocking” with no citations and no way to verify the claims.</a:t>
              </a:r>
            </a:p>
          </p:txBody>
        </p:sp>
      </p:grpSp>
      <p:grpSp>
        <p:nvGrpSpPr>
          <p:cNvPr name="Group 24" id="24"/>
          <p:cNvGrpSpPr/>
          <p:nvPr/>
        </p:nvGrpSpPr>
        <p:grpSpPr>
          <a:xfrm rot="0">
            <a:off x="9152763" y="2253615"/>
            <a:ext cx="8042910" cy="2350770"/>
            <a:chOff x="0" y="0"/>
            <a:chExt cx="10723880" cy="3134360"/>
          </a:xfrm>
        </p:grpSpPr>
        <p:sp>
          <p:nvSpPr>
            <p:cNvPr name="Freeform 25" id="25"/>
            <p:cNvSpPr/>
            <p:nvPr/>
          </p:nvSpPr>
          <p:spPr>
            <a:xfrm flipH="false" flipV="false" rot="0">
              <a:off x="0" y="0"/>
              <a:ext cx="10723880" cy="3134360"/>
            </a:xfrm>
            <a:custGeom>
              <a:avLst/>
              <a:gdLst/>
              <a:ahLst/>
              <a:cxnLst/>
              <a:rect r="r" b="b" t="t" l="l"/>
              <a:pathLst>
                <a:path h="3134360" w="10723880">
                  <a:moveTo>
                    <a:pt x="0" y="147447"/>
                  </a:moveTo>
                  <a:cubicBezTo>
                    <a:pt x="0" y="66040"/>
                    <a:pt x="66040" y="0"/>
                    <a:pt x="147447" y="0"/>
                  </a:cubicBezTo>
                  <a:lnTo>
                    <a:pt x="10576433" y="0"/>
                  </a:lnTo>
                  <a:cubicBezTo>
                    <a:pt x="10657839" y="0"/>
                    <a:pt x="10723880" y="66040"/>
                    <a:pt x="10723880" y="147447"/>
                  </a:cubicBezTo>
                  <a:lnTo>
                    <a:pt x="10723880" y="2986913"/>
                  </a:lnTo>
                  <a:cubicBezTo>
                    <a:pt x="10723880" y="3068320"/>
                    <a:pt x="10657839" y="3134360"/>
                    <a:pt x="10576433" y="3134360"/>
                  </a:cubicBezTo>
                  <a:lnTo>
                    <a:pt x="147447" y="3134360"/>
                  </a:lnTo>
                  <a:cubicBezTo>
                    <a:pt x="66040" y="3134360"/>
                    <a:pt x="0" y="3068320"/>
                    <a:pt x="0" y="2986913"/>
                  </a:cubicBezTo>
                  <a:close/>
                </a:path>
              </a:pathLst>
            </a:custGeom>
            <a:solidFill>
              <a:srgbClr val="EEF6F1"/>
            </a:solidFill>
            <a:ln w="19050" cap="sq">
              <a:solidFill>
                <a:srgbClr val="BFE0CC"/>
              </a:solidFill>
              <a:prstDash val="solid"/>
              <a:miter/>
            </a:ln>
          </p:spPr>
        </p:sp>
      </p:grpSp>
      <p:grpSp>
        <p:nvGrpSpPr>
          <p:cNvPr name="Group 26" id="26"/>
          <p:cNvGrpSpPr/>
          <p:nvPr/>
        </p:nvGrpSpPr>
        <p:grpSpPr>
          <a:xfrm rot="0">
            <a:off x="9573768" y="2496312"/>
            <a:ext cx="5486400" cy="384048"/>
            <a:chOff x="0" y="0"/>
            <a:chExt cx="7315200" cy="512064"/>
          </a:xfrm>
        </p:grpSpPr>
        <p:sp>
          <p:nvSpPr>
            <p:cNvPr name="Freeform 27" id="27"/>
            <p:cNvSpPr/>
            <p:nvPr/>
          </p:nvSpPr>
          <p:spPr>
            <a:xfrm flipH="false" flipV="false" rot="0">
              <a:off x="0" y="0"/>
              <a:ext cx="7315200" cy="512064"/>
            </a:xfrm>
            <a:custGeom>
              <a:avLst/>
              <a:gdLst/>
              <a:ahLst/>
              <a:cxnLst/>
              <a:rect r="r" b="b" t="t" l="l"/>
              <a:pathLst>
                <a:path h="512064" w="7315200">
                  <a:moveTo>
                    <a:pt x="0" y="0"/>
                  </a:moveTo>
                  <a:lnTo>
                    <a:pt x="7315200" y="0"/>
                  </a:lnTo>
                  <a:lnTo>
                    <a:pt x="7315200" y="512064"/>
                  </a:lnTo>
                  <a:lnTo>
                    <a:pt x="0" y="512064"/>
                  </a:lnTo>
                  <a:close/>
                </a:path>
              </a:pathLst>
            </a:custGeom>
            <a:blipFill>
              <a:blip r:embed="rId2">
                <a:alphaModFix amt="0"/>
              </a:blip>
              <a:stretch>
                <a:fillRect l="0" t="-228357" r="0" b="-228357"/>
              </a:stretch>
            </a:blipFill>
          </p:spPr>
        </p:sp>
        <p:sp>
          <p:nvSpPr>
            <p:cNvPr name="TextBox 28" id="28"/>
            <p:cNvSpPr txBox="true"/>
            <p:nvPr/>
          </p:nvSpPr>
          <p:spPr>
            <a:xfrm>
              <a:off x="0" y="-28575"/>
              <a:ext cx="7315200" cy="540639"/>
            </a:xfrm>
            <a:prstGeom prst="rect">
              <a:avLst/>
            </a:prstGeom>
          </p:spPr>
          <p:txBody>
            <a:bodyPr anchor="ctr" rtlCol="false" tIns="0" lIns="0" bIns="0" rIns="0"/>
            <a:lstStyle/>
            <a:p>
              <a:pPr algn="l">
                <a:lnSpc>
                  <a:spcPts val="1980"/>
                </a:lnSpc>
              </a:pPr>
              <a:r>
                <a:rPr lang="en-US" b="true" sz="1650" spc="299">
                  <a:solidFill>
                    <a:srgbClr val="1E6B3C"/>
                  </a:solidFill>
                  <a:latin typeface="Calibri (MS) Bold"/>
                  <a:ea typeface="Calibri (MS) Bold"/>
                  <a:cs typeface="Calibri (MS) Bold"/>
                  <a:sym typeface="Calibri (MS) Bold"/>
                </a:rPr>
                <a:t>IMPROVED PROMPT</a:t>
              </a:r>
            </a:p>
          </p:txBody>
        </p:sp>
      </p:grpSp>
      <p:grpSp>
        <p:nvGrpSpPr>
          <p:cNvPr name="Group 29" id="29"/>
          <p:cNvGrpSpPr/>
          <p:nvPr/>
        </p:nvGrpSpPr>
        <p:grpSpPr>
          <a:xfrm rot="0">
            <a:off x="9573768" y="2948940"/>
            <a:ext cx="7200900" cy="685800"/>
            <a:chOff x="0" y="0"/>
            <a:chExt cx="9601200" cy="914400"/>
          </a:xfrm>
        </p:grpSpPr>
        <p:sp>
          <p:nvSpPr>
            <p:cNvPr name="Freeform 30" id="30"/>
            <p:cNvSpPr/>
            <p:nvPr/>
          </p:nvSpPr>
          <p:spPr>
            <a:xfrm flipH="false" flipV="false" rot="0">
              <a:off x="0" y="0"/>
              <a:ext cx="9601200" cy="914400"/>
            </a:xfrm>
            <a:custGeom>
              <a:avLst/>
              <a:gdLst/>
              <a:ahLst/>
              <a:cxnLst/>
              <a:rect r="r" b="b" t="t" l="l"/>
              <a:pathLst>
                <a:path h="914400" w="9601200">
                  <a:moveTo>
                    <a:pt x="0" y="0"/>
                  </a:moveTo>
                  <a:lnTo>
                    <a:pt x="9601200" y="0"/>
                  </a:lnTo>
                  <a:lnTo>
                    <a:pt x="9601200" y="914400"/>
                  </a:lnTo>
                  <a:lnTo>
                    <a:pt x="0" y="914400"/>
                  </a:lnTo>
                  <a:close/>
                </a:path>
              </a:pathLst>
            </a:custGeom>
            <a:blipFill>
              <a:blip r:embed="rId2">
                <a:alphaModFix amt="0"/>
              </a:blip>
              <a:stretch>
                <a:fillRect l="0" t="-154592" r="0" b="-154592"/>
              </a:stretch>
            </a:blipFill>
          </p:spPr>
        </p:sp>
        <p:sp>
          <p:nvSpPr>
            <p:cNvPr name="TextBox 31" id="31"/>
            <p:cNvSpPr txBox="true"/>
            <p:nvPr/>
          </p:nvSpPr>
          <p:spPr>
            <a:xfrm>
              <a:off x="0" y="-47625"/>
              <a:ext cx="9601200" cy="962025"/>
            </a:xfrm>
            <a:prstGeom prst="rect">
              <a:avLst/>
            </a:prstGeom>
          </p:spPr>
          <p:txBody>
            <a:bodyPr anchor="ctr" rtlCol="false" tIns="0" lIns="0" bIns="0" rIns="0"/>
            <a:lstStyle/>
            <a:p>
              <a:pPr algn="l">
                <a:lnSpc>
                  <a:spcPts val="2340"/>
                </a:lnSpc>
              </a:pPr>
              <a:r>
                <a:rPr lang="en-US" sz="1950" i="true">
                  <a:solidFill>
                    <a:srgbClr val="0A2540"/>
                  </a:solidFill>
                  <a:latin typeface="Calibri (MS) Italics"/>
                  <a:ea typeface="Calibri (MS) Italics"/>
                  <a:cs typeface="Calibri (MS) Italics"/>
                  <a:sym typeface="Calibri (MS) Italics"/>
                </a:rPr>
                <a:t>“RBI annual report bank frauds amount FY2025 digital payment fraud India statistics”</a:t>
              </a:r>
            </a:p>
          </p:txBody>
        </p:sp>
      </p:grpSp>
      <p:grpSp>
        <p:nvGrpSpPr>
          <p:cNvPr name="Group 32" id="32"/>
          <p:cNvGrpSpPr/>
          <p:nvPr/>
        </p:nvGrpSpPr>
        <p:grpSpPr>
          <a:xfrm rot="0">
            <a:off x="9573768" y="3675888"/>
            <a:ext cx="7200900" cy="822960"/>
            <a:chOff x="0" y="0"/>
            <a:chExt cx="9601200" cy="1097280"/>
          </a:xfrm>
        </p:grpSpPr>
        <p:sp>
          <p:nvSpPr>
            <p:cNvPr name="Freeform 33" id="33"/>
            <p:cNvSpPr/>
            <p:nvPr/>
          </p:nvSpPr>
          <p:spPr>
            <a:xfrm flipH="false" flipV="false" rot="0">
              <a:off x="0" y="0"/>
              <a:ext cx="9601200" cy="1097280"/>
            </a:xfrm>
            <a:custGeom>
              <a:avLst/>
              <a:gdLst/>
              <a:ahLst/>
              <a:cxnLst/>
              <a:rect r="r" b="b" t="t" l="l"/>
              <a:pathLst>
                <a:path h="1097280" w="9601200">
                  <a:moveTo>
                    <a:pt x="0" y="0"/>
                  </a:moveTo>
                  <a:lnTo>
                    <a:pt x="9601200" y="0"/>
                  </a:lnTo>
                  <a:lnTo>
                    <a:pt x="9601200" y="1097280"/>
                  </a:lnTo>
                  <a:lnTo>
                    <a:pt x="0" y="1097280"/>
                  </a:lnTo>
                  <a:close/>
                </a:path>
              </a:pathLst>
            </a:custGeom>
            <a:blipFill>
              <a:blip r:embed="rId2">
                <a:alphaModFix amt="0"/>
              </a:blip>
              <a:stretch>
                <a:fillRect l="0" t="-120494" r="0" b="-120494"/>
              </a:stretch>
            </a:blipFill>
          </p:spPr>
        </p:sp>
        <p:sp>
          <p:nvSpPr>
            <p:cNvPr name="TextBox 34" id="34"/>
            <p:cNvSpPr txBox="true"/>
            <p:nvPr/>
          </p:nvSpPr>
          <p:spPr>
            <a:xfrm>
              <a:off x="0" y="-38100"/>
              <a:ext cx="9601200" cy="1135380"/>
            </a:xfrm>
            <a:prstGeom prst="rect">
              <a:avLst/>
            </a:prstGeom>
          </p:spPr>
          <p:txBody>
            <a:bodyPr anchor="ctr" rtlCol="false" tIns="0" lIns="0" bIns="0" rIns="0"/>
            <a:lstStyle/>
            <a:p>
              <a:pPr algn="l">
                <a:lnSpc>
                  <a:spcPts val="2099"/>
                </a:lnSpc>
              </a:pPr>
              <a:r>
                <a:rPr lang="en-US" sz="1575">
                  <a:solidFill>
                    <a:srgbClr val="2B5940"/>
                  </a:solidFill>
                  <a:latin typeface="Calibri (MS)"/>
                  <a:ea typeface="Calibri (MS)"/>
                  <a:cs typeface="Calibri (MS)"/>
                  <a:sym typeface="Calibri (MS)"/>
                </a:rPr>
                <a:t>Named the authoritative source (RBI) and asked for numbers instead of a description — returned citable, verifiable figures.</a:t>
              </a:r>
            </a:p>
          </p:txBody>
        </p:sp>
      </p:grpSp>
      <p:grpSp>
        <p:nvGrpSpPr>
          <p:cNvPr name="Group 35" id="35"/>
          <p:cNvGrpSpPr/>
          <p:nvPr/>
        </p:nvGrpSpPr>
        <p:grpSpPr>
          <a:xfrm rot="0">
            <a:off x="8613648" y="3154680"/>
            <a:ext cx="548640" cy="480060"/>
            <a:chOff x="0" y="0"/>
            <a:chExt cx="731520" cy="640080"/>
          </a:xfrm>
        </p:grpSpPr>
        <p:sp>
          <p:nvSpPr>
            <p:cNvPr name="Freeform 36" id="36"/>
            <p:cNvSpPr/>
            <p:nvPr/>
          </p:nvSpPr>
          <p:spPr>
            <a:xfrm flipH="false" flipV="false" rot="0">
              <a:off x="0" y="0"/>
              <a:ext cx="731520" cy="640080"/>
            </a:xfrm>
            <a:custGeom>
              <a:avLst/>
              <a:gdLst/>
              <a:ahLst/>
              <a:cxnLst/>
              <a:rect r="r" b="b" t="t" l="l"/>
              <a:pathLst>
                <a:path h="640080" w="731520">
                  <a:moveTo>
                    <a:pt x="0" y="160020"/>
                  </a:moveTo>
                  <a:lnTo>
                    <a:pt x="411480" y="160020"/>
                  </a:lnTo>
                  <a:lnTo>
                    <a:pt x="411480" y="0"/>
                  </a:lnTo>
                  <a:lnTo>
                    <a:pt x="731520" y="320040"/>
                  </a:lnTo>
                  <a:lnTo>
                    <a:pt x="411480" y="640080"/>
                  </a:lnTo>
                  <a:lnTo>
                    <a:pt x="411480" y="480060"/>
                  </a:lnTo>
                  <a:lnTo>
                    <a:pt x="0" y="480060"/>
                  </a:lnTo>
                  <a:close/>
                </a:path>
              </a:pathLst>
            </a:custGeom>
            <a:solidFill>
              <a:srgbClr val="004C8F"/>
            </a:solidFill>
          </p:spPr>
        </p:sp>
      </p:grpSp>
      <p:grpSp>
        <p:nvGrpSpPr>
          <p:cNvPr name="Group 37" id="37"/>
          <p:cNvGrpSpPr/>
          <p:nvPr/>
        </p:nvGrpSpPr>
        <p:grpSpPr>
          <a:xfrm rot="0">
            <a:off x="822960" y="5006340"/>
            <a:ext cx="10972800" cy="438912"/>
            <a:chOff x="0" y="0"/>
            <a:chExt cx="14630400" cy="585216"/>
          </a:xfrm>
        </p:grpSpPr>
        <p:sp>
          <p:nvSpPr>
            <p:cNvPr name="Freeform 38" id="38"/>
            <p:cNvSpPr/>
            <p:nvPr/>
          </p:nvSpPr>
          <p:spPr>
            <a:xfrm flipH="false" flipV="false" rot="0">
              <a:off x="0" y="0"/>
              <a:ext cx="14630400" cy="585216"/>
            </a:xfrm>
            <a:custGeom>
              <a:avLst/>
              <a:gdLst/>
              <a:ahLst/>
              <a:cxnLst/>
              <a:rect r="r" b="b" t="t" l="l"/>
              <a:pathLst>
                <a:path h="585216" w="14630400">
                  <a:moveTo>
                    <a:pt x="0" y="0"/>
                  </a:moveTo>
                  <a:lnTo>
                    <a:pt x="14630400" y="0"/>
                  </a:lnTo>
                  <a:lnTo>
                    <a:pt x="14630400" y="585216"/>
                  </a:lnTo>
                  <a:lnTo>
                    <a:pt x="0" y="585216"/>
                  </a:lnTo>
                  <a:close/>
                </a:path>
              </a:pathLst>
            </a:custGeom>
            <a:blipFill>
              <a:blip r:embed="rId2">
                <a:alphaModFix amt="0"/>
              </a:blip>
              <a:stretch>
                <a:fillRect l="0" t="-437125" r="0" b="-437125"/>
              </a:stretch>
            </a:blipFill>
          </p:spPr>
        </p:sp>
        <p:sp>
          <p:nvSpPr>
            <p:cNvPr name="TextBox 39" id="39"/>
            <p:cNvSpPr txBox="true"/>
            <p:nvPr/>
          </p:nvSpPr>
          <p:spPr>
            <a:xfrm>
              <a:off x="0" y="-47625"/>
              <a:ext cx="14630400" cy="632841"/>
            </a:xfrm>
            <a:prstGeom prst="rect">
              <a:avLst/>
            </a:prstGeom>
          </p:spPr>
          <p:txBody>
            <a:bodyPr anchor="ctr" rtlCol="false" tIns="0" lIns="0" bIns="0" rIns="0"/>
            <a:lstStyle/>
            <a:p>
              <a:pPr algn="l">
                <a:lnSpc>
                  <a:spcPts val="2520"/>
                </a:lnSpc>
              </a:pPr>
              <a:r>
                <a:rPr lang="en-US" sz="2100" b="true">
                  <a:solidFill>
                    <a:srgbClr val="0A2540"/>
                  </a:solidFill>
                  <a:latin typeface="Calibri (MS) Bold"/>
                  <a:ea typeface="Calibri (MS) Bold"/>
                  <a:cs typeface="Calibri (MS) Bold"/>
                  <a:sym typeface="Calibri (MS) Bold"/>
                </a:rPr>
                <a:t>Why the improved prompt produced a better result</a:t>
              </a:r>
            </a:p>
          </p:txBody>
        </p:sp>
      </p:grpSp>
      <p:grpSp>
        <p:nvGrpSpPr>
          <p:cNvPr name="Group 40" id="40"/>
          <p:cNvGrpSpPr/>
          <p:nvPr/>
        </p:nvGrpSpPr>
        <p:grpSpPr>
          <a:xfrm rot="0">
            <a:off x="822960" y="5513832"/>
            <a:ext cx="16322040" cy="685800"/>
            <a:chOff x="0" y="0"/>
            <a:chExt cx="21762720" cy="914400"/>
          </a:xfrm>
        </p:grpSpPr>
        <p:sp>
          <p:nvSpPr>
            <p:cNvPr name="Freeform 41" id="41"/>
            <p:cNvSpPr/>
            <p:nvPr/>
          </p:nvSpPr>
          <p:spPr>
            <a:xfrm flipH="false" flipV="false" rot="0">
              <a:off x="0" y="0"/>
              <a:ext cx="21762720" cy="914400"/>
            </a:xfrm>
            <a:custGeom>
              <a:avLst/>
              <a:gdLst/>
              <a:ahLst/>
              <a:cxnLst/>
              <a:rect r="r" b="b" t="t" l="l"/>
              <a:pathLst>
                <a:path h="914400" w="21762720">
                  <a:moveTo>
                    <a:pt x="0" y="0"/>
                  </a:moveTo>
                  <a:lnTo>
                    <a:pt x="21762720" y="0"/>
                  </a:lnTo>
                  <a:lnTo>
                    <a:pt x="21762720" y="914400"/>
                  </a:lnTo>
                  <a:lnTo>
                    <a:pt x="0" y="914400"/>
                  </a:lnTo>
                  <a:close/>
                </a:path>
              </a:pathLst>
            </a:custGeom>
            <a:blipFill>
              <a:blip r:embed="rId2">
                <a:alphaModFix amt="0"/>
              </a:blip>
              <a:stretch>
                <a:fillRect l="0" t="-413743" r="0" b="-413743"/>
              </a:stretch>
            </a:blipFill>
          </p:spPr>
        </p:sp>
        <p:sp>
          <p:nvSpPr>
            <p:cNvPr name="TextBox 42" id="42"/>
            <p:cNvSpPr txBox="true"/>
            <p:nvPr/>
          </p:nvSpPr>
          <p:spPr>
            <a:xfrm>
              <a:off x="0" y="-57150"/>
              <a:ext cx="21762720" cy="971550"/>
            </a:xfrm>
            <a:prstGeom prst="rect">
              <a:avLst/>
            </a:prstGeom>
          </p:spPr>
          <p:txBody>
            <a:bodyPr anchor="ctr" rtlCol="false" tIns="0" lIns="0" bIns="0" rIns="0"/>
            <a:lstStyle/>
            <a:p>
              <a:pPr algn="l">
                <a:lnSpc>
                  <a:spcPts val="2399"/>
                </a:lnSpc>
              </a:pPr>
              <a:r>
                <a:rPr lang="en-US" sz="1800">
                  <a:solidFill>
                    <a:srgbClr val="3D4C5A"/>
                  </a:solidFill>
                  <a:latin typeface="Calibri (MS)"/>
                  <a:ea typeface="Calibri (MS)"/>
                  <a:cs typeface="Calibri (MS)"/>
                  <a:sym typeface="Calibri (MS)"/>
                </a:rPr>
                <a:t>Naming a specific, authoritative source and asking for data — instead of a general topic and a description — moved the research from anecdotal claims to citable evidence.</a:t>
              </a:r>
            </a:p>
          </p:txBody>
        </p:sp>
      </p:grpSp>
      <p:grpSp>
        <p:nvGrpSpPr>
          <p:cNvPr name="Group 43" id="43"/>
          <p:cNvGrpSpPr/>
          <p:nvPr/>
        </p:nvGrpSpPr>
        <p:grpSpPr>
          <a:xfrm rot="0">
            <a:off x="822960" y="6446520"/>
            <a:ext cx="10972800" cy="438912"/>
            <a:chOff x="0" y="0"/>
            <a:chExt cx="14630400" cy="585216"/>
          </a:xfrm>
        </p:grpSpPr>
        <p:sp>
          <p:nvSpPr>
            <p:cNvPr name="Freeform 44" id="44"/>
            <p:cNvSpPr/>
            <p:nvPr/>
          </p:nvSpPr>
          <p:spPr>
            <a:xfrm flipH="false" flipV="false" rot="0">
              <a:off x="0" y="0"/>
              <a:ext cx="14630400" cy="585216"/>
            </a:xfrm>
            <a:custGeom>
              <a:avLst/>
              <a:gdLst/>
              <a:ahLst/>
              <a:cxnLst/>
              <a:rect r="r" b="b" t="t" l="l"/>
              <a:pathLst>
                <a:path h="585216" w="14630400">
                  <a:moveTo>
                    <a:pt x="0" y="0"/>
                  </a:moveTo>
                  <a:lnTo>
                    <a:pt x="14630400" y="0"/>
                  </a:lnTo>
                  <a:lnTo>
                    <a:pt x="14630400" y="585216"/>
                  </a:lnTo>
                  <a:lnTo>
                    <a:pt x="0" y="585216"/>
                  </a:lnTo>
                  <a:close/>
                </a:path>
              </a:pathLst>
            </a:custGeom>
            <a:blipFill>
              <a:blip r:embed="rId2">
                <a:alphaModFix amt="0"/>
              </a:blip>
              <a:stretch>
                <a:fillRect l="0" t="-437125" r="0" b="-437125"/>
              </a:stretch>
            </a:blipFill>
          </p:spPr>
        </p:sp>
        <p:sp>
          <p:nvSpPr>
            <p:cNvPr name="TextBox 45" id="45"/>
            <p:cNvSpPr txBox="true"/>
            <p:nvPr/>
          </p:nvSpPr>
          <p:spPr>
            <a:xfrm>
              <a:off x="0" y="-47625"/>
              <a:ext cx="14630400" cy="632841"/>
            </a:xfrm>
            <a:prstGeom prst="rect">
              <a:avLst/>
            </a:prstGeom>
          </p:spPr>
          <p:txBody>
            <a:bodyPr anchor="ctr" rtlCol="false" tIns="0" lIns="0" bIns="0" rIns="0"/>
            <a:lstStyle/>
            <a:p>
              <a:pPr algn="l">
                <a:lnSpc>
                  <a:spcPts val="2520"/>
                </a:lnSpc>
              </a:pPr>
              <a:r>
                <a:rPr lang="en-US" sz="2100" b="true">
                  <a:solidFill>
                    <a:srgbClr val="0A2540"/>
                  </a:solidFill>
                  <a:latin typeface="Calibri (MS) Bold"/>
                  <a:ea typeface="Calibri (MS) Bold"/>
                  <a:cs typeface="Calibri (MS) Bold"/>
                  <a:sym typeface="Calibri (MS) Bold"/>
                </a:rPr>
                <a:t>Critical evaluation of AI-generated output</a:t>
              </a:r>
            </a:p>
          </p:txBody>
        </p:sp>
      </p:grpSp>
      <p:grpSp>
        <p:nvGrpSpPr>
          <p:cNvPr name="Group 46" id="46"/>
          <p:cNvGrpSpPr/>
          <p:nvPr/>
        </p:nvGrpSpPr>
        <p:grpSpPr>
          <a:xfrm rot="0">
            <a:off x="822960" y="6995160"/>
            <a:ext cx="3154680" cy="685800"/>
            <a:chOff x="0" y="0"/>
            <a:chExt cx="4206240" cy="914400"/>
          </a:xfrm>
        </p:grpSpPr>
        <p:sp>
          <p:nvSpPr>
            <p:cNvPr name="Freeform 47" id="47"/>
            <p:cNvSpPr/>
            <p:nvPr/>
          </p:nvSpPr>
          <p:spPr>
            <a:xfrm flipH="false" flipV="false" rot="0">
              <a:off x="0" y="0"/>
              <a:ext cx="4206240" cy="914400"/>
            </a:xfrm>
            <a:custGeom>
              <a:avLst/>
              <a:gdLst/>
              <a:ahLst/>
              <a:cxnLst/>
              <a:rect r="r" b="b" t="t" l="l"/>
              <a:pathLst>
                <a:path h="914400" w="4206240">
                  <a:moveTo>
                    <a:pt x="0" y="0"/>
                  </a:moveTo>
                  <a:lnTo>
                    <a:pt x="4206240" y="0"/>
                  </a:lnTo>
                  <a:lnTo>
                    <a:pt x="4206240" y="914400"/>
                  </a:lnTo>
                  <a:lnTo>
                    <a:pt x="0" y="914400"/>
                  </a:lnTo>
                  <a:close/>
                </a:path>
              </a:pathLst>
            </a:custGeom>
            <a:blipFill>
              <a:blip r:embed="rId2">
                <a:alphaModFix amt="0"/>
              </a:blip>
              <a:stretch>
                <a:fillRect l="0" t="-39631" r="0" b="-39631"/>
              </a:stretch>
            </a:blipFill>
          </p:spPr>
        </p:sp>
        <p:sp>
          <p:nvSpPr>
            <p:cNvPr name="TextBox 48" id="48"/>
            <p:cNvSpPr txBox="true"/>
            <p:nvPr/>
          </p:nvSpPr>
          <p:spPr>
            <a:xfrm>
              <a:off x="0" y="-38100"/>
              <a:ext cx="4206240" cy="952500"/>
            </a:xfrm>
            <a:prstGeom prst="rect">
              <a:avLst/>
            </a:prstGeom>
          </p:spPr>
          <p:txBody>
            <a:bodyPr anchor="ctr" rtlCol="false" tIns="0" lIns="0" bIns="0" rIns="0"/>
            <a:lstStyle/>
            <a:p>
              <a:pPr algn="l">
                <a:lnSpc>
                  <a:spcPts val="2070"/>
                </a:lnSpc>
              </a:pPr>
              <a:r>
                <a:rPr lang="en-US" sz="1725" b="true">
                  <a:solidFill>
                    <a:srgbClr val="ED232A"/>
                  </a:solidFill>
                  <a:latin typeface="Calibri (MS) Bold"/>
                  <a:ea typeface="Calibri (MS) Bold"/>
                  <a:cs typeface="Calibri (MS) Bold"/>
                  <a:sym typeface="Calibri (MS) Bold"/>
                </a:rPr>
                <a:t>Problem found:</a:t>
              </a:r>
            </a:p>
          </p:txBody>
        </p:sp>
      </p:grpSp>
      <p:grpSp>
        <p:nvGrpSpPr>
          <p:cNvPr name="Group 49" id="49"/>
          <p:cNvGrpSpPr/>
          <p:nvPr/>
        </p:nvGrpSpPr>
        <p:grpSpPr>
          <a:xfrm rot="0">
            <a:off x="4046220" y="6995160"/>
            <a:ext cx="13098780" cy="754380"/>
            <a:chOff x="0" y="0"/>
            <a:chExt cx="17465040" cy="1005840"/>
          </a:xfrm>
        </p:grpSpPr>
        <p:sp>
          <p:nvSpPr>
            <p:cNvPr name="Freeform 50" id="50"/>
            <p:cNvSpPr/>
            <p:nvPr/>
          </p:nvSpPr>
          <p:spPr>
            <a:xfrm flipH="false" flipV="false" rot="0">
              <a:off x="0" y="0"/>
              <a:ext cx="17465039" cy="1005840"/>
            </a:xfrm>
            <a:custGeom>
              <a:avLst/>
              <a:gdLst/>
              <a:ahLst/>
              <a:cxnLst/>
              <a:rect r="r" b="b" t="t" l="l"/>
              <a:pathLst>
                <a:path h="1005840" w="17465039">
                  <a:moveTo>
                    <a:pt x="0" y="0"/>
                  </a:moveTo>
                  <a:lnTo>
                    <a:pt x="17465039" y="0"/>
                  </a:lnTo>
                  <a:lnTo>
                    <a:pt x="17465039" y="1005840"/>
                  </a:lnTo>
                  <a:lnTo>
                    <a:pt x="0" y="1005840"/>
                  </a:lnTo>
                  <a:close/>
                </a:path>
              </a:pathLst>
            </a:custGeom>
            <a:blipFill>
              <a:blip r:embed="rId2">
                <a:alphaModFix amt="0"/>
              </a:blip>
              <a:stretch>
                <a:fillRect l="0" t="-288331" r="0" b="-288331"/>
              </a:stretch>
            </a:blipFill>
          </p:spPr>
        </p:sp>
        <p:sp>
          <p:nvSpPr>
            <p:cNvPr name="TextBox 51" id="51"/>
            <p:cNvSpPr txBox="true"/>
            <p:nvPr/>
          </p:nvSpPr>
          <p:spPr>
            <a:xfrm>
              <a:off x="0" y="-47625"/>
              <a:ext cx="17465040" cy="1053465"/>
            </a:xfrm>
            <a:prstGeom prst="rect">
              <a:avLst/>
            </a:prstGeom>
          </p:spPr>
          <p:txBody>
            <a:bodyPr anchor="ctr" rtlCol="false" tIns="0" lIns="0" bIns="0" rIns="0"/>
            <a:lstStyle/>
            <a:p>
              <a:pPr algn="l">
                <a:lnSpc>
                  <a:spcPts val="2100"/>
                </a:lnSpc>
              </a:pPr>
              <a:r>
                <a:rPr lang="en-US" sz="1650">
                  <a:solidFill>
                    <a:srgbClr val="3D4C5A"/>
                  </a:solidFill>
                  <a:latin typeface="Calibri (MS)"/>
                  <a:ea typeface="Calibri (MS)"/>
                  <a:cs typeface="Calibri (MS)"/>
                  <a:sym typeface="Calibri (MS)"/>
                </a:rPr>
                <a:t>Two search results claimed specific HDFC fraud-detection features (“behavioural biometrics”) with no source from the bank itself.</a:t>
              </a:r>
            </a:p>
          </p:txBody>
        </p:sp>
      </p:grpSp>
      <p:grpSp>
        <p:nvGrpSpPr>
          <p:cNvPr name="Group 52" id="52"/>
          <p:cNvGrpSpPr/>
          <p:nvPr/>
        </p:nvGrpSpPr>
        <p:grpSpPr>
          <a:xfrm rot="0">
            <a:off x="822960" y="7845552"/>
            <a:ext cx="3154680" cy="685800"/>
            <a:chOff x="0" y="0"/>
            <a:chExt cx="4206240" cy="914400"/>
          </a:xfrm>
        </p:grpSpPr>
        <p:sp>
          <p:nvSpPr>
            <p:cNvPr name="Freeform 53" id="53"/>
            <p:cNvSpPr/>
            <p:nvPr/>
          </p:nvSpPr>
          <p:spPr>
            <a:xfrm flipH="false" flipV="false" rot="0">
              <a:off x="0" y="0"/>
              <a:ext cx="4206240" cy="914400"/>
            </a:xfrm>
            <a:custGeom>
              <a:avLst/>
              <a:gdLst/>
              <a:ahLst/>
              <a:cxnLst/>
              <a:rect r="r" b="b" t="t" l="l"/>
              <a:pathLst>
                <a:path h="914400" w="4206240">
                  <a:moveTo>
                    <a:pt x="0" y="0"/>
                  </a:moveTo>
                  <a:lnTo>
                    <a:pt x="4206240" y="0"/>
                  </a:lnTo>
                  <a:lnTo>
                    <a:pt x="4206240" y="914400"/>
                  </a:lnTo>
                  <a:lnTo>
                    <a:pt x="0" y="914400"/>
                  </a:lnTo>
                  <a:close/>
                </a:path>
              </a:pathLst>
            </a:custGeom>
            <a:blipFill>
              <a:blip r:embed="rId2">
                <a:alphaModFix amt="0"/>
              </a:blip>
              <a:stretch>
                <a:fillRect l="0" t="-39631" r="0" b="-39631"/>
              </a:stretch>
            </a:blipFill>
          </p:spPr>
        </p:sp>
        <p:sp>
          <p:nvSpPr>
            <p:cNvPr name="TextBox 54" id="54"/>
            <p:cNvSpPr txBox="true"/>
            <p:nvPr/>
          </p:nvSpPr>
          <p:spPr>
            <a:xfrm>
              <a:off x="0" y="-38100"/>
              <a:ext cx="4206240" cy="952500"/>
            </a:xfrm>
            <a:prstGeom prst="rect">
              <a:avLst/>
            </a:prstGeom>
          </p:spPr>
          <p:txBody>
            <a:bodyPr anchor="ctr" rtlCol="false" tIns="0" lIns="0" bIns="0" rIns="0"/>
            <a:lstStyle/>
            <a:p>
              <a:pPr algn="l">
                <a:lnSpc>
                  <a:spcPts val="2070"/>
                </a:lnSpc>
              </a:pPr>
              <a:r>
                <a:rPr lang="en-US" sz="1725" b="true">
                  <a:solidFill>
                    <a:srgbClr val="ED232A"/>
                  </a:solidFill>
                  <a:latin typeface="Calibri (MS) Bold"/>
                  <a:ea typeface="Calibri (MS) Bold"/>
                  <a:cs typeface="Calibri (MS) Bold"/>
                  <a:sym typeface="Calibri (MS) Bold"/>
                </a:rPr>
                <a:t>Verified against:</a:t>
              </a:r>
            </a:p>
          </p:txBody>
        </p:sp>
      </p:grpSp>
      <p:grpSp>
        <p:nvGrpSpPr>
          <p:cNvPr name="Group 55" id="55"/>
          <p:cNvGrpSpPr/>
          <p:nvPr/>
        </p:nvGrpSpPr>
        <p:grpSpPr>
          <a:xfrm rot="0">
            <a:off x="4046220" y="7845552"/>
            <a:ext cx="13098780" cy="754380"/>
            <a:chOff x="0" y="0"/>
            <a:chExt cx="17465040" cy="1005840"/>
          </a:xfrm>
        </p:grpSpPr>
        <p:sp>
          <p:nvSpPr>
            <p:cNvPr name="Freeform 56" id="56"/>
            <p:cNvSpPr/>
            <p:nvPr/>
          </p:nvSpPr>
          <p:spPr>
            <a:xfrm flipH="false" flipV="false" rot="0">
              <a:off x="0" y="0"/>
              <a:ext cx="17465039" cy="1005840"/>
            </a:xfrm>
            <a:custGeom>
              <a:avLst/>
              <a:gdLst/>
              <a:ahLst/>
              <a:cxnLst/>
              <a:rect r="r" b="b" t="t" l="l"/>
              <a:pathLst>
                <a:path h="1005840" w="17465039">
                  <a:moveTo>
                    <a:pt x="0" y="0"/>
                  </a:moveTo>
                  <a:lnTo>
                    <a:pt x="17465039" y="0"/>
                  </a:lnTo>
                  <a:lnTo>
                    <a:pt x="17465039" y="1005840"/>
                  </a:lnTo>
                  <a:lnTo>
                    <a:pt x="0" y="1005840"/>
                  </a:lnTo>
                  <a:close/>
                </a:path>
              </a:pathLst>
            </a:custGeom>
            <a:blipFill>
              <a:blip r:embed="rId2">
                <a:alphaModFix amt="0"/>
              </a:blip>
              <a:stretch>
                <a:fillRect l="0" t="-288331" r="0" b="-288331"/>
              </a:stretch>
            </a:blipFill>
          </p:spPr>
        </p:sp>
        <p:sp>
          <p:nvSpPr>
            <p:cNvPr name="TextBox 57" id="57"/>
            <p:cNvSpPr txBox="true"/>
            <p:nvPr/>
          </p:nvSpPr>
          <p:spPr>
            <a:xfrm>
              <a:off x="0" y="-47625"/>
              <a:ext cx="17465040" cy="1053465"/>
            </a:xfrm>
            <a:prstGeom prst="rect">
              <a:avLst/>
            </a:prstGeom>
          </p:spPr>
          <p:txBody>
            <a:bodyPr anchor="ctr" rtlCol="false" tIns="0" lIns="0" bIns="0" rIns="0"/>
            <a:lstStyle/>
            <a:p>
              <a:pPr algn="l">
                <a:lnSpc>
                  <a:spcPts val="2100"/>
                </a:lnSpc>
              </a:pPr>
              <a:r>
                <a:rPr lang="en-US" sz="1650">
                  <a:solidFill>
                    <a:srgbClr val="3D4C5A"/>
                  </a:solidFill>
                  <a:latin typeface="Calibri (MS)"/>
                  <a:ea typeface="Calibri (MS)"/>
                  <a:cs typeface="Calibri (MS)"/>
                  <a:sym typeface="Calibri (MS)"/>
                </a:rPr>
                <a:t>HDFC Bank's own Form 20-F (FY2026) — which discusses risk management in general terms but does not confirm these specific techniques.</a:t>
              </a:r>
            </a:p>
          </p:txBody>
        </p:sp>
      </p:grpSp>
      <p:grpSp>
        <p:nvGrpSpPr>
          <p:cNvPr name="Group 58" id="58"/>
          <p:cNvGrpSpPr/>
          <p:nvPr/>
        </p:nvGrpSpPr>
        <p:grpSpPr>
          <a:xfrm rot="0">
            <a:off x="822960" y="8695944"/>
            <a:ext cx="3154680" cy="685800"/>
            <a:chOff x="0" y="0"/>
            <a:chExt cx="4206240" cy="914400"/>
          </a:xfrm>
        </p:grpSpPr>
        <p:sp>
          <p:nvSpPr>
            <p:cNvPr name="Freeform 59" id="59"/>
            <p:cNvSpPr/>
            <p:nvPr/>
          </p:nvSpPr>
          <p:spPr>
            <a:xfrm flipH="false" flipV="false" rot="0">
              <a:off x="0" y="0"/>
              <a:ext cx="4206240" cy="914400"/>
            </a:xfrm>
            <a:custGeom>
              <a:avLst/>
              <a:gdLst/>
              <a:ahLst/>
              <a:cxnLst/>
              <a:rect r="r" b="b" t="t" l="l"/>
              <a:pathLst>
                <a:path h="914400" w="4206240">
                  <a:moveTo>
                    <a:pt x="0" y="0"/>
                  </a:moveTo>
                  <a:lnTo>
                    <a:pt x="4206240" y="0"/>
                  </a:lnTo>
                  <a:lnTo>
                    <a:pt x="4206240" y="914400"/>
                  </a:lnTo>
                  <a:lnTo>
                    <a:pt x="0" y="914400"/>
                  </a:lnTo>
                  <a:close/>
                </a:path>
              </a:pathLst>
            </a:custGeom>
            <a:blipFill>
              <a:blip r:embed="rId2">
                <a:alphaModFix amt="0"/>
              </a:blip>
              <a:stretch>
                <a:fillRect l="0" t="-39631" r="0" b="-39631"/>
              </a:stretch>
            </a:blipFill>
          </p:spPr>
        </p:sp>
        <p:sp>
          <p:nvSpPr>
            <p:cNvPr name="TextBox 60" id="60"/>
            <p:cNvSpPr txBox="true"/>
            <p:nvPr/>
          </p:nvSpPr>
          <p:spPr>
            <a:xfrm>
              <a:off x="0" y="-38100"/>
              <a:ext cx="4206240" cy="952500"/>
            </a:xfrm>
            <a:prstGeom prst="rect">
              <a:avLst/>
            </a:prstGeom>
          </p:spPr>
          <p:txBody>
            <a:bodyPr anchor="ctr" rtlCol="false" tIns="0" lIns="0" bIns="0" rIns="0"/>
            <a:lstStyle/>
            <a:p>
              <a:pPr algn="l">
                <a:lnSpc>
                  <a:spcPts val="2070"/>
                </a:lnSpc>
              </a:pPr>
              <a:r>
                <a:rPr lang="en-US" sz="1725" b="true">
                  <a:solidFill>
                    <a:srgbClr val="ED232A"/>
                  </a:solidFill>
                  <a:latin typeface="Calibri (MS) Bold"/>
                  <a:ea typeface="Calibri (MS) Bold"/>
                  <a:cs typeface="Calibri (MS) Bold"/>
                  <a:sym typeface="Calibri (MS) Bold"/>
                </a:rPr>
                <a:t>Process improved:</a:t>
              </a:r>
            </a:p>
          </p:txBody>
        </p:sp>
      </p:grpSp>
      <p:grpSp>
        <p:nvGrpSpPr>
          <p:cNvPr name="Group 61" id="61"/>
          <p:cNvGrpSpPr/>
          <p:nvPr/>
        </p:nvGrpSpPr>
        <p:grpSpPr>
          <a:xfrm rot="0">
            <a:off x="4046220" y="8695944"/>
            <a:ext cx="13098780" cy="754380"/>
            <a:chOff x="0" y="0"/>
            <a:chExt cx="17465040" cy="1005840"/>
          </a:xfrm>
        </p:grpSpPr>
        <p:sp>
          <p:nvSpPr>
            <p:cNvPr name="Freeform 62" id="62"/>
            <p:cNvSpPr/>
            <p:nvPr/>
          </p:nvSpPr>
          <p:spPr>
            <a:xfrm flipH="false" flipV="false" rot="0">
              <a:off x="0" y="0"/>
              <a:ext cx="17465039" cy="1005840"/>
            </a:xfrm>
            <a:custGeom>
              <a:avLst/>
              <a:gdLst/>
              <a:ahLst/>
              <a:cxnLst/>
              <a:rect r="r" b="b" t="t" l="l"/>
              <a:pathLst>
                <a:path h="1005840" w="17465039">
                  <a:moveTo>
                    <a:pt x="0" y="0"/>
                  </a:moveTo>
                  <a:lnTo>
                    <a:pt x="17465039" y="0"/>
                  </a:lnTo>
                  <a:lnTo>
                    <a:pt x="17465039" y="1005840"/>
                  </a:lnTo>
                  <a:lnTo>
                    <a:pt x="0" y="1005840"/>
                  </a:lnTo>
                  <a:close/>
                </a:path>
              </a:pathLst>
            </a:custGeom>
            <a:blipFill>
              <a:blip r:embed="rId2">
                <a:alphaModFix amt="0"/>
              </a:blip>
              <a:stretch>
                <a:fillRect l="0" t="-288331" r="0" b="-288331"/>
              </a:stretch>
            </a:blipFill>
          </p:spPr>
        </p:sp>
        <p:sp>
          <p:nvSpPr>
            <p:cNvPr name="TextBox 63" id="63"/>
            <p:cNvSpPr txBox="true"/>
            <p:nvPr/>
          </p:nvSpPr>
          <p:spPr>
            <a:xfrm>
              <a:off x="0" y="-47625"/>
              <a:ext cx="17465040" cy="1053465"/>
            </a:xfrm>
            <a:prstGeom prst="rect">
              <a:avLst/>
            </a:prstGeom>
          </p:spPr>
          <p:txBody>
            <a:bodyPr anchor="ctr" rtlCol="false" tIns="0" lIns="0" bIns="0" rIns="0"/>
            <a:lstStyle/>
            <a:p>
              <a:pPr algn="l">
                <a:lnSpc>
                  <a:spcPts val="2100"/>
                </a:lnSpc>
              </a:pPr>
              <a:r>
                <a:rPr lang="en-US" sz="1650">
                  <a:solidFill>
                    <a:srgbClr val="3D4C5A"/>
                  </a:solidFill>
                  <a:latin typeface="Calibri (MS)"/>
                  <a:ea typeface="Calibri (MS)"/>
                  <a:cs typeface="Calibri (MS)"/>
                  <a:sym typeface="Calibri (MS)"/>
                </a:rPr>
                <a:t>The deck frames these as industry-standard approaches suitable for the problem, not as confirmed HDFC features — and states no invented performance number.</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A2540"/>
        </a:solidFill>
      </p:bgPr>
    </p:bg>
    <p:spTree>
      <p:nvGrpSpPr>
        <p:cNvPr id="1" name=""/>
        <p:cNvGrpSpPr/>
        <p:nvPr/>
      </p:nvGrpSpPr>
      <p:grpSpPr>
        <a:xfrm>
          <a:off x="0" y="0"/>
          <a:ext cx="0" cy="0"/>
          <a:chOff x="0" y="0"/>
          <a:chExt cx="0" cy="0"/>
        </a:xfrm>
      </p:grpSpPr>
      <p:grpSp>
        <p:nvGrpSpPr>
          <p:cNvPr name="Group 2" id="2"/>
          <p:cNvGrpSpPr/>
          <p:nvPr/>
        </p:nvGrpSpPr>
        <p:grpSpPr>
          <a:xfrm rot="0">
            <a:off x="822960" y="685800"/>
            <a:ext cx="13030200" cy="822960"/>
            <a:chOff x="0" y="0"/>
            <a:chExt cx="17373600" cy="1097280"/>
          </a:xfrm>
        </p:grpSpPr>
        <p:sp>
          <p:nvSpPr>
            <p:cNvPr name="Freeform 3" id="3"/>
            <p:cNvSpPr/>
            <p:nvPr/>
          </p:nvSpPr>
          <p:spPr>
            <a:xfrm flipH="false" flipV="false" rot="0">
              <a:off x="0" y="0"/>
              <a:ext cx="17373600" cy="1097280"/>
            </a:xfrm>
            <a:custGeom>
              <a:avLst/>
              <a:gdLst/>
              <a:ahLst/>
              <a:cxnLst/>
              <a:rect r="r" b="b" t="t" l="l"/>
              <a:pathLst>
                <a:path h="1097280" w="17373600">
                  <a:moveTo>
                    <a:pt x="0" y="0"/>
                  </a:moveTo>
                  <a:lnTo>
                    <a:pt x="17373600" y="0"/>
                  </a:lnTo>
                  <a:lnTo>
                    <a:pt x="17373600" y="1097280"/>
                  </a:lnTo>
                  <a:lnTo>
                    <a:pt x="0" y="1097280"/>
                  </a:lnTo>
                  <a:close/>
                </a:path>
              </a:pathLst>
            </a:custGeom>
            <a:blipFill>
              <a:blip r:embed="rId2">
                <a:alphaModFix amt="0"/>
              </a:blip>
              <a:stretch>
                <a:fillRect l="0" t="-258513" r="0" b="-258513"/>
              </a:stretch>
            </a:blipFill>
          </p:spPr>
        </p:sp>
        <p:sp>
          <p:nvSpPr>
            <p:cNvPr name="TextBox 4" id="4"/>
            <p:cNvSpPr txBox="true"/>
            <p:nvPr/>
          </p:nvSpPr>
          <p:spPr>
            <a:xfrm>
              <a:off x="0" y="-9525"/>
              <a:ext cx="17373600" cy="1106805"/>
            </a:xfrm>
            <a:prstGeom prst="rect">
              <a:avLst/>
            </a:prstGeom>
          </p:spPr>
          <p:txBody>
            <a:bodyPr anchor="ctr" rtlCol="false" tIns="0" lIns="0" bIns="0" rIns="0"/>
            <a:lstStyle/>
            <a:p>
              <a:pPr algn="l">
                <a:lnSpc>
                  <a:spcPts val="5759"/>
                </a:lnSpc>
              </a:pPr>
              <a:r>
                <a:rPr lang="en-US" sz="4800" b="true">
                  <a:solidFill>
                    <a:srgbClr val="FFFFFF"/>
                  </a:solidFill>
                  <a:latin typeface="Cambria Bold"/>
                  <a:ea typeface="Cambria Bold"/>
                  <a:cs typeface="Cambria Bold"/>
                  <a:sym typeface="Cambria Bold"/>
                </a:rPr>
                <a:t>Recommendations &amp; Conclusion</a:t>
              </a:r>
            </a:p>
          </p:txBody>
        </p:sp>
      </p:grpSp>
      <p:grpSp>
        <p:nvGrpSpPr>
          <p:cNvPr name="Group 5" id="5"/>
          <p:cNvGrpSpPr/>
          <p:nvPr/>
        </p:nvGrpSpPr>
        <p:grpSpPr>
          <a:xfrm rot="0">
            <a:off x="822960" y="1536192"/>
            <a:ext cx="13030200" cy="411480"/>
            <a:chOff x="0" y="0"/>
            <a:chExt cx="17373600" cy="548640"/>
          </a:xfrm>
        </p:grpSpPr>
        <p:sp>
          <p:nvSpPr>
            <p:cNvPr name="Freeform 6" id="6"/>
            <p:cNvSpPr/>
            <p:nvPr/>
          </p:nvSpPr>
          <p:spPr>
            <a:xfrm flipH="false" flipV="false" rot="0">
              <a:off x="0" y="0"/>
              <a:ext cx="17373600" cy="548640"/>
            </a:xfrm>
            <a:custGeom>
              <a:avLst/>
              <a:gdLst/>
              <a:ahLst/>
              <a:cxnLst/>
              <a:rect r="r" b="b" t="t" l="l"/>
              <a:pathLst>
                <a:path h="548640" w="17373600">
                  <a:moveTo>
                    <a:pt x="0" y="0"/>
                  </a:moveTo>
                  <a:lnTo>
                    <a:pt x="17373600" y="0"/>
                  </a:lnTo>
                  <a:lnTo>
                    <a:pt x="17373600" y="548640"/>
                  </a:lnTo>
                  <a:lnTo>
                    <a:pt x="0" y="548640"/>
                  </a:lnTo>
                  <a:close/>
                </a:path>
              </a:pathLst>
            </a:custGeom>
            <a:blipFill>
              <a:blip r:embed="rId2">
                <a:alphaModFix amt="0"/>
              </a:blip>
              <a:stretch>
                <a:fillRect l="0" t="-567026" r="0" b="-567026"/>
              </a:stretch>
            </a:blipFill>
          </p:spPr>
        </p:sp>
        <p:sp>
          <p:nvSpPr>
            <p:cNvPr name="TextBox 7" id="7"/>
            <p:cNvSpPr txBox="true"/>
            <p:nvPr/>
          </p:nvSpPr>
          <p:spPr>
            <a:xfrm>
              <a:off x="0" y="-47625"/>
              <a:ext cx="17373600" cy="596265"/>
            </a:xfrm>
            <a:prstGeom prst="rect">
              <a:avLst/>
            </a:prstGeom>
          </p:spPr>
          <p:txBody>
            <a:bodyPr anchor="ctr" rtlCol="false" tIns="0" lIns="0" bIns="0" rIns="0"/>
            <a:lstStyle/>
            <a:p>
              <a:pPr algn="l">
                <a:lnSpc>
                  <a:spcPts val="2340"/>
                </a:lnSpc>
              </a:pPr>
              <a:r>
                <a:rPr lang="en-US" sz="1950" i="true">
                  <a:solidFill>
                    <a:srgbClr val="8FB3D9"/>
                  </a:solidFill>
                  <a:latin typeface="Calibri (MS) Italics"/>
                  <a:ea typeface="Calibri (MS) Italics"/>
                  <a:cs typeface="Calibri (MS) Italics"/>
                  <a:sym typeface="Calibri (MS) Italics"/>
                </a:rPr>
                <a:t>Advising the management of HDFC Bank</a:t>
              </a:r>
            </a:p>
          </p:txBody>
        </p:sp>
      </p:grpSp>
      <p:grpSp>
        <p:nvGrpSpPr>
          <p:cNvPr name="Group 8" id="8"/>
          <p:cNvGrpSpPr/>
          <p:nvPr/>
        </p:nvGrpSpPr>
        <p:grpSpPr>
          <a:xfrm rot="0">
            <a:off x="16664940" y="685800"/>
            <a:ext cx="850392" cy="850392"/>
            <a:chOff x="0" y="0"/>
            <a:chExt cx="1133856" cy="1133856"/>
          </a:xfrm>
        </p:grpSpPr>
        <p:sp>
          <p:nvSpPr>
            <p:cNvPr name="Freeform 9" id="9"/>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004C8F"/>
            </a:solidFill>
          </p:spPr>
        </p:sp>
      </p:grpSp>
      <p:grpSp>
        <p:nvGrpSpPr>
          <p:cNvPr name="Group 10" id="10"/>
          <p:cNvGrpSpPr/>
          <p:nvPr/>
        </p:nvGrpSpPr>
        <p:grpSpPr>
          <a:xfrm rot="0">
            <a:off x="16664940" y="685800"/>
            <a:ext cx="850392" cy="850392"/>
            <a:chOff x="0" y="0"/>
            <a:chExt cx="1133856" cy="1133856"/>
          </a:xfrm>
        </p:grpSpPr>
        <p:sp>
          <p:nvSpPr>
            <p:cNvPr name="Freeform 11" id="11"/>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2">
                <a:alphaModFix amt="0"/>
              </a:blip>
              <a:stretch>
                <a:fillRect l="-78303" t="0" r="-78303" b="0"/>
              </a:stretch>
            </a:blipFill>
          </p:spPr>
        </p:sp>
        <p:sp>
          <p:nvSpPr>
            <p:cNvPr name="TextBox 12" id="12"/>
            <p:cNvSpPr txBox="true"/>
            <p:nvPr/>
          </p:nvSpPr>
          <p:spPr>
            <a:xfrm>
              <a:off x="0" y="-19050"/>
              <a:ext cx="1133856" cy="1152906"/>
            </a:xfrm>
            <a:prstGeom prst="rect">
              <a:avLst/>
            </a:prstGeom>
          </p:spPr>
          <p:txBody>
            <a:bodyPr anchor="ctr" rtlCol="false" tIns="0" lIns="0" bIns="0" rIns="0"/>
            <a:lstStyle/>
            <a:p>
              <a:pPr algn="ctr">
                <a:lnSpc>
                  <a:spcPts val="2700"/>
                </a:lnSpc>
              </a:pPr>
              <a:r>
                <a:rPr lang="en-US" sz="2250" b="true">
                  <a:solidFill>
                    <a:srgbClr val="FFFFFF"/>
                  </a:solidFill>
                  <a:latin typeface="Cambria Bold"/>
                  <a:ea typeface="Cambria Bold"/>
                  <a:cs typeface="Cambria Bold"/>
                  <a:sym typeface="Cambria Bold"/>
                </a:rPr>
                <a:t>11</a:t>
              </a:r>
            </a:p>
          </p:txBody>
        </p:sp>
      </p:grpSp>
      <p:grpSp>
        <p:nvGrpSpPr>
          <p:cNvPr name="Group 13" id="13"/>
          <p:cNvGrpSpPr/>
          <p:nvPr/>
        </p:nvGrpSpPr>
        <p:grpSpPr>
          <a:xfrm rot="0">
            <a:off x="822960" y="2468880"/>
            <a:ext cx="576072" cy="576072"/>
            <a:chOff x="0" y="0"/>
            <a:chExt cx="768096" cy="768096"/>
          </a:xfrm>
        </p:grpSpPr>
        <p:sp>
          <p:nvSpPr>
            <p:cNvPr name="Freeform 14" id="1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ED232A"/>
            </a:solidFill>
          </p:spPr>
        </p:sp>
      </p:grpSp>
      <p:grpSp>
        <p:nvGrpSpPr>
          <p:cNvPr name="Group 15" id="15"/>
          <p:cNvGrpSpPr/>
          <p:nvPr/>
        </p:nvGrpSpPr>
        <p:grpSpPr>
          <a:xfrm rot="0">
            <a:off x="822960" y="2468880"/>
            <a:ext cx="576072" cy="576072"/>
            <a:chOff x="0" y="0"/>
            <a:chExt cx="768096" cy="768096"/>
          </a:xfrm>
        </p:grpSpPr>
        <p:sp>
          <p:nvSpPr>
            <p:cNvPr name="Freeform 16" id="16"/>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2">
                <a:alphaModFix amt="0"/>
              </a:blip>
              <a:stretch>
                <a:fillRect l="-78303" t="0" r="-78303" b="0"/>
              </a:stretch>
            </a:blipFill>
          </p:spPr>
        </p:sp>
        <p:sp>
          <p:nvSpPr>
            <p:cNvPr name="TextBox 17" id="17"/>
            <p:cNvSpPr txBox="true"/>
            <p:nvPr/>
          </p:nvSpPr>
          <p:spPr>
            <a:xfrm>
              <a:off x="0" y="-47625"/>
              <a:ext cx="768096" cy="815721"/>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1</a:t>
              </a:r>
            </a:p>
          </p:txBody>
        </p:sp>
      </p:grpSp>
      <p:grpSp>
        <p:nvGrpSpPr>
          <p:cNvPr name="Group 18" id="18"/>
          <p:cNvGrpSpPr/>
          <p:nvPr/>
        </p:nvGrpSpPr>
        <p:grpSpPr>
          <a:xfrm rot="0">
            <a:off x="1618488" y="2400300"/>
            <a:ext cx="7269480" cy="438912"/>
            <a:chOff x="0" y="0"/>
            <a:chExt cx="9692640" cy="585216"/>
          </a:xfrm>
        </p:grpSpPr>
        <p:sp>
          <p:nvSpPr>
            <p:cNvPr name="Freeform 19" id="19"/>
            <p:cNvSpPr/>
            <p:nvPr/>
          </p:nvSpPr>
          <p:spPr>
            <a:xfrm flipH="false" flipV="false" rot="0">
              <a:off x="0" y="0"/>
              <a:ext cx="9692640" cy="585216"/>
            </a:xfrm>
            <a:custGeom>
              <a:avLst/>
              <a:gdLst/>
              <a:ahLst/>
              <a:cxnLst/>
              <a:rect r="r" b="b" t="t" l="l"/>
              <a:pathLst>
                <a:path h="585216" w="9692640">
                  <a:moveTo>
                    <a:pt x="0" y="0"/>
                  </a:moveTo>
                  <a:lnTo>
                    <a:pt x="9692640" y="0"/>
                  </a:lnTo>
                  <a:lnTo>
                    <a:pt x="9692640" y="585216"/>
                  </a:lnTo>
                  <a:lnTo>
                    <a:pt x="0" y="585216"/>
                  </a:lnTo>
                  <a:close/>
                </a:path>
              </a:pathLst>
            </a:custGeom>
            <a:blipFill>
              <a:blip r:embed="rId2">
                <a:alphaModFix amt="0"/>
              </a:blip>
              <a:stretch>
                <a:fillRect l="0" t="-272720" r="0" b="-272720"/>
              </a:stretch>
            </a:blipFill>
          </p:spPr>
        </p:sp>
        <p:sp>
          <p:nvSpPr>
            <p:cNvPr name="TextBox 20" id="20"/>
            <p:cNvSpPr txBox="true"/>
            <p:nvPr/>
          </p:nvSpPr>
          <p:spPr>
            <a:xfrm>
              <a:off x="0" y="-47625"/>
              <a:ext cx="9692640" cy="632841"/>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Run a hybrid model, not a single one</a:t>
              </a:r>
            </a:p>
          </p:txBody>
        </p:sp>
      </p:grpSp>
      <p:grpSp>
        <p:nvGrpSpPr>
          <p:cNvPr name="Group 21" id="21"/>
          <p:cNvGrpSpPr/>
          <p:nvPr/>
        </p:nvGrpSpPr>
        <p:grpSpPr>
          <a:xfrm rot="0">
            <a:off x="1618488" y="2894076"/>
            <a:ext cx="7269480" cy="987552"/>
            <a:chOff x="0" y="0"/>
            <a:chExt cx="9692640" cy="1316736"/>
          </a:xfrm>
        </p:grpSpPr>
        <p:sp>
          <p:nvSpPr>
            <p:cNvPr name="Freeform 22" id="22"/>
            <p:cNvSpPr/>
            <p:nvPr/>
          </p:nvSpPr>
          <p:spPr>
            <a:xfrm flipH="false" flipV="false" rot="0">
              <a:off x="0" y="0"/>
              <a:ext cx="9692640" cy="1316736"/>
            </a:xfrm>
            <a:custGeom>
              <a:avLst/>
              <a:gdLst/>
              <a:ahLst/>
              <a:cxnLst/>
              <a:rect r="r" b="b" t="t" l="l"/>
              <a:pathLst>
                <a:path h="1316736" w="9692640">
                  <a:moveTo>
                    <a:pt x="0" y="0"/>
                  </a:moveTo>
                  <a:lnTo>
                    <a:pt x="9692640" y="0"/>
                  </a:lnTo>
                  <a:lnTo>
                    <a:pt x="9692640" y="1316736"/>
                  </a:lnTo>
                  <a:lnTo>
                    <a:pt x="0" y="1316736"/>
                  </a:lnTo>
                  <a:close/>
                </a:path>
              </a:pathLst>
            </a:custGeom>
            <a:blipFill>
              <a:blip r:embed="rId2">
                <a:alphaModFix amt="0"/>
              </a:blip>
              <a:stretch>
                <a:fillRect l="0" t="-93431" r="0" b="-93431"/>
              </a:stretch>
            </a:blipFill>
          </p:spPr>
        </p:sp>
        <p:sp>
          <p:nvSpPr>
            <p:cNvPr name="TextBox 23" id="23"/>
            <p:cNvSpPr txBox="true"/>
            <p:nvPr/>
          </p:nvSpPr>
          <p:spPr>
            <a:xfrm>
              <a:off x="0" y="-57150"/>
              <a:ext cx="9692640" cy="1373886"/>
            </a:xfrm>
            <a:prstGeom prst="rect">
              <a:avLst/>
            </a:prstGeom>
          </p:spPr>
          <p:txBody>
            <a:bodyPr anchor="ctr" rtlCol="false" tIns="0" lIns="0" bIns="0" rIns="0"/>
            <a:lstStyle/>
            <a:p>
              <a:pPr algn="l">
                <a:lnSpc>
                  <a:spcPts val="2250"/>
                </a:lnSpc>
              </a:pPr>
              <a:r>
                <a:rPr lang="en-US" sz="1725">
                  <a:solidFill>
                    <a:srgbClr val="AFC6DE"/>
                  </a:solidFill>
                  <a:latin typeface="Calibri (MS)"/>
                  <a:ea typeface="Calibri (MS)"/>
                  <a:cs typeface="Calibri (MS)"/>
                  <a:sym typeface="Calibri (MS)"/>
                </a:rPr>
                <a:t>Pair a supervised classifier for known fraud types with unsupervised anomaly detection for emerging ones.</a:t>
              </a:r>
            </a:p>
          </p:txBody>
        </p:sp>
      </p:grpSp>
      <p:grpSp>
        <p:nvGrpSpPr>
          <p:cNvPr name="Group 24" id="24"/>
          <p:cNvGrpSpPr/>
          <p:nvPr/>
        </p:nvGrpSpPr>
        <p:grpSpPr>
          <a:xfrm rot="0">
            <a:off x="9395460" y="2468880"/>
            <a:ext cx="576072" cy="576072"/>
            <a:chOff x="0" y="0"/>
            <a:chExt cx="768096" cy="768096"/>
          </a:xfrm>
        </p:grpSpPr>
        <p:sp>
          <p:nvSpPr>
            <p:cNvPr name="Freeform 25" id="25"/>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ED232A"/>
            </a:solidFill>
          </p:spPr>
        </p:sp>
      </p:grpSp>
      <p:grpSp>
        <p:nvGrpSpPr>
          <p:cNvPr name="Group 26" id="26"/>
          <p:cNvGrpSpPr/>
          <p:nvPr/>
        </p:nvGrpSpPr>
        <p:grpSpPr>
          <a:xfrm rot="0">
            <a:off x="9395460" y="2468880"/>
            <a:ext cx="576072" cy="576072"/>
            <a:chOff x="0" y="0"/>
            <a:chExt cx="768096" cy="768096"/>
          </a:xfrm>
        </p:grpSpPr>
        <p:sp>
          <p:nvSpPr>
            <p:cNvPr name="Freeform 27" id="27"/>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2">
                <a:alphaModFix amt="0"/>
              </a:blip>
              <a:stretch>
                <a:fillRect l="-78303" t="0" r="-78303" b="0"/>
              </a:stretch>
            </a:blipFill>
          </p:spPr>
        </p:sp>
        <p:sp>
          <p:nvSpPr>
            <p:cNvPr name="TextBox 28" id="28"/>
            <p:cNvSpPr txBox="true"/>
            <p:nvPr/>
          </p:nvSpPr>
          <p:spPr>
            <a:xfrm>
              <a:off x="0" y="-47625"/>
              <a:ext cx="768096" cy="815721"/>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2</a:t>
              </a:r>
            </a:p>
          </p:txBody>
        </p:sp>
      </p:grpSp>
      <p:grpSp>
        <p:nvGrpSpPr>
          <p:cNvPr name="Group 29" id="29"/>
          <p:cNvGrpSpPr/>
          <p:nvPr/>
        </p:nvGrpSpPr>
        <p:grpSpPr>
          <a:xfrm rot="0">
            <a:off x="10190988" y="2400300"/>
            <a:ext cx="7269480" cy="438912"/>
            <a:chOff x="0" y="0"/>
            <a:chExt cx="9692640" cy="585216"/>
          </a:xfrm>
        </p:grpSpPr>
        <p:sp>
          <p:nvSpPr>
            <p:cNvPr name="Freeform 30" id="30"/>
            <p:cNvSpPr/>
            <p:nvPr/>
          </p:nvSpPr>
          <p:spPr>
            <a:xfrm flipH="false" flipV="false" rot="0">
              <a:off x="0" y="0"/>
              <a:ext cx="9692640" cy="585216"/>
            </a:xfrm>
            <a:custGeom>
              <a:avLst/>
              <a:gdLst/>
              <a:ahLst/>
              <a:cxnLst/>
              <a:rect r="r" b="b" t="t" l="l"/>
              <a:pathLst>
                <a:path h="585216" w="9692640">
                  <a:moveTo>
                    <a:pt x="0" y="0"/>
                  </a:moveTo>
                  <a:lnTo>
                    <a:pt x="9692640" y="0"/>
                  </a:lnTo>
                  <a:lnTo>
                    <a:pt x="9692640" y="585216"/>
                  </a:lnTo>
                  <a:lnTo>
                    <a:pt x="0" y="585216"/>
                  </a:lnTo>
                  <a:close/>
                </a:path>
              </a:pathLst>
            </a:custGeom>
            <a:blipFill>
              <a:blip r:embed="rId2">
                <a:alphaModFix amt="0"/>
              </a:blip>
              <a:stretch>
                <a:fillRect l="0" t="-272720" r="0" b="-272720"/>
              </a:stretch>
            </a:blipFill>
          </p:spPr>
        </p:sp>
        <p:sp>
          <p:nvSpPr>
            <p:cNvPr name="TextBox 31" id="31"/>
            <p:cNvSpPr txBox="true"/>
            <p:nvPr/>
          </p:nvSpPr>
          <p:spPr>
            <a:xfrm>
              <a:off x="0" y="-47625"/>
              <a:ext cx="9692640" cy="632841"/>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Optimise for business cost, not accuracy</a:t>
              </a:r>
            </a:p>
          </p:txBody>
        </p:sp>
      </p:grpSp>
      <p:grpSp>
        <p:nvGrpSpPr>
          <p:cNvPr name="Group 32" id="32"/>
          <p:cNvGrpSpPr/>
          <p:nvPr/>
        </p:nvGrpSpPr>
        <p:grpSpPr>
          <a:xfrm rot="0">
            <a:off x="10190988" y="2894076"/>
            <a:ext cx="7269480" cy="987552"/>
            <a:chOff x="0" y="0"/>
            <a:chExt cx="9692640" cy="1316736"/>
          </a:xfrm>
        </p:grpSpPr>
        <p:sp>
          <p:nvSpPr>
            <p:cNvPr name="Freeform 33" id="33"/>
            <p:cNvSpPr/>
            <p:nvPr/>
          </p:nvSpPr>
          <p:spPr>
            <a:xfrm flipH="false" flipV="false" rot="0">
              <a:off x="0" y="0"/>
              <a:ext cx="9692640" cy="1316736"/>
            </a:xfrm>
            <a:custGeom>
              <a:avLst/>
              <a:gdLst/>
              <a:ahLst/>
              <a:cxnLst/>
              <a:rect r="r" b="b" t="t" l="l"/>
              <a:pathLst>
                <a:path h="1316736" w="9692640">
                  <a:moveTo>
                    <a:pt x="0" y="0"/>
                  </a:moveTo>
                  <a:lnTo>
                    <a:pt x="9692640" y="0"/>
                  </a:lnTo>
                  <a:lnTo>
                    <a:pt x="9692640" y="1316736"/>
                  </a:lnTo>
                  <a:lnTo>
                    <a:pt x="0" y="1316736"/>
                  </a:lnTo>
                  <a:close/>
                </a:path>
              </a:pathLst>
            </a:custGeom>
            <a:blipFill>
              <a:blip r:embed="rId2">
                <a:alphaModFix amt="0"/>
              </a:blip>
              <a:stretch>
                <a:fillRect l="0" t="-93431" r="0" b="-93431"/>
              </a:stretch>
            </a:blipFill>
          </p:spPr>
        </p:sp>
        <p:sp>
          <p:nvSpPr>
            <p:cNvPr name="TextBox 34" id="34"/>
            <p:cNvSpPr txBox="true"/>
            <p:nvPr/>
          </p:nvSpPr>
          <p:spPr>
            <a:xfrm>
              <a:off x="0" y="-57150"/>
              <a:ext cx="9692640" cy="1373886"/>
            </a:xfrm>
            <a:prstGeom prst="rect">
              <a:avLst/>
            </a:prstGeom>
          </p:spPr>
          <p:txBody>
            <a:bodyPr anchor="ctr" rtlCol="false" tIns="0" lIns="0" bIns="0" rIns="0"/>
            <a:lstStyle/>
            <a:p>
              <a:pPr algn="l">
                <a:lnSpc>
                  <a:spcPts val="2250"/>
                </a:lnSpc>
              </a:pPr>
              <a:r>
                <a:rPr lang="en-US" sz="1725">
                  <a:solidFill>
                    <a:srgbClr val="AFC6DE"/>
                  </a:solidFill>
                  <a:latin typeface="Calibri (MS)"/>
                  <a:ea typeface="Calibri (MS)"/>
                  <a:cs typeface="Calibri (MS)"/>
                  <a:sym typeface="Calibri (MS)"/>
                </a:rPr>
                <a:t>Set thresholds using the rupee cost of a missed fraud against the cost of a false decline.</a:t>
              </a:r>
            </a:p>
          </p:txBody>
        </p:sp>
      </p:grpSp>
      <p:grpSp>
        <p:nvGrpSpPr>
          <p:cNvPr name="Group 35" id="35"/>
          <p:cNvGrpSpPr/>
          <p:nvPr/>
        </p:nvGrpSpPr>
        <p:grpSpPr>
          <a:xfrm rot="0">
            <a:off x="822960" y="4251960"/>
            <a:ext cx="576072" cy="576072"/>
            <a:chOff x="0" y="0"/>
            <a:chExt cx="768096" cy="768096"/>
          </a:xfrm>
        </p:grpSpPr>
        <p:sp>
          <p:nvSpPr>
            <p:cNvPr name="Freeform 36" id="36"/>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ED232A"/>
            </a:solidFill>
          </p:spPr>
        </p:sp>
      </p:grpSp>
      <p:grpSp>
        <p:nvGrpSpPr>
          <p:cNvPr name="Group 37" id="37"/>
          <p:cNvGrpSpPr/>
          <p:nvPr/>
        </p:nvGrpSpPr>
        <p:grpSpPr>
          <a:xfrm rot="0">
            <a:off x="822960" y="4251960"/>
            <a:ext cx="576072" cy="576072"/>
            <a:chOff x="0" y="0"/>
            <a:chExt cx="768096" cy="768096"/>
          </a:xfrm>
        </p:grpSpPr>
        <p:sp>
          <p:nvSpPr>
            <p:cNvPr name="Freeform 38" id="38"/>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2">
                <a:alphaModFix amt="0"/>
              </a:blip>
              <a:stretch>
                <a:fillRect l="-78303" t="0" r="-78303" b="0"/>
              </a:stretch>
            </a:blipFill>
          </p:spPr>
        </p:sp>
        <p:sp>
          <p:nvSpPr>
            <p:cNvPr name="TextBox 39" id="39"/>
            <p:cNvSpPr txBox="true"/>
            <p:nvPr/>
          </p:nvSpPr>
          <p:spPr>
            <a:xfrm>
              <a:off x="0" y="-47625"/>
              <a:ext cx="768096" cy="815721"/>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3</a:t>
              </a:r>
            </a:p>
          </p:txBody>
        </p:sp>
      </p:grpSp>
      <p:grpSp>
        <p:nvGrpSpPr>
          <p:cNvPr name="Group 40" id="40"/>
          <p:cNvGrpSpPr/>
          <p:nvPr/>
        </p:nvGrpSpPr>
        <p:grpSpPr>
          <a:xfrm rot="0">
            <a:off x="1618488" y="4183380"/>
            <a:ext cx="7269480" cy="438912"/>
            <a:chOff x="0" y="0"/>
            <a:chExt cx="9692640" cy="585216"/>
          </a:xfrm>
        </p:grpSpPr>
        <p:sp>
          <p:nvSpPr>
            <p:cNvPr name="Freeform 41" id="41"/>
            <p:cNvSpPr/>
            <p:nvPr/>
          </p:nvSpPr>
          <p:spPr>
            <a:xfrm flipH="false" flipV="false" rot="0">
              <a:off x="0" y="0"/>
              <a:ext cx="9692640" cy="585216"/>
            </a:xfrm>
            <a:custGeom>
              <a:avLst/>
              <a:gdLst/>
              <a:ahLst/>
              <a:cxnLst/>
              <a:rect r="r" b="b" t="t" l="l"/>
              <a:pathLst>
                <a:path h="585216" w="9692640">
                  <a:moveTo>
                    <a:pt x="0" y="0"/>
                  </a:moveTo>
                  <a:lnTo>
                    <a:pt x="9692640" y="0"/>
                  </a:lnTo>
                  <a:lnTo>
                    <a:pt x="9692640" y="585216"/>
                  </a:lnTo>
                  <a:lnTo>
                    <a:pt x="0" y="585216"/>
                  </a:lnTo>
                  <a:close/>
                </a:path>
              </a:pathLst>
            </a:custGeom>
            <a:blipFill>
              <a:blip r:embed="rId2">
                <a:alphaModFix amt="0"/>
              </a:blip>
              <a:stretch>
                <a:fillRect l="0" t="-272720" r="0" b="-272720"/>
              </a:stretch>
            </a:blipFill>
          </p:spPr>
        </p:sp>
        <p:sp>
          <p:nvSpPr>
            <p:cNvPr name="TextBox 42" id="42"/>
            <p:cNvSpPr txBox="true"/>
            <p:nvPr/>
          </p:nvSpPr>
          <p:spPr>
            <a:xfrm>
              <a:off x="0" y="-47625"/>
              <a:ext cx="9692640" cy="632841"/>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Build explainability in from the start</a:t>
              </a:r>
            </a:p>
          </p:txBody>
        </p:sp>
      </p:grpSp>
      <p:grpSp>
        <p:nvGrpSpPr>
          <p:cNvPr name="Group 43" id="43"/>
          <p:cNvGrpSpPr/>
          <p:nvPr/>
        </p:nvGrpSpPr>
        <p:grpSpPr>
          <a:xfrm rot="0">
            <a:off x="1618488" y="4677156"/>
            <a:ext cx="7269480" cy="987552"/>
            <a:chOff x="0" y="0"/>
            <a:chExt cx="9692640" cy="1316736"/>
          </a:xfrm>
        </p:grpSpPr>
        <p:sp>
          <p:nvSpPr>
            <p:cNvPr name="Freeform 44" id="44"/>
            <p:cNvSpPr/>
            <p:nvPr/>
          </p:nvSpPr>
          <p:spPr>
            <a:xfrm flipH="false" flipV="false" rot="0">
              <a:off x="0" y="0"/>
              <a:ext cx="9692640" cy="1316736"/>
            </a:xfrm>
            <a:custGeom>
              <a:avLst/>
              <a:gdLst/>
              <a:ahLst/>
              <a:cxnLst/>
              <a:rect r="r" b="b" t="t" l="l"/>
              <a:pathLst>
                <a:path h="1316736" w="9692640">
                  <a:moveTo>
                    <a:pt x="0" y="0"/>
                  </a:moveTo>
                  <a:lnTo>
                    <a:pt x="9692640" y="0"/>
                  </a:lnTo>
                  <a:lnTo>
                    <a:pt x="9692640" y="1316736"/>
                  </a:lnTo>
                  <a:lnTo>
                    <a:pt x="0" y="1316736"/>
                  </a:lnTo>
                  <a:close/>
                </a:path>
              </a:pathLst>
            </a:custGeom>
            <a:blipFill>
              <a:blip r:embed="rId2">
                <a:alphaModFix amt="0"/>
              </a:blip>
              <a:stretch>
                <a:fillRect l="0" t="-93431" r="0" b="-93431"/>
              </a:stretch>
            </a:blipFill>
          </p:spPr>
        </p:sp>
        <p:sp>
          <p:nvSpPr>
            <p:cNvPr name="TextBox 45" id="45"/>
            <p:cNvSpPr txBox="true"/>
            <p:nvPr/>
          </p:nvSpPr>
          <p:spPr>
            <a:xfrm>
              <a:off x="0" y="-57150"/>
              <a:ext cx="9692640" cy="1373886"/>
            </a:xfrm>
            <a:prstGeom prst="rect">
              <a:avLst/>
            </a:prstGeom>
          </p:spPr>
          <p:txBody>
            <a:bodyPr anchor="ctr" rtlCol="false" tIns="0" lIns="0" bIns="0" rIns="0"/>
            <a:lstStyle/>
            <a:p>
              <a:pPr algn="l">
                <a:lnSpc>
                  <a:spcPts val="2250"/>
                </a:lnSpc>
              </a:pPr>
              <a:r>
                <a:rPr lang="en-US" sz="1725">
                  <a:solidFill>
                    <a:srgbClr val="AFC6DE"/>
                  </a:solidFill>
                  <a:latin typeface="Calibri (MS)"/>
                  <a:ea typeface="Calibri (MS)"/>
                  <a:cs typeface="Calibri (MS)"/>
                  <a:sym typeface="Calibri (MS)"/>
                </a:rPr>
                <a:t>Every blocked transaction should come with a human-readable reason for the customer and the regulator.</a:t>
              </a:r>
            </a:p>
          </p:txBody>
        </p:sp>
      </p:grpSp>
      <p:grpSp>
        <p:nvGrpSpPr>
          <p:cNvPr name="Group 46" id="46"/>
          <p:cNvGrpSpPr/>
          <p:nvPr/>
        </p:nvGrpSpPr>
        <p:grpSpPr>
          <a:xfrm rot="0">
            <a:off x="9395460" y="4251960"/>
            <a:ext cx="576072" cy="576072"/>
            <a:chOff x="0" y="0"/>
            <a:chExt cx="768096" cy="768096"/>
          </a:xfrm>
        </p:grpSpPr>
        <p:sp>
          <p:nvSpPr>
            <p:cNvPr name="Freeform 47" id="47"/>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ED232A"/>
            </a:solidFill>
          </p:spPr>
        </p:sp>
      </p:grpSp>
      <p:grpSp>
        <p:nvGrpSpPr>
          <p:cNvPr name="Group 48" id="48"/>
          <p:cNvGrpSpPr/>
          <p:nvPr/>
        </p:nvGrpSpPr>
        <p:grpSpPr>
          <a:xfrm rot="0">
            <a:off x="9395460" y="4251960"/>
            <a:ext cx="576072" cy="576072"/>
            <a:chOff x="0" y="0"/>
            <a:chExt cx="768096" cy="768096"/>
          </a:xfrm>
        </p:grpSpPr>
        <p:sp>
          <p:nvSpPr>
            <p:cNvPr name="Freeform 49" id="49"/>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2">
                <a:alphaModFix amt="0"/>
              </a:blip>
              <a:stretch>
                <a:fillRect l="-78303" t="0" r="-78303" b="0"/>
              </a:stretch>
            </a:blipFill>
          </p:spPr>
        </p:sp>
        <p:sp>
          <p:nvSpPr>
            <p:cNvPr name="TextBox 50" id="50"/>
            <p:cNvSpPr txBox="true"/>
            <p:nvPr/>
          </p:nvSpPr>
          <p:spPr>
            <a:xfrm>
              <a:off x="0" y="-47625"/>
              <a:ext cx="768096" cy="815721"/>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4</a:t>
              </a:r>
            </a:p>
          </p:txBody>
        </p:sp>
      </p:grpSp>
      <p:grpSp>
        <p:nvGrpSpPr>
          <p:cNvPr name="Group 51" id="51"/>
          <p:cNvGrpSpPr/>
          <p:nvPr/>
        </p:nvGrpSpPr>
        <p:grpSpPr>
          <a:xfrm rot="0">
            <a:off x="10190988" y="4183380"/>
            <a:ext cx="7269480" cy="438912"/>
            <a:chOff x="0" y="0"/>
            <a:chExt cx="9692640" cy="585216"/>
          </a:xfrm>
        </p:grpSpPr>
        <p:sp>
          <p:nvSpPr>
            <p:cNvPr name="Freeform 52" id="52"/>
            <p:cNvSpPr/>
            <p:nvPr/>
          </p:nvSpPr>
          <p:spPr>
            <a:xfrm flipH="false" flipV="false" rot="0">
              <a:off x="0" y="0"/>
              <a:ext cx="9692640" cy="585216"/>
            </a:xfrm>
            <a:custGeom>
              <a:avLst/>
              <a:gdLst/>
              <a:ahLst/>
              <a:cxnLst/>
              <a:rect r="r" b="b" t="t" l="l"/>
              <a:pathLst>
                <a:path h="585216" w="9692640">
                  <a:moveTo>
                    <a:pt x="0" y="0"/>
                  </a:moveTo>
                  <a:lnTo>
                    <a:pt x="9692640" y="0"/>
                  </a:lnTo>
                  <a:lnTo>
                    <a:pt x="9692640" y="585216"/>
                  </a:lnTo>
                  <a:lnTo>
                    <a:pt x="0" y="585216"/>
                  </a:lnTo>
                  <a:close/>
                </a:path>
              </a:pathLst>
            </a:custGeom>
            <a:blipFill>
              <a:blip r:embed="rId2">
                <a:alphaModFix amt="0"/>
              </a:blip>
              <a:stretch>
                <a:fillRect l="0" t="-272720" r="0" b="-272720"/>
              </a:stretch>
            </a:blipFill>
          </p:spPr>
        </p:sp>
        <p:sp>
          <p:nvSpPr>
            <p:cNvPr name="TextBox 53" id="53"/>
            <p:cNvSpPr txBox="true"/>
            <p:nvPr/>
          </p:nvSpPr>
          <p:spPr>
            <a:xfrm>
              <a:off x="0" y="-47625"/>
              <a:ext cx="9692640" cy="632841"/>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Audit for fairness every quarter</a:t>
              </a:r>
            </a:p>
          </p:txBody>
        </p:sp>
      </p:grpSp>
      <p:grpSp>
        <p:nvGrpSpPr>
          <p:cNvPr name="Group 54" id="54"/>
          <p:cNvGrpSpPr/>
          <p:nvPr/>
        </p:nvGrpSpPr>
        <p:grpSpPr>
          <a:xfrm rot="0">
            <a:off x="10190988" y="4677156"/>
            <a:ext cx="7269480" cy="987552"/>
            <a:chOff x="0" y="0"/>
            <a:chExt cx="9692640" cy="1316736"/>
          </a:xfrm>
        </p:grpSpPr>
        <p:sp>
          <p:nvSpPr>
            <p:cNvPr name="Freeform 55" id="55"/>
            <p:cNvSpPr/>
            <p:nvPr/>
          </p:nvSpPr>
          <p:spPr>
            <a:xfrm flipH="false" flipV="false" rot="0">
              <a:off x="0" y="0"/>
              <a:ext cx="9692640" cy="1316736"/>
            </a:xfrm>
            <a:custGeom>
              <a:avLst/>
              <a:gdLst/>
              <a:ahLst/>
              <a:cxnLst/>
              <a:rect r="r" b="b" t="t" l="l"/>
              <a:pathLst>
                <a:path h="1316736" w="9692640">
                  <a:moveTo>
                    <a:pt x="0" y="0"/>
                  </a:moveTo>
                  <a:lnTo>
                    <a:pt x="9692640" y="0"/>
                  </a:lnTo>
                  <a:lnTo>
                    <a:pt x="9692640" y="1316736"/>
                  </a:lnTo>
                  <a:lnTo>
                    <a:pt x="0" y="1316736"/>
                  </a:lnTo>
                  <a:close/>
                </a:path>
              </a:pathLst>
            </a:custGeom>
            <a:blipFill>
              <a:blip r:embed="rId2">
                <a:alphaModFix amt="0"/>
              </a:blip>
              <a:stretch>
                <a:fillRect l="0" t="-93431" r="0" b="-93431"/>
              </a:stretch>
            </a:blipFill>
          </p:spPr>
        </p:sp>
        <p:sp>
          <p:nvSpPr>
            <p:cNvPr name="TextBox 56" id="56"/>
            <p:cNvSpPr txBox="true"/>
            <p:nvPr/>
          </p:nvSpPr>
          <p:spPr>
            <a:xfrm>
              <a:off x="0" y="-57150"/>
              <a:ext cx="9692640" cy="1373886"/>
            </a:xfrm>
            <a:prstGeom prst="rect">
              <a:avLst/>
            </a:prstGeom>
          </p:spPr>
          <p:txBody>
            <a:bodyPr anchor="ctr" rtlCol="false" tIns="0" lIns="0" bIns="0" rIns="0"/>
            <a:lstStyle/>
            <a:p>
              <a:pPr algn="l">
                <a:lnSpc>
                  <a:spcPts val="2250"/>
                </a:lnSpc>
              </a:pPr>
              <a:r>
                <a:rPr lang="en-US" sz="1725">
                  <a:solidFill>
                    <a:srgbClr val="AFC6DE"/>
                  </a:solidFill>
                  <a:latin typeface="Calibri (MS)"/>
                  <a:ea typeface="Calibri (MS)"/>
                  <a:cs typeface="Calibri (MS)"/>
                  <a:sym typeface="Calibri (MS)"/>
                </a:rPr>
                <a:t>Track false-positive rates by region, age and income segment, and act on the gaps.</a:t>
              </a:r>
            </a:p>
          </p:txBody>
        </p:sp>
      </p:grpSp>
      <p:grpSp>
        <p:nvGrpSpPr>
          <p:cNvPr name="Group 57" id="57"/>
          <p:cNvGrpSpPr/>
          <p:nvPr/>
        </p:nvGrpSpPr>
        <p:grpSpPr>
          <a:xfrm rot="0">
            <a:off x="822960" y="6035040"/>
            <a:ext cx="576072" cy="576072"/>
            <a:chOff x="0" y="0"/>
            <a:chExt cx="768096" cy="768096"/>
          </a:xfrm>
        </p:grpSpPr>
        <p:sp>
          <p:nvSpPr>
            <p:cNvPr name="Freeform 58" id="58"/>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ED232A"/>
            </a:solidFill>
          </p:spPr>
        </p:sp>
      </p:grpSp>
      <p:grpSp>
        <p:nvGrpSpPr>
          <p:cNvPr name="Group 59" id="59"/>
          <p:cNvGrpSpPr/>
          <p:nvPr/>
        </p:nvGrpSpPr>
        <p:grpSpPr>
          <a:xfrm rot="0">
            <a:off x="822960" y="6035040"/>
            <a:ext cx="576072" cy="576072"/>
            <a:chOff x="0" y="0"/>
            <a:chExt cx="768096" cy="768096"/>
          </a:xfrm>
        </p:grpSpPr>
        <p:sp>
          <p:nvSpPr>
            <p:cNvPr name="Freeform 60" id="60"/>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2">
                <a:alphaModFix amt="0"/>
              </a:blip>
              <a:stretch>
                <a:fillRect l="-78303" t="0" r="-78303" b="0"/>
              </a:stretch>
            </a:blipFill>
          </p:spPr>
        </p:sp>
        <p:sp>
          <p:nvSpPr>
            <p:cNvPr name="TextBox 61" id="61"/>
            <p:cNvSpPr txBox="true"/>
            <p:nvPr/>
          </p:nvSpPr>
          <p:spPr>
            <a:xfrm>
              <a:off x="0" y="-47625"/>
              <a:ext cx="768096" cy="815721"/>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5</a:t>
              </a:r>
            </a:p>
          </p:txBody>
        </p:sp>
      </p:grpSp>
      <p:grpSp>
        <p:nvGrpSpPr>
          <p:cNvPr name="Group 62" id="62"/>
          <p:cNvGrpSpPr/>
          <p:nvPr/>
        </p:nvGrpSpPr>
        <p:grpSpPr>
          <a:xfrm rot="0">
            <a:off x="1618488" y="5966460"/>
            <a:ext cx="7269480" cy="438912"/>
            <a:chOff x="0" y="0"/>
            <a:chExt cx="9692640" cy="585216"/>
          </a:xfrm>
        </p:grpSpPr>
        <p:sp>
          <p:nvSpPr>
            <p:cNvPr name="Freeform 63" id="63"/>
            <p:cNvSpPr/>
            <p:nvPr/>
          </p:nvSpPr>
          <p:spPr>
            <a:xfrm flipH="false" flipV="false" rot="0">
              <a:off x="0" y="0"/>
              <a:ext cx="9692640" cy="585216"/>
            </a:xfrm>
            <a:custGeom>
              <a:avLst/>
              <a:gdLst/>
              <a:ahLst/>
              <a:cxnLst/>
              <a:rect r="r" b="b" t="t" l="l"/>
              <a:pathLst>
                <a:path h="585216" w="9692640">
                  <a:moveTo>
                    <a:pt x="0" y="0"/>
                  </a:moveTo>
                  <a:lnTo>
                    <a:pt x="9692640" y="0"/>
                  </a:lnTo>
                  <a:lnTo>
                    <a:pt x="9692640" y="585216"/>
                  </a:lnTo>
                  <a:lnTo>
                    <a:pt x="0" y="585216"/>
                  </a:lnTo>
                  <a:close/>
                </a:path>
              </a:pathLst>
            </a:custGeom>
            <a:blipFill>
              <a:blip r:embed="rId2">
                <a:alphaModFix amt="0"/>
              </a:blip>
              <a:stretch>
                <a:fillRect l="0" t="-272720" r="0" b="-272720"/>
              </a:stretch>
            </a:blipFill>
          </p:spPr>
        </p:sp>
        <p:sp>
          <p:nvSpPr>
            <p:cNvPr name="TextBox 64" id="64"/>
            <p:cNvSpPr txBox="true"/>
            <p:nvPr/>
          </p:nvSpPr>
          <p:spPr>
            <a:xfrm>
              <a:off x="0" y="-47625"/>
              <a:ext cx="9692640" cy="632841"/>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Keep investigators in the loop</a:t>
              </a:r>
            </a:p>
          </p:txBody>
        </p:sp>
      </p:grpSp>
      <p:grpSp>
        <p:nvGrpSpPr>
          <p:cNvPr name="Group 65" id="65"/>
          <p:cNvGrpSpPr/>
          <p:nvPr/>
        </p:nvGrpSpPr>
        <p:grpSpPr>
          <a:xfrm rot="0">
            <a:off x="1618488" y="6460236"/>
            <a:ext cx="7269480" cy="987552"/>
            <a:chOff x="0" y="0"/>
            <a:chExt cx="9692640" cy="1316736"/>
          </a:xfrm>
        </p:grpSpPr>
        <p:sp>
          <p:nvSpPr>
            <p:cNvPr name="Freeform 66" id="66"/>
            <p:cNvSpPr/>
            <p:nvPr/>
          </p:nvSpPr>
          <p:spPr>
            <a:xfrm flipH="false" flipV="false" rot="0">
              <a:off x="0" y="0"/>
              <a:ext cx="9692640" cy="1316736"/>
            </a:xfrm>
            <a:custGeom>
              <a:avLst/>
              <a:gdLst/>
              <a:ahLst/>
              <a:cxnLst/>
              <a:rect r="r" b="b" t="t" l="l"/>
              <a:pathLst>
                <a:path h="1316736" w="9692640">
                  <a:moveTo>
                    <a:pt x="0" y="0"/>
                  </a:moveTo>
                  <a:lnTo>
                    <a:pt x="9692640" y="0"/>
                  </a:lnTo>
                  <a:lnTo>
                    <a:pt x="9692640" y="1316736"/>
                  </a:lnTo>
                  <a:lnTo>
                    <a:pt x="0" y="1316736"/>
                  </a:lnTo>
                  <a:close/>
                </a:path>
              </a:pathLst>
            </a:custGeom>
            <a:blipFill>
              <a:blip r:embed="rId2">
                <a:alphaModFix amt="0"/>
              </a:blip>
              <a:stretch>
                <a:fillRect l="0" t="-93431" r="0" b="-93431"/>
              </a:stretch>
            </a:blipFill>
          </p:spPr>
        </p:sp>
        <p:sp>
          <p:nvSpPr>
            <p:cNvPr name="TextBox 67" id="67"/>
            <p:cNvSpPr txBox="true"/>
            <p:nvPr/>
          </p:nvSpPr>
          <p:spPr>
            <a:xfrm>
              <a:off x="0" y="-57150"/>
              <a:ext cx="9692640" cy="1373886"/>
            </a:xfrm>
            <a:prstGeom prst="rect">
              <a:avLst/>
            </a:prstGeom>
          </p:spPr>
          <p:txBody>
            <a:bodyPr anchor="ctr" rtlCol="false" tIns="0" lIns="0" bIns="0" rIns="0"/>
            <a:lstStyle/>
            <a:p>
              <a:pPr algn="l">
                <a:lnSpc>
                  <a:spcPts val="2250"/>
                </a:lnSpc>
              </a:pPr>
              <a:r>
                <a:rPr lang="en-US" sz="1725">
                  <a:solidFill>
                    <a:srgbClr val="AFC6DE"/>
                  </a:solidFill>
                  <a:latin typeface="Calibri (MS)"/>
                  <a:ea typeface="Calibri (MS)"/>
                  <a:cs typeface="Calibri (MS)"/>
                  <a:sym typeface="Calibri (MS)"/>
                </a:rPr>
                <a:t>Use AI to prioritise the queue, not to replace judgement on high-value cases.</a:t>
              </a:r>
            </a:p>
          </p:txBody>
        </p:sp>
      </p:grpSp>
      <p:grpSp>
        <p:nvGrpSpPr>
          <p:cNvPr name="Group 68" id="68"/>
          <p:cNvGrpSpPr/>
          <p:nvPr/>
        </p:nvGrpSpPr>
        <p:grpSpPr>
          <a:xfrm rot="0">
            <a:off x="9395460" y="6035040"/>
            <a:ext cx="576072" cy="576072"/>
            <a:chOff x="0" y="0"/>
            <a:chExt cx="768096" cy="768096"/>
          </a:xfrm>
        </p:grpSpPr>
        <p:sp>
          <p:nvSpPr>
            <p:cNvPr name="Freeform 69" id="69"/>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ED232A"/>
            </a:solidFill>
          </p:spPr>
        </p:sp>
      </p:grpSp>
      <p:grpSp>
        <p:nvGrpSpPr>
          <p:cNvPr name="Group 70" id="70"/>
          <p:cNvGrpSpPr/>
          <p:nvPr/>
        </p:nvGrpSpPr>
        <p:grpSpPr>
          <a:xfrm rot="0">
            <a:off x="9395460" y="6035040"/>
            <a:ext cx="576072" cy="576072"/>
            <a:chOff x="0" y="0"/>
            <a:chExt cx="768096" cy="768096"/>
          </a:xfrm>
        </p:grpSpPr>
        <p:sp>
          <p:nvSpPr>
            <p:cNvPr name="Freeform 71" id="71"/>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2">
                <a:alphaModFix amt="0"/>
              </a:blip>
              <a:stretch>
                <a:fillRect l="-78303" t="0" r="-78303" b="0"/>
              </a:stretch>
            </a:blipFill>
          </p:spPr>
        </p:sp>
        <p:sp>
          <p:nvSpPr>
            <p:cNvPr name="TextBox 72" id="72"/>
            <p:cNvSpPr txBox="true"/>
            <p:nvPr/>
          </p:nvSpPr>
          <p:spPr>
            <a:xfrm>
              <a:off x="0" y="-47625"/>
              <a:ext cx="768096" cy="815721"/>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6</a:t>
              </a:r>
            </a:p>
          </p:txBody>
        </p:sp>
      </p:grpSp>
      <p:grpSp>
        <p:nvGrpSpPr>
          <p:cNvPr name="Group 73" id="73"/>
          <p:cNvGrpSpPr/>
          <p:nvPr/>
        </p:nvGrpSpPr>
        <p:grpSpPr>
          <a:xfrm rot="0">
            <a:off x="10190988" y="5966460"/>
            <a:ext cx="7269480" cy="438912"/>
            <a:chOff x="0" y="0"/>
            <a:chExt cx="9692640" cy="585216"/>
          </a:xfrm>
        </p:grpSpPr>
        <p:sp>
          <p:nvSpPr>
            <p:cNvPr name="Freeform 74" id="74"/>
            <p:cNvSpPr/>
            <p:nvPr/>
          </p:nvSpPr>
          <p:spPr>
            <a:xfrm flipH="false" flipV="false" rot="0">
              <a:off x="0" y="0"/>
              <a:ext cx="9692640" cy="585216"/>
            </a:xfrm>
            <a:custGeom>
              <a:avLst/>
              <a:gdLst/>
              <a:ahLst/>
              <a:cxnLst/>
              <a:rect r="r" b="b" t="t" l="l"/>
              <a:pathLst>
                <a:path h="585216" w="9692640">
                  <a:moveTo>
                    <a:pt x="0" y="0"/>
                  </a:moveTo>
                  <a:lnTo>
                    <a:pt x="9692640" y="0"/>
                  </a:lnTo>
                  <a:lnTo>
                    <a:pt x="9692640" y="585216"/>
                  </a:lnTo>
                  <a:lnTo>
                    <a:pt x="0" y="585216"/>
                  </a:lnTo>
                  <a:close/>
                </a:path>
              </a:pathLst>
            </a:custGeom>
            <a:blipFill>
              <a:blip r:embed="rId2">
                <a:alphaModFix amt="0"/>
              </a:blip>
              <a:stretch>
                <a:fillRect l="0" t="-272720" r="0" b="-272720"/>
              </a:stretch>
            </a:blipFill>
          </p:spPr>
        </p:sp>
        <p:sp>
          <p:nvSpPr>
            <p:cNvPr name="TextBox 75" id="75"/>
            <p:cNvSpPr txBox="true"/>
            <p:nvPr/>
          </p:nvSpPr>
          <p:spPr>
            <a:xfrm>
              <a:off x="0" y="-47625"/>
              <a:ext cx="9692640" cy="632841"/>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Close the feedback loop</a:t>
              </a:r>
            </a:p>
          </p:txBody>
        </p:sp>
      </p:grpSp>
      <p:grpSp>
        <p:nvGrpSpPr>
          <p:cNvPr name="Group 76" id="76"/>
          <p:cNvGrpSpPr/>
          <p:nvPr/>
        </p:nvGrpSpPr>
        <p:grpSpPr>
          <a:xfrm rot="0">
            <a:off x="10190988" y="6460236"/>
            <a:ext cx="7269480" cy="987552"/>
            <a:chOff x="0" y="0"/>
            <a:chExt cx="9692640" cy="1316736"/>
          </a:xfrm>
        </p:grpSpPr>
        <p:sp>
          <p:nvSpPr>
            <p:cNvPr name="Freeform 77" id="77"/>
            <p:cNvSpPr/>
            <p:nvPr/>
          </p:nvSpPr>
          <p:spPr>
            <a:xfrm flipH="false" flipV="false" rot="0">
              <a:off x="0" y="0"/>
              <a:ext cx="9692640" cy="1316736"/>
            </a:xfrm>
            <a:custGeom>
              <a:avLst/>
              <a:gdLst/>
              <a:ahLst/>
              <a:cxnLst/>
              <a:rect r="r" b="b" t="t" l="l"/>
              <a:pathLst>
                <a:path h="1316736" w="9692640">
                  <a:moveTo>
                    <a:pt x="0" y="0"/>
                  </a:moveTo>
                  <a:lnTo>
                    <a:pt x="9692640" y="0"/>
                  </a:lnTo>
                  <a:lnTo>
                    <a:pt x="9692640" y="1316736"/>
                  </a:lnTo>
                  <a:lnTo>
                    <a:pt x="0" y="1316736"/>
                  </a:lnTo>
                  <a:close/>
                </a:path>
              </a:pathLst>
            </a:custGeom>
            <a:blipFill>
              <a:blip r:embed="rId2">
                <a:alphaModFix amt="0"/>
              </a:blip>
              <a:stretch>
                <a:fillRect l="0" t="-93431" r="0" b="-93431"/>
              </a:stretch>
            </a:blipFill>
          </p:spPr>
        </p:sp>
        <p:sp>
          <p:nvSpPr>
            <p:cNvPr name="TextBox 78" id="78"/>
            <p:cNvSpPr txBox="true"/>
            <p:nvPr/>
          </p:nvSpPr>
          <p:spPr>
            <a:xfrm>
              <a:off x="0" y="-57150"/>
              <a:ext cx="9692640" cy="1373886"/>
            </a:xfrm>
            <a:prstGeom prst="rect">
              <a:avLst/>
            </a:prstGeom>
          </p:spPr>
          <p:txBody>
            <a:bodyPr anchor="ctr" rtlCol="false" tIns="0" lIns="0" bIns="0" rIns="0"/>
            <a:lstStyle/>
            <a:p>
              <a:pPr algn="l">
                <a:lnSpc>
                  <a:spcPts val="2250"/>
                </a:lnSpc>
              </a:pPr>
              <a:r>
                <a:rPr lang="en-US" sz="1725">
                  <a:solidFill>
                    <a:srgbClr val="AFC6DE"/>
                  </a:solidFill>
                  <a:latin typeface="Calibri (MS)"/>
                  <a:ea typeface="Calibri (MS)"/>
                  <a:cs typeface="Calibri (MS)"/>
                  <a:sym typeface="Calibri (MS)"/>
                </a:rPr>
                <a:t>Feed every confirmed fraud and every customer dispute back into the next training cycle.</a:t>
              </a:r>
            </a:p>
          </p:txBody>
        </p:sp>
      </p:grpSp>
      <p:grpSp>
        <p:nvGrpSpPr>
          <p:cNvPr name="Group 79" id="79"/>
          <p:cNvGrpSpPr/>
          <p:nvPr/>
        </p:nvGrpSpPr>
        <p:grpSpPr>
          <a:xfrm rot="0">
            <a:off x="822960" y="8298180"/>
            <a:ext cx="16637508" cy="1303020"/>
            <a:chOff x="0" y="0"/>
            <a:chExt cx="22183344" cy="1737360"/>
          </a:xfrm>
        </p:grpSpPr>
        <p:sp>
          <p:nvSpPr>
            <p:cNvPr name="Freeform 80" id="80"/>
            <p:cNvSpPr/>
            <p:nvPr/>
          </p:nvSpPr>
          <p:spPr>
            <a:xfrm flipH="false" flipV="false" rot="0">
              <a:off x="0" y="0"/>
              <a:ext cx="22183344" cy="1737360"/>
            </a:xfrm>
            <a:custGeom>
              <a:avLst/>
              <a:gdLst/>
              <a:ahLst/>
              <a:cxnLst/>
              <a:rect r="r" b="b" t="t" l="l"/>
              <a:pathLst>
                <a:path h="1737360" w="22183344">
                  <a:moveTo>
                    <a:pt x="0" y="146304"/>
                  </a:moveTo>
                  <a:cubicBezTo>
                    <a:pt x="0" y="65532"/>
                    <a:pt x="65532" y="0"/>
                    <a:pt x="146304" y="0"/>
                  </a:cubicBezTo>
                  <a:lnTo>
                    <a:pt x="22037039" y="0"/>
                  </a:lnTo>
                  <a:cubicBezTo>
                    <a:pt x="22117811" y="0"/>
                    <a:pt x="22183344" y="65532"/>
                    <a:pt x="22183344" y="146304"/>
                  </a:cubicBezTo>
                  <a:lnTo>
                    <a:pt x="22183344" y="1591056"/>
                  </a:lnTo>
                  <a:cubicBezTo>
                    <a:pt x="22183344" y="1671828"/>
                    <a:pt x="22117811" y="1737360"/>
                    <a:pt x="22037039" y="1737360"/>
                  </a:cubicBezTo>
                  <a:lnTo>
                    <a:pt x="146304" y="1737360"/>
                  </a:lnTo>
                  <a:cubicBezTo>
                    <a:pt x="65532" y="1737360"/>
                    <a:pt x="0" y="1671828"/>
                    <a:pt x="0" y="1591056"/>
                  </a:cubicBezTo>
                  <a:close/>
                </a:path>
              </a:pathLst>
            </a:custGeom>
            <a:solidFill>
              <a:srgbClr val="004C8F"/>
            </a:solidFill>
          </p:spPr>
        </p:sp>
      </p:grpSp>
      <p:grpSp>
        <p:nvGrpSpPr>
          <p:cNvPr name="Group 81" id="81"/>
          <p:cNvGrpSpPr/>
          <p:nvPr/>
        </p:nvGrpSpPr>
        <p:grpSpPr>
          <a:xfrm rot="0">
            <a:off x="1303020" y="8503920"/>
            <a:ext cx="15704820" cy="932688"/>
            <a:chOff x="0" y="0"/>
            <a:chExt cx="20939760" cy="1243584"/>
          </a:xfrm>
        </p:grpSpPr>
        <p:sp>
          <p:nvSpPr>
            <p:cNvPr name="Freeform 82" id="82"/>
            <p:cNvSpPr/>
            <p:nvPr/>
          </p:nvSpPr>
          <p:spPr>
            <a:xfrm flipH="false" flipV="false" rot="0">
              <a:off x="0" y="0"/>
              <a:ext cx="20939761" cy="1243584"/>
            </a:xfrm>
            <a:custGeom>
              <a:avLst/>
              <a:gdLst/>
              <a:ahLst/>
              <a:cxnLst/>
              <a:rect r="r" b="b" t="t" l="l"/>
              <a:pathLst>
                <a:path h="1243584" w="20939761">
                  <a:moveTo>
                    <a:pt x="0" y="0"/>
                  </a:moveTo>
                  <a:lnTo>
                    <a:pt x="20939761" y="0"/>
                  </a:lnTo>
                  <a:lnTo>
                    <a:pt x="20939761" y="1243584"/>
                  </a:lnTo>
                  <a:lnTo>
                    <a:pt x="0" y="1243584"/>
                  </a:lnTo>
                  <a:close/>
                </a:path>
              </a:pathLst>
            </a:custGeom>
            <a:blipFill>
              <a:blip r:embed="rId2">
                <a:alphaModFix amt="0"/>
              </a:blip>
              <a:stretch>
                <a:fillRect l="0" t="-278093" r="0" b="-278093"/>
              </a:stretch>
            </a:blipFill>
          </p:spPr>
        </p:sp>
        <p:sp>
          <p:nvSpPr>
            <p:cNvPr name="TextBox 83" id="83"/>
            <p:cNvSpPr txBox="true"/>
            <p:nvPr/>
          </p:nvSpPr>
          <p:spPr>
            <a:xfrm>
              <a:off x="0" y="-95250"/>
              <a:ext cx="20939760" cy="1338834"/>
            </a:xfrm>
            <a:prstGeom prst="rect">
              <a:avLst/>
            </a:prstGeom>
          </p:spPr>
          <p:txBody>
            <a:bodyPr anchor="ctr" rtlCol="false" tIns="0" lIns="0" bIns="0" rIns="0"/>
            <a:lstStyle/>
            <a:p>
              <a:pPr algn="l">
                <a:lnSpc>
                  <a:spcPts val="2850"/>
                </a:lnSpc>
              </a:pPr>
              <a:r>
                <a:rPr lang="en-US" sz="1950">
                  <a:solidFill>
                    <a:srgbClr val="FFFFFF"/>
                  </a:solidFill>
                  <a:latin typeface="Calibri (MS)"/>
                  <a:ea typeface="Calibri (MS)"/>
                  <a:cs typeface="Calibri (MS)"/>
                  <a:sym typeface="Calibri (MS)"/>
                </a:rPr>
                <a:t>Conclusion: fraud detection is one of the clearest cases for AI in banking — the data already exists, the decision has to be made in milliseconds, and the pattern keeps changing. HDFC Bank's advantage is its data scale; the discipline it needs is governance.</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4264640" cy="822960"/>
            <a:chOff x="0" y="0"/>
            <a:chExt cx="19019520" cy="1097280"/>
          </a:xfrm>
        </p:grpSpPr>
        <p:sp>
          <p:nvSpPr>
            <p:cNvPr name="Freeform 3" id="3"/>
            <p:cNvSpPr/>
            <p:nvPr/>
          </p:nvSpPr>
          <p:spPr>
            <a:xfrm flipH="false" flipV="false" rot="0">
              <a:off x="0" y="0"/>
              <a:ext cx="19019520" cy="1097280"/>
            </a:xfrm>
            <a:custGeom>
              <a:avLst/>
              <a:gdLst/>
              <a:ahLst/>
              <a:cxnLst/>
              <a:rect r="r" b="b" t="t" l="l"/>
              <a:pathLst>
                <a:path h="1097280" w="19019520">
                  <a:moveTo>
                    <a:pt x="0" y="0"/>
                  </a:moveTo>
                  <a:lnTo>
                    <a:pt x="19019520" y="0"/>
                  </a:lnTo>
                  <a:lnTo>
                    <a:pt x="19019520" y="1097280"/>
                  </a:lnTo>
                  <a:lnTo>
                    <a:pt x="0" y="1097280"/>
                  </a:lnTo>
                  <a:close/>
                </a:path>
              </a:pathLst>
            </a:custGeom>
            <a:blipFill>
              <a:blip r:embed="rId2">
                <a:alphaModFix amt="0"/>
              </a:blip>
              <a:stretch>
                <a:fillRect l="0" t="-287740" r="0" b="-287740"/>
              </a:stretch>
            </a:blipFill>
          </p:spPr>
        </p:sp>
        <p:sp>
          <p:nvSpPr>
            <p:cNvPr name="TextBox 4" id="4"/>
            <p:cNvSpPr txBox="true"/>
            <p:nvPr/>
          </p:nvSpPr>
          <p:spPr>
            <a:xfrm>
              <a:off x="0" y="-9525"/>
              <a:ext cx="19019520" cy="1106805"/>
            </a:xfrm>
            <a:prstGeom prst="rect">
              <a:avLst/>
            </a:prstGeom>
          </p:spPr>
          <p:txBody>
            <a:bodyPr anchor="ctr" rtlCol="false" tIns="0" lIns="0" bIns="0" rIns="0"/>
            <a:lstStyle/>
            <a:p>
              <a:pPr algn="l">
                <a:lnSpc>
                  <a:spcPts val="5759"/>
                </a:lnSpc>
              </a:pPr>
              <a:r>
                <a:rPr lang="en-US" sz="4800" b="true">
                  <a:solidFill>
                    <a:srgbClr val="0A2540"/>
                  </a:solidFill>
                  <a:latin typeface="Cambria Bold"/>
                  <a:ea typeface="Cambria Bold"/>
                  <a:cs typeface="Cambria Bold"/>
                  <a:sym typeface="Cambria Bold"/>
                </a:rPr>
                <a:t>Learning Reflection, References &amp; GitHub</a:t>
              </a:r>
            </a:p>
          </p:txBody>
        </p:sp>
      </p:grpSp>
      <p:grpSp>
        <p:nvGrpSpPr>
          <p:cNvPr name="Group 5" id="5"/>
          <p:cNvGrpSpPr/>
          <p:nvPr/>
        </p:nvGrpSpPr>
        <p:grpSpPr>
          <a:xfrm rot="0">
            <a:off x="822960" y="1426464"/>
            <a:ext cx="14264640" cy="438912"/>
            <a:chOff x="0" y="0"/>
            <a:chExt cx="19019520" cy="585216"/>
          </a:xfrm>
        </p:grpSpPr>
        <p:sp>
          <p:nvSpPr>
            <p:cNvPr name="Freeform 6" id="6"/>
            <p:cNvSpPr/>
            <p:nvPr/>
          </p:nvSpPr>
          <p:spPr>
            <a:xfrm flipH="false" flipV="false" rot="0">
              <a:off x="0" y="0"/>
              <a:ext cx="19019520" cy="585216"/>
            </a:xfrm>
            <a:custGeom>
              <a:avLst/>
              <a:gdLst/>
              <a:ahLst/>
              <a:cxnLst/>
              <a:rect r="r" b="b" t="t" l="l"/>
              <a:pathLst>
                <a:path h="585216" w="19019520">
                  <a:moveTo>
                    <a:pt x="0" y="0"/>
                  </a:moveTo>
                  <a:lnTo>
                    <a:pt x="19019520" y="0"/>
                  </a:lnTo>
                  <a:lnTo>
                    <a:pt x="19019520" y="585216"/>
                  </a:lnTo>
                  <a:lnTo>
                    <a:pt x="0" y="585216"/>
                  </a:lnTo>
                  <a:close/>
                </a:path>
              </a:pathLst>
            </a:custGeom>
            <a:blipFill>
              <a:blip r:embed="rId2">
                <a:alphaModFix amt="0"/>
              </a:blip>
              <a:stretch>
                <a:fillRect l="0" t="-583263" r="0" b="-583263"/>
              </a:stretch>
            </a:blipFill>
          </p:spPr>
        </p:sp>
        <p:sp>
          <p:nvSpPr>
            <p:cNvPr name="TextBox 7" id="7"/>
            <p:cNvSpPr txBox="true"/>
            <p:nvPr/>
          </p:nvSpPr>
          <p:spPr>
            <a:xfrm>
              <a:off x="0" y="-47625"/>
              <a:ext cx="19019520" cy="632841"/>
            </a:xfrm>
            <a:prstGeom prst="rect">
              <a:avLst/>
            </a:prstGeom>
          </p:spPr>
          <p:txBody>
            <a:bodyPr anchor="ctr" rtlCol="false" tIns="0" lIns="0" bIns="0" rIns="0"/>
            <a:lstStyle/>
            <a:p>
              <a:pPr algn="l">
                <a:lnSpc>
                  <a:spcPts val="2340"/>
                </a:lnSpc>
              </a:pPr>
              <a:r>
                <a:rPr lang="en-US" sz="1950" i="true">
                  <a:solidFill>
                    <a:srgbClr val="5A6B7C"/>
                  </a:solidFill>
                  <a:latin typeface="Calibri (MS) Italics"/>
                  <a:ea typeface="Calibri (MS) Italics"/>
                  <a:cs typeface="Calibri (MS) Italics"/>
                  <a:sym typeface="Calibri (MS) Italics"/>
                </a:rPr>
                <a:t>Final slide</a:t>
              </a:r>
            </a:p>
          </p:txBody>
        </p:sp>
      </p:grpSp>
      <p:grpSp>
        <p:nvGrpSpPr>
          <p:cNvPr name="Group 8" id="8"/>
          <p:cNvGrpSpPr/>
          <p:nvPr/>
        </p:nvGrpSpPr>
        <p:grpSpPr>
          <a:xfrm rot="0">
            <a:off x="16664940" y="576072"/>
            <a:ext cx="850392" cy="850392"/>
            <a:chOff x="0" y="0"/>
            <a:chExt cx="1133856" cy="1133856"/>
          </a:xfrm>
        </p:grpSpPr>
        <p:sp>
          <p:nvSpPr>
            <p:cNvPr name="Freeform 9" id="9"/>
            <p:cNvSpPr/>
            <p:nvPr/>
          </p:nvSpPr>
          <p:spPr>
            <a:xfrm flipH="false" flipV="false" rot="0">
              <a:off x="0" y="0"/>
              <a:ext cx="1133856" cy="1133856"/>
            </a:xfrm>
            <a:custGeom>
              <a:avLst/>
              <a:gdLst/>
              <a:ahLst/>
              <a:cxnLst/>
              <a:rect r="r" b="b" t="t" l="l"/>
              <a:pathLst>
                <a:path h="1133856" w="1133856">
                  <a:moveTo>
                    <a:pt x="0" y="566928"/>
                  </a:moveTo>
                  <a:cubicBezTo>
                    <a:pt x="0" y="253873"/>
                    <a:pt x="253873" y="0"/>
                    <a:pt x="566928" y="0"/>
                  </a:cubicBezTo>
                  <a:cubicBezTo>
                    <a:pt x="879983" y="0"/>
                    <a:pt x="1133856" y="253873"/>
                    <a:pt x="1133856" y="566928"/>
                  </a:cubicBezTo>
                  <a:cubicBezTo>
                    <a:pt x="1133856" y="879983"/>
                    <a:pt x="879983" y="1133856"/>
                    <a:pt x="566928" y="1133856"/>
                  </a:cubicBezTo>
                  <a:cubicBezTo>
                    <a:pt x="253873" y="1133856"/>
                    <a:pt x="0" y="879983"/>
                    <a:pt x="0" y="566928"/>
                  </a:cubicBezTo>
                  <a:close/>
                </a:path>
              </a:pathLst>
            </a:custGeom>
            <a:solidFill>
              <a:srgbClr val="F1F5F9"/>
            </a:solidFill>
          </p:spPr>
        </p:sp>
      </p:grpSp>
      <p:grpSp>
        <p:nvGrpSpPr>
          <p:cNvPr name="Group 10" id="10"/>
          <p:cNvGrpSpPr/>
          <p:nvPr/>
        </p:nvGrpSpPr>
        <p:grpSpPr>
          <a:xfrm rot="0">
            <a:off x="16664940" y="576072"/>
            <a:ext cx="850392" cy="850392"/>
            <a:chOff x="0" y="0"/>
            <a:chExt cx="1133856" cy="1133856"/>
          </a:xfrm>
        </p:grpSpPr>
        <p:sp>
          <p:nvSpPr>
            <p:cNvPr name="Freeform 11" id="11"/>
            <p:cNvSpPr/>
            <p:nvPr/>
          </p:nvSpPr>
          <p:spPr>
            <a:xfrm flipH="false" flipV="false" rot="0">
              <a:off x="0" y="0"/>
              <a:ext cx="1133856" cy="1133856"/>
            </a:xfrm>
            <a:custGeom>
              <a:avLst/>
              <a:gdLst/>
              <a:ahLst/>
              <a:cxnLst/>
              <a:rect r="r" b="b" t="t" l="l"/>
              <a:pathLst>
                <a:path h="1133856" w="1133856">
                  <a:moveTo>
                    <a:pt x="0" y="0"/>
                  </a:moveTo>
                  <a:lnTo>
                    <a:pt x="1133856" y="0"/>
                  </a:lnTo>
                  <a:lnTo>
                    <a:pt x="1133856" y="1133856"/>
                  </a:lnTo>
                  <a:lnTo>
                    <a:pt x="0" y="1133856"/>
                  </a:lnTo>
                  <a:close/>
                </a:path>
              </a:pathLst>
            </a:custGeom>
            <a:blipFill>
              <a:blip r:embed="rId2">
                <a:alphaModFix amt="0"/>
              </a:blip>
              <a:stretch>
                <a:fillRect l="-78303" t="0" r="-78303" b="0"/>
              </a:stretch>
            </a:blipFill>
          </p:spPr>
        </p:sp>
        <p:sp>
          <p:nvSpPr>
            <p:cNvPr name="TextBox 12" id="12"/>
            <p:cNvSpPr txBox="true"/>
            <p:nvPr/>
          </p:nvSpPr>
          <p:spPr>
            <a:xfrm>
              <a:off x="0" y="-9525"/>
              <a:ext cx="1133856" cy="1143381"/>
            </a:xfrm>
            <a:prstGeom prst="rect">
              <a:avLst/>
            </a:prstGeom>
          </p:spPr>
          <p:txBody>
            <a:bodyPr anchor="ctr" rtlCol="false" tIns="0" lIns="0" bIns="0" rIns="0"/>
            <a:lstStyle/>
            <a:p>
              <a:pPr algn="ctr">
                <a:lnSpc>
                  <a:spcPts val="2879"/>
                </a:lnSpc>
              </a:pPr>
              <a:r>
                <a:rPr lang="en-US" sz="2400" b="true">
                  <a:solidFill>
                    <a:srgbClr val="004C8F"/>
                  </a:solidFill>
                  <a:latin typeface="Cambria Bold"/>
                  <a:ea typeface="Cambria Bold"/>
                  <a:cs typeface="Cambria Bold"/>
                  <a:sym typeface="Cambria Bold"/>
                </a:rPr>
                <a:t>12</a:t>
              </a:r>
            </a:p>
          </p:txBody>
        </p:sp>
      </p:grpSp>
      <p:grpSp>
        <p:nvGrpSpPr>
          <p:cNvPr name="Group 13" id="13"/>
          <p:cNvGrpSpPr/>
          <p:nvPr/>
        </p:nvGrpSpPr>
        <p:grpSpPr>
          <a:xfrm rot="0">
            <a:off x="822960" y="2263140"/>
            <a:ext cx="8092440" cy="438912"/>
            <a:chOff x="0" y="0"/>
            <a:chExt cx="10789920" cy="585216"/>
          </a:xfrm>
        </p:grpSpPr>
        <p:sp>
          <p:nvSpPr>
            <p:cNvPr name="Freeform 14" id="14"/>
            <p:cNvSpPr/>
            <p:nvPr/>
          </p:nvSpPr>
          <p:spPr>
            <a:xfrm flipH="false" flipV="false" rot="0">
              <a:off x="0" y="0"/>
              <a:ext cx="10789920" cy="585216"/>
            </a:xfrm>
            <a:custGeom>
              <a:avLst/>
              <a:gdLst/>
              <a:ahLst/>
              <a:cxnLst/>
              <a:rect r="r" b="b" t="t" l="l"/>
              <a:pathLst>
                <a:path h="585216" w="10789920">
                  <a:moveTo>
                    <a:pt x="0" y="0"/>
                  </a:moveTo>
                  <a:lnTo>
                    <a:pt x="10789920" y="0"/>
                  </a:lnTo>
                  <a:lnTo>
                    <a:pt x="10789920" y="585216"/>
                  </a:lnTo>
                  <a:lnTo>
                    <a:pt x="0" y="585216"/>
                  </a:lnTo>
                  <a:close/>
                </a:path>
              </a:pathLst>
            </a:custGeom>
            <a:blipFill>
              <a:blip r:embed="rId2">
                <a:alphaModFix amt="0"/>
              </a:blip>
              <a:stretch>
                <a:fillRect l="0" t="-309255" r="0" b="-309255"/>
              </a:stretch>
            </a:blipFill>
          </p:spPr>
        </p:sp>
        <p:sp>
          <p:nvSpPr>
            <p:cNvPr name="TextBox 15" id="15"/>
            <p:cNvSpPr txBox="true"/>
            <p:nvPr/>
          </p:nvSpPr>
          <p:spPr>
            <a:xfrm>
              <a:off x="0" y="-47625"/>
              <a:ext cx="10789920" cy="632841"/>
            </a:xfrm>
            <a:prstGeom prst="rect">
              <a:avLst/>
            </a:prstGeom>
          </p:spPr>
          <p:txBody>
            <a:bodyPr anchor="ctr" rtlCol="false" tIns="0" lIns="0" bIns="0" rIns="0"/>
            <a:lstStyle/>
            <a:p>
              <a:pPr algn="l">
                <a:lnSpc>
                  <a:spcPts val="2520"/>
                </a:lnSpc>
              </a:pPr>
              <a:r>
                <a:rPr lang="en-US" sz="2100" b="true">
                  <a:solidFill>
                    <a:srgbClr val="0A2540"/>
                  </a:solidFill>
                  <a:latin typeface="Calibri (MS) Bold"/>
                  <a:ea typeface="Calibri (MS) Bold"/>
                  <a:cs typeface="Calibri (MS) Bold"/>
                  <a:sym typeface="Calibri (MS) Bold"/>
                </a:rPr>
                <a:t>3 Key Learnings</a:t>
              </a:r>
            </a:p>
          </p:txBody>
        </p:sp>
      </p:grpSp>
      <p:grpSp>
        <p:nvGrpSpPr>
          <p:cNvPr name="Group 16" id="16"/>
          <p:cNvGrpSpPr/>
          <p:nvPr/>
        </p:nvGrpSpPr>
        <p:grpSpPr>
          <a:xfrm rot="0">
            <a:off x="822960" y="2811780"/>
            <a:ext cx="411480" cy="411480"/>
            <a:chOff x="0" y="0"/>
            <a:chExt cx="548640" cy="548640"/>
          </a:xfrm>
        </p:grpSpPr>
        <p:sp>
          <p:nvSpPr>
            <p:cNvPr name="Freeform 17" id="17"/>
            <p:cNvSpPr/>
            <p:nvPr/>
          </p:nvSpPr>
          <p:spPr>
            <a:xfrm flipH="false" flipV="false" rot="0">
              <a:off x="0" y="0"/>
              <a:ext cx="548640" cy="548640"/>
            </a:xfrm>
            <a:custGeom>
              <a:avLst/>
              <a:gdLst/>
              <a:ahLst/>
              <a:cxnLst/>
              <a:rect r="r" b="b" t="t" l="l"/>
              <a:pathLst>
                <a:path h="548640" w="548640">
                  <a:moveTo>
                    <a:pt x="0" y="274320"/>
                  </a:moveTo>
                  <a:cubicBezTo>
                    <a:pt x="0" y="122809"/>
                    <a:pt x="122809" y="0"/>
                    <a:pt x="274320" y="0"/>
                  </a:cubicBezTo>
                  <a:cubicBezTo>
                    <a:pt x="425831" y="0"/>
                    <a:pt x="548640" y="122809"/>
                    <a:pt x="548640" y="274320"/>
                  </a:cubicBezTo>
                  <a:cubicBezTo>
                    <a:pt x="548640" y="425831"/>
                    <a:pt x="425831" y="548640"/>
                    <a:pt x="274320" y="548640"/>
                  </a:cubicBezTo>
                  <a:cubicBezTo>
                    <a:pt x="122809" y="548640"/>
                    <a:pt x="0" y="425831"/>
                    <a:pt x="0" y="274320"/>
                  </a:cubicBezTo>
                  <a:close/>
                </a:path>
              </a:pathLst>
            </a:custGeom>
            <a:solidFill>
              <a:srgbClr val="ED232A"/>
            </a:solidFill>
          </p:spPr>
        </p:sp>
      </p:grpSp>
      <p:grpSp>
        <p:nvGrpSpPr>
          <p:cNvPr name="Group 18" id="18"/>
          <p:cNvGrpSpPr/>
          <p:nvPr/>
        </p:nvGrpSpPr>
        <p:grpSpPr>
          <a:xfrm rot="0">
            <a:off x="822960" y="2811780"/>
            <a:ext cx="411480" cy="411480"/>
            <a:chOff x="0" y="0"/>
            <a:chExt cx="548640" cy="548640"/>
          </a:xfrm>
        </p:grpSpPr>
        <p:sp>
          <p:nvSpPr>
            <p:cNvPr name="Freeform 19" id="19"/>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close/>
                </a:path>
              </a:pathLst>
            </a:custGeom>
            <a:blipFill>
              <a:blip r:embed="rId2">
                <a:alphaModFix amt="0"/>
              </a:blip>
              <a:stretch>
                <a:fillRect l="-78303" t="0" r="-78303" b="0"/>
              </a:stretch>
            </a:blipFill>
          </p:spPr>
        </p:sp>
        <p:sp>
          <p:nvSpPr>
            <p:cNvPr name="TextBox 20" id="20"/>
            <p:cNvSpPr txBox="true"/>
            <p:nvPr/>
          </p:nvSpPr>
          <p:spPr>
            <a:xfrm>
              <a:off x="0" y="-28575"/>
              <a:ext cx="548640" cy="577215"/>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1</a:t>
              </a:r>
            </a:p>
          </p:txBody>
        </p:sp>
      </p:grpSp>
      <p:grpSp>
        <p:nvGrpSpPr>
          <p:cNvPr name="Group 21" id="21"/>
          <p:cNvGrpSpPr/>
          <p:nvPr/>
        </p:nvGrpSpPr>
        <p:grpSpPr>
          <a:xfrm rot="0">
            <a:off x="1440180" y="2729484"/>
            <a:ext cx="7543800" cy="932688"/>
            <a:chOff x="0" y="0"/>
            <a:chExt cx="10058400" cy="1243584"/>
          </a:xfrm>
        </p:grpSpPr>
        <p:sp>
          <p:nvSpPr>
            <p:cNvPr name="Freeform 22" id="22"/>
            <p:cNvSpPr/>
            <p:nvPr/>
          </p:nvSpPr>
          <p:spPr>
            <a:xfrm flipH="false" flipV="false" rot="0">
              <a:off x="0" y="0"/>
              <a:ext cx="10058400" cy="1243584"/>
            </a:xfrm>
            <a:custGeom>
              <a:avLst/>
              <a:gdLst/>
              <a:ahLst/>
              <a:cxnLst/>
              <a:rect r="r" b="b" t="t" l="l"/>
              <a:pathLst>
                <a:path h="1243584" w="10058400">
                  <a:moveTo>
                    <a:pt x="0" y="0"/>
                  </a:moveTo>
                  <a:lnTo>
                    <a:pt x="10058400" y="0"/>
                  </a:lnTo>
                  <a:lnTo>
                    <a:pt x="10058400" y="1243584"/>
                  </a:lnTo>
                  <a:lnTo>
                    <a:pt x="0" y="1243584"/>
                  </a:lnTo>
                  <a:close/>
                </a:path>
              </a:pathLst>
            </a:custGeom>
            <a:blipFill>
              <a:blip r:embed="rId2">
                <a:alphaModFix amt="0"/>
              </a:blip>
              <a:stretch>
                <a:fillRect l="0" t="-107599" r="0" b="-107599"/>
              </a:stretch>
            </a:blipFill>
          </p:spPr>
        </p:sp>
        <p:sp>
          <p:nvSpPr>
            <p:cNvPr name="TextBox 23" id="23"/>
            <p:cNvSpPr txBox="true"/>
            <p:nvPr/>
          </p:nvSpPr>
          <p:spPr>
            <a:xfrm>
              <a:off x="0" y="-47625"/>
              <a:ext cx="10058400" cy="1291209"/>
            </a:xfrm>
            <a:prstGeom prst="rect">
              <a:avLst/>
            </a:prstGeom>
          </p:spPr>
          <p:txBody>
            <a:bodyPr anchor="ctr" rtlCol="false" tIns="0" lIns="0" bIns="0" rIns="0"/>
            <a:lstStyle/>
            <a:p>
              <a:pPr algn="l">
                <a:lnSpc>
                  <a:spcPts val="2100"/>
                </a:lnSpc>
              </a:pPr>
              <a:r>
                <a:rPr lang="en-US" sz="1620">
                  <a:solidFill>
                    <a:srgbClr val="3D4C5A"/>
                  </a:solidFill>
                  <a:latin typeface="Calibri (MS)"/>
                  <a:ea typeface="Calibri (MS)"/>
                  <a:cs typeface="Calibri (MS)"/>
                  <a:sym typeface="Calibri (MS)"/>
                </a:rPr>
                <a:t>A prompt naming a specific, authoritative source produces citable evidence; a general topic prompt produces confident-sounding but unverifiable claims.</a:t>
              </a:r>
            </a:p>
          </p:txBody>
        </p:sp>
      </p:grpSp>
      <p:grpSp>
        <p:nvGrpSpPr>
          <p:cNvPr name="Group 24" id="24"/>
          <p:cNvGrpSpPr/>
          <p:nvPr/>
        </p:nvGrpSpPr>
        <p:grpSpPr>
          <a:xfrm rot="0">
            <a:off x="822960" y="3799332"/>
            <a:ext cx="411480" cy="411480"/>
            <a:chOff x="0" y="0"/>
            <a:chExt cx="548640" cy="548640"/>
          </a:xfrm>
        </p:grpSpPr>
        <p:sp>
          <p:nvSpPr>
            <p:cNvPr name="Freeform 25" id="25"/>
            <p:cNvSpPr/>
            <p:nvPr/>
          </p:nvSpPr>
          <p:spPr>
            <a:xfrm flipH="false" flipV="false" rot="0">
              <a:off x="0" y="0"/>
              <a:ext cx="548640" cy="548640"/>
            </a:xfrm>
            <a:custGeom>
              <a:avLst/>
              <a:gdLst/>
              <a:ahLst/>
              <a:cxnLst/>
              <a:rect r="r" b="b" t="t" l="l"/>
              <a:pathLst>
                <a:path h="548640" w="548640">
                  <a:moveTo>
                    <a:pt x="0" y="274320"/>
                  </a:moveTo>
                  <a:cubicBezTo>
                    <a:pt x="0" y="122809"/>
                    <a:pt x="122809" y="0"/>
                    <a:pt x="274320" y="0"/>
                  </a:cubicBezTo>
                  <a:cubicBezTo>
                    <a:pt x="425831" y="0"/>
                    <a:pt x="548640" y="122809"/>
                    <a:pt x="548640" y="274320"/>
                  </a:cubicBezTo>
                  <a:cubicBezTo>
                    <a:pt x="548640" y="425831"/>
                    <a:pt x="425831" y="548640"/>
                    <a:pt x="274320" y="548640"/>
                  </a:cubicBezTo>
                  <a:cubicBezTo>
                    <a:pt x="122809" y="548640"/>
                    <a:pt x="0" y="425831"/>
                    <a:pt x="0" y="274320"/>
                  </a:cubicBezTo>
                  <a:close/>
                </a:path>
              </a:pathLst>
            </a:custGeom>
            <a:solidFill>
              <a:srgbClr val="ED232A"/>
            </a:solidFill>
          </p:spPr>
        </p:sp>
      </p:grpSp>
      <p:grpSp>
        <p:nvGrpSpPr>
          <p:cNvPr name="Group 26" id="26"/>
          <p:cNvGrpSpPr/>
          <p:nvPr/>
        </p:nvGrpSpPr>
        <p:grpSpPr>
          <a:xfrm rot="0">
            <a:off x="822960" y="3799332"/>
            <a:ext cx="411480" cy="411480"/>
            <a:chOff x="0" y="0"/>
            <a:chExt cx="548640" cy="548640"/>
          </a:xfrm>
        </p:grpSpPr>
        <p:sp>
          <p:nvSpPr>
            <p:cNvPr name="Freeform 27" id="27"/>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close/>
                </a:path>
              </a:pathLst>
            </a:custGeom>
            <a:blipFill>
              <a:blip r:embed="rId2">
                <a:alphaModFix amt="0"/>
              </a:blip>
              <a:stretch>
                <a:fillRect l="-78303" t="0" r="-78303" b="0"/>
              </a:stretch>
            </a:blipFill>
          </p:spPr>
        </p:sp>
        <p:sp>
          <p:nvSpPr>
            <p:cNvPr name="TextBox 28" id="28"/>
            <p:cNvSpPr txBox="true"/>
            <p:nvPr/>
          </p:nvSpPr>
          <p:spPr>
            <a:xfrm>
              <a:off x="0" y="-28575"/>
              <a:ext cx="548640" cy="577215"/>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2</a:t>
              </a:r>
            </a:p>
          </p:txBody>
        </p:sp>
      </p:grpSp>
      <p:grpSp>
        <p:nvGrpSpPr>
          <p:cNvPr name="Group 29" id="29"/>
          <p:cNvGrpSpPr/>
          <p:nvPr/>
        </p:nvGrpSpPr>
        <p:grpSpPr>
          <a:xfrm rot="0">
            <a:off x="1440180" y="3717036"/>
            <a:ext cx="7543800" cy="932688"/>
            <a:chOff x="0" y="0"/>
            <a:chExt cx="10058400" cy="1243584"/>
          </a:xfrm>
        </p:grpSpPr>
        <p:sp>
          <p:nvSpPr>
            <p:cNvPr name="Freeform 30" id="30"/>
            <p:cNvSpPr/>
            <p:nvPr/>
          </p:nvSpPr>
          <p:spPr>
            <a:xfrm flipH="false" flipV="false" rot="0">
              <a:off x="0" y="0"/>
              <a:ext cx="10058400" cy="1243584"/>
            </a:xfrm>
            <a:custGeom>
              <a:avLst/>
              <a:gdLst/>
              <a:ahLst/>
              <a:cxnLst/>
              <a:rect r="r" b="b" t="t" l="l"/>
              <a:pathLst>
                <a:path h="1243584" w="10058400">
                  <a:moveTo>
                    <a:pt x="0" y="0"/>
                  </a:moveTo>
                  <a:lnTo>
                    <a:pt x="10058400" y="0"/>
                  </a:lnTo>
                  <a:lnTo>
                    <a:pt x="10058400" y="1243584"/>
                  </a:lnTo>
                  <a:lnTo>
                    <a:pt x="0" y="1243584"/>
                  </a:lnTo>
                  <a:close/>
                </a:path>
              </a:pathLst>
            </a:custGeom>
            <a:blipFill>
              <a:blip r:embed="rId2">
                <a:alphaModFix amt="0"/>
              </a:blip>
              <a:stretch>
                <a:fillRect l="0" t="-107599" r="0" b="-107599"/>
              </a:stretch>
            </a:blipFill>
          </p:spPr>
        </p:sp>
        <p:sp>
          <p:nvSpPr>
            <p:cNvPr name="TextBox 31" id="31"/>
            <p:cNvSpPr txBox="true"/>
            <p:nvPr/>
          </p:nvSpPr>
          <p:spPr>
            <a:xfrm>
              <a:off x="0" y="-47625"/>
              <a:ext cx="10058400" cy="1291209"/>
            </a:xfrm>
            <a:prstGeom prst="rect">
              <a:avLst/>
            </a:prstGeom>
          </p:spPr>
          <p:txBody>
            <a:bodyPr anchor="ctr" rtlCol="false" tIns="0" lIns="0" bIns="0" rIns="0"/>
            <a:lstStyle/>
            <a:p>
              <a:pPr algn="l">
                <a:lnSpc>
                  <a:spcPts val="2100"/>
                </a:lnSpc>
              </a:pPr>
              <a:r>
                <a:rPr lang="en-US" sz="1620">
                  <a:solidFill>
                    <a:srgbClr val="3D4C5A"/>
                  </a:solidFill>
                  <a:latin typeface="Calibri (MS)"/>
                  <a:ea typeface="Calibri (MS)"/>
                  <a:cs typeface="Calibri (MS)"/>
                  <a:sym typeface="Calibri (MS)"/>
                </a:rPr>
                <a:t>Secondary sources can describe a real company's AI use in specific technical language without that language coming from the company itself — always check the primary filing.</a:t>
              </a:r>
            </a:p>
          </p:txBody>
        </p:sp>
      </p:grpSp>
      <p:grpSp>
        <p:nvGrpSpPr>
          <p:cNvPr name="Group 32" id="32"/>
          <p:cNvGrpSpPr/>
          <p:nvPr/>
        </p:nvGrpSpPr>
        <p:grpSpPr>
          <a:xfrm rot="0">
            <a:off x="822960" y="4786884"/>
            <a:ext cx="411480" cy="411480"/>
            <a:chOff x="0" y="0"/>
            <a:chExt cx="548640" cy="548640"/>
          </a:xfrm>
        </p:grpSpPr>
        <p:sp>
          <p:nvSpPr>
            <p:cNvPr name="Freeform 33" id="33"/>
            <p:cNvSpPr/>
            <p:nvPr/>
          </p:nvSpPr>
          <p:spPr>
            <a:xfrm flipH="false" flipV="false" rot="0">
              <a:off x="0" y="0"/>
              <a:ext cx="548640" cy="548640"/>
            </a:xfrm>
            <a:custGeom>
              <a:avLst/>
              <a:gdLst/>
              <a:ahLst/>
              <a:cxnLst/>
              <a:rect r="r" b="b" t="t" l="l"/>
              <a:pathLst>
                <a:path h="548640" w="548640">
                  <a:moveTo>
                    <a:pt x="0" y="274320"/>
                  </a:moveTo>
                  <a:cubicBezTo>
                    <a:pt x="0" y="122809"/>
                    <a:pt x="122809" y="0"/>
                    <a:pt x="274320" y="0"/>
                  </a:cubicBezTo>
                  <a:cubicBezTo>
                    <a:pt x="425831" y="0"/>
                    <a:pt x="548640" y="122809"/>
                    <a:pt x="548640" y="274320"/>
                  </a:cubicBezTo>
                  <a:cubicBezTo>
                    <a:pt x="548640" y="425831"/>
                    <a:pt x="425831" y="548640"/>
                    <a:pt x="274320" y="548640"/>
                  </a:cubicBezTo>
                  <a:cubicBezTo>
                    <a:pt x="122809" y="548640"/>
                    <a:pt x="0" y="425831"/>
                    <a:pt x="0" y="274320"/>
                  </a:cubicBezTo>
                  <a:close/>
                </a:path>
              </a:pathLst>
            </a:custGeom>
            <a:solidFill>
              <a:srgbClr val="ED232A"/>
            </a:solidFill>
          </p:spPr>
        </p:sp>
      </p:grpSp>
      <p:grpSp>
        <p:nvGrpSpPr>
          <p:cNvPr name="Group 34" id="34"/>
          <p:cNvGrpSpPr/>
          <p:nvPr/>
        </p:nvGrpSpPr>
        <p:grpSpPr>
          <a:xfrm rot="0">
            <a:off x="822960" y="4786884"/>
            <a:ext cx="411480" cy="411480"/>
            <a:chOff x="0" y="0"/>
            <a:chExt cx="548640" cy="548640"/>
          </a:xfrm>
        </p:grpSpPr>
        <p:sp>
          <p:nvSpPr>
            <p:cNvPr name="Freeform 35" id="35"/>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close/>
                </a:path>
              </a:pathLst>
            </a:custGeom>
            <a:blipFill>
              <a:blip r:embed="rId2">
                <a:alphaModFix amt="0"/>
              </a:blip>
              <a:stretch>
                <a:fillRect l="-78303" t="0" r="-78303" b="0"/>
              </a:stretch>
            </a:blipFill>
          </p:spPr>
        </p:sp>
        <p:sp>
          <p:nvSpPr>
            <p:cNvPr name="TextBox 36" id="36"/>
            <p:cNvSpPr txBox="true"/>
            <p:nvPr/>
          </p:nvSpPr>
          <p:spPr>
            <a:xfrm>
              <a:off x="0" y="-28575"/>
              <a:ext cx="548640" cy="577215"/>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3</a:t>
              </a:r>
            </a:p>
          </p:txBody>
        </p:sp>
      </p:grpSp>
      <p:grpSp>
        <p:nvGrpSpPr>
          <p:cNvPr name="Group 37" id="37"/>
          <p:cNvGrpSpPr/>
          <p:nvPr/>
        </p:nvGrpSpPr>
        <p:grpSpPr>
          <a:xfrm rot="0">
            <a:off x="1440180" y="4704588"/>
            <a:ext cx="7543800" cy="932688"/>
            <a:chOff x="0" y="0"/>
            <a:chExt cx="10058400" cy="1243584"/>
          </a:xfrm>
        </p:grpSpPr>
        <p:sp>
          <p:nvSpPr>
            <p:cNvPr name="Freeform 38" id="38"/>
            <p:cNvSpPr/>
            <p:nvPr/>
          </p:nvSpPr>
          <p:spPr>
            <a:xfrm flipH="false" flipV="false" rot="0">
              <a:off x="0" y="0"/>
              <a:ext cx="10058400" cy="1243584"/>
            </a:xfrm>
            <a:custGeom>
              <a:avLst/>
              <a:gdLst/>
              <a:ahLst/>
              <a:cxnLst/>
              <a:rect r="r" b="b" t="t" l="l"/>
              <a:pathLst>
                <a:path h="1243584" w="10058400">
                  <a:moveTo>
                    <a:pt x="0" y="0"/>
                  </a:moveTo>
                  <a:lnTo>
                    <a:pt x="10058400" y="0"/>
                  </a:lnTo>
                  <a:lnTo>
                    <a:pt x="10058400" y="1243584"/>
                  </a:lnTo>
                  <a:lnTo>
                    <a:pt x="0" y="1243584"/>
                  </a:lnTo>
                  <a:close/>
                </a:path>
              </a:pathLst>
            </a:custGeom>
            <a:blipFill>
              <a:blip r:embed="rId2">
                <a:alphaModFix amt="0"/>
              </a:blip>
              <a:stretch>
                <a:fillRect l="0" t="-107599" r="0" b="-107599"/>
              </a:stretch>
            </a:blipFill>
          </p:spPr>
        </p:sp>
        <p:sp>
          <p:nvSpPr>
            <p:cNvPr name="TextBox 39" id="39"/>
            <p:cNvSpPr txBox="true"/>
            <p:nvPr/>
          </p:nvSpPr>
          <p:spPr>
            <a:xfrm>
              <a:off x="0" y="-47625"/>
              <a:ext cx="10058400" cy="1291209"/>
            </a:xfrm>
            <a:prstGeom prst="rect">
              <a:avLst/>
            </a:prstGeom>
          </p:spPr>
          <p:txBody>
            <a:bodyPr anchor="ctr" rtlCol="false" tIns="0" lIns="0" bIns="0" rIns="0"/>
            <a:lstStyle/>
            <a:p>
              <a:pPr algn="l">
                <a:lnSpc>
                  <a:spcPts val="2100"/>
                </a:lnSpc>
              </a:pPr>
              <a:r>
                <a:rPr lang="en-US" sz="1620">
                  <a:solidFill>
                    <a:srgbClr val="3D4C5A"/>
                  </a:solidFill>
                  <a:latin typeface="Calibri (MS)"/>
                  <a:ea typeface="Calibri (MS)"/>
                  <a:cs typeface="Calibri (MS)"/>
                  <a:sym typeface="Calibri (MS)"/>
                </a:rPr>
                <a:t>The most defensible move when data doesn't exist in a primary source is to say so, not to fill the gap with a plausible-sounding number.</a:t>
              </a:r>
            </a:p>
          </p:txBody>
        </p:sp>
      </p:grpSp>
      <p:grpSp>
        <p:nvGrpSpPr>
          <p:cNvPr name="Group 40" id="40"/>
          <p:cNvGrpSpPr/>
          <p:nvPr/>
        </p:nvGrpSpPr>
        <p:grpSpPr>
          <a:xfrm rot="0">
            <a:off x="9532620" y="2263140"/>
            <a:ext cx="7955280" cy="438912"/>
            <a:chOff x="0" y="0"/>
            <a:chExt cx="10607040" cy="585216"/>
          </a:xfrm>
        </p:grpSpPr>
        <p:sp>
          <p:nvSpPr>
            <p:cNvPr name="Freeform 41" id="41"/>
            <p:cNvSpPr/>
            <p:nvPr/>
          </p:nvSpPr>
          <p:spPr>
            <a:xfrm flipH="false" flipV="false" rot="0">
              <a:off x="0" y="0"/>
              <a:ext cx="10607040" cy="585216"/>
            </a:xfrm>
            <a:custGeom>
              <a:avLst/>
              <a:gdLst/>
              <a:ahLst/>
              <a:cxnLst/>
              <a:rect r="r" b="b" t="t" l="l"/>
              <a:pathLst>
                <a:path h="585216" w="10607040">
                  <a:moveTo>
                    <a:pt x="0" y="0"/>
                  </a:moveTo>
                  <a:lnTo>
                    <a:pt x="10607040" y="0"/>
                  </a:lnTo>
                  <a:lnTo>
                    <a:pt x="10607040" y="585216"/>
                  </a:lnTo>
                  <a:lnTo>
                    <a:pt x="0" y="585216"/>
                  </a:lnTo>
                  <a:close/>
                </a:path>
              </a:pathLst>
            </a:custGeom>
            <a:blipFill>
              <a:blip r:embed="rId2">
                <a:alphaModFix amt="0"/>
              </a:blip>
              <a:stretch>
                <a:fillRect l="0" t="-303166" r="0" b="-303166"/>
              </a:stretch>
            </a:blipFill>
          </p:spPr>
        </p:sp>
        <p:sp>
          <p:nvSpPr>
            <p:cNvPr name="TextBox 42" id="42"/>
            <p:cNvSpPr txBox="true"/>
            <p:nvPr/>
          </p:nvSpPr>
          <p:spPr>
            <a:xfrm>
              <a:off x="0" y="-47625"/>
              <a:ext cx="10607040" cy="632841"/>
            </a:xfrm>
            <a:prstGeom prst="rect">
              <a:avLst/>
            </a:prstGeom>
          </p:spPr>
          <p:txBody>
            <a:bodyPr anchor="ctr" rtlCol="false" tIns="0" lIns="0" bIns="0" rIns="0"/>
            <a:lstStyle/>
            <a:p>
              <a:pPr algn="l">
                <a:lnSpc>
                  <a:spcPts val="2520"/>
                </a:lnSpc>
              </a:pPr>
              <a:r>
                <a:rPr lang="en-US" sz="2100" b="true">
                  <a:solidFill>
                    <a:srgbClr val="0A2540"/>
                  </a:solidFill>
                  <a:latin typeface="Calibri (MS) Bold"/>
                  <a:ea typeface="Calibri (MS) Bold"/>
                  <a:cs typeface="Calibri (MS) Bold"/>
                  <a:sym typeface="Calibri (MS) Bold"/>
                </a:rPr>
                <a:t>References (APA 7th ed.)</a:t>
              </a:r>
            </a:p>
          </p:txBody>
        </p:sp>
      </p:grpSp>
      <p:grpSp>
        <p:nvGrpSpPr>
          <p:cNvPr name="Group 43" id="43"/>
          <p:cNvGrpSpPr/>
          <p:nvPr/>
        </p:nvGrpSpPr>
        <p:grpSpPr>
          <a:xfrm rot="0">
            <a:off x="9532620" y="2770632"/>
            <a:ext cx="7955280" cy="480060"/>
            <a:chOff x="0" y="0"/>
            <a:chExt cx="10607040" cy="640080"/>
          </a:xfrm>
        </p:grpSpPr>
        <p:sp>
          <p:nvSpPr>
            <p:cNvPr name="Freeform 44" id="44"/>
            <p:cNvSpPr/>
            <p:nvPr/>
          </p:nvSpPr>
          <p:spPr>
            <a:xfrm flipH="false" flipV="false" rot="0">
              <a:off x="0" y="0"/>
              <a:ext cx="10607040" cy="640080"/>
            </a:xfrm>
            <a:custGeom>
              <a:avLst/>
              <a:gdLst/>
              <a:ahLst/>
              <a:cxnLst/>
              <a:rect r="r" b="b" t="t" l="l"/>
              <a:pathLst>
                <a:path h="640080" w="10607040">
                  <a:moveTo>
                    <a:pt x="0" y="0"/>
                  </a:moveTo>
                  <a:lnTo>
                    <a:pt x="10607040" y="0"/>
                  </a:lnTo>
                  <a:lnTo>
                    <a:pt x="10607040" y="640080"/>
                  </a:lnTo>
                  <a:lnTo>
                    <a:pt x="0" y="640080"/>
                  </a:lnTo>
                  <a:close/>
                </a:path>
              </a:pathLst>
            </a:custGeom>
            <a:blipFill>
              <a:blip r:embed="rId2">
                <a:alphaModFix amt="0"/>
              </a:blip>
              <a:stretch>
                <a:fillRect l="0" t="-272894" r="0" b="-272894"/>
              </a:stretch>
            </a:blipFill>
          </p:spPr>
        </p:sp>
        <p:sp>
          <p:nvSpPr>
            <p:cNvPr name="TextBox 45" id="45"/>
            <p:cNvSpPr txBox="true"/>
            <p:nvPr/>
          </p:nvSpPr>
          <p:spPr>
            <a:xfrm>
              <a:off x="0" y="-28575"/>
              <a:ext cx="10607040" cy="668655"/>
            </a:xfrm>
            <a:prstGeom prst="rect">
              <a:avLst/>
            </a:prstGeom>
          </p:spPr>
          <p:txBody>
            <a:bodyPr anchor="ctr" rtlCol="false" tIns="0" lIns="0" bIns="0" rIns="0"/>
            <a:lstStyle/>
            <a:p>
              <a:pPr algn="l">
                <a:lnSpc>
                  <a:spcPts val="1574"/>
                </a:lnSpc>
              </a:pPr>
              <a:r>
                <a:rPr lang="en-US" sz="1320">
                  <a:solidFill>
                    <a:srgbClr val="5A6B7C"/>
                  </a:solidFill>
                  <a:latin typeface="Calibri (MS)"/>
                  <a:ea typeface="Calibri (MS)"/>
                  <a:cs typeface="Calibri (MS)"/>
                  <a:sym typeface="Calibri (MS)"/>
                </a:rPr>
                <a:t>HDFC Bank Limited. (2026). Annual report on Form 20-F for FY2026. U.S. SEC.</a:t>
              </a:r>
            </a:p>
          </p:txBody>
        </p:sp>
      </p:grpSp>
      <p:grpSp>
        <p:nvGrpSpPr>
          <p:cNvPr name="Group 46" id="46"/>
          <p:cNvGrpSpPr/>
          <p:nvPr/>
        </p:nvGrpSpPr>
        <p:grpSpPr>
          <a:xfrm rot="0">
            <a:off x="9532620" y="3278124"/>
            <a:ext cx="7955280" cy="480060"/>
            <a:chOff x="0" y="0"/>
            <a:chExt cx="10607040" cy="640080"/>
          </a:xfrm>
        </p:grpSpPr>
        <p:sp>
          <p:nvSpPr>
            <p:cNvPr name="Freeform 47" id="47"/>
            <p:cNvSpPr/>
            <p:nvPr/>
          </p:nvSpPr>
          <p:spPr>
            <a:xfrm flipH="false" flipV="false" rot="0">
              <a:off x="0" y="0"/>
              <a:ext cx="10607040" cy="640080"/>
            </a:xfrm>
            <a:custGeom>
              <a:avLst/>
              <a:gdLst/>
              <a:ahLst/>
              <a:cxnLst/>
              <a:rect r="r" b="b" t="t" l="l"/>
              <a:pathLst>
                <a:path h="640080" w="10607040">
                  <a:moveTo>
                    <a:pt x="0" y="0"/>
                  </a:moveTo>
                  <a:lnTo>
                    <a:pt x="10607040" y="0"/>
                  </a:lnTo>
                  <a:lnTo>
                    <a:pt x="10607040" y="640080"/>
                  </a:lnTo>
                  <a:lnTo>
                    <a:pt x="0" y="640080"/>
                  </a:lnTo>
                  <a:close/>
                </a:path>
              </a:pathLst>
            </a:custGeom>
            <a:blipFill>
              <a:blip r:embed="rId2">
                <a:alphaModFix amt="0"/>
              </a:blip>
              <a:stretch>
                <a:fillRect l="0" t="-272894" r="0" b="-272894"/>
              </a:stretch>
            </a:blipFill>
          </p:spPr>
        </p:sp>
        <p:sp>
          <p:nvSpPr>
            <p:cNvPr name="TextBox 48" id="48"/>
            <p:cNvSpPr txBox="true"/>
            <p:nvPr/>
          </p:nvSpPr>
          <p:spPr>
            <a:xfrm>
              <a:off x="0" y="-28575"/>
              <a:ext cx="10607040" cy="668655"/>
            </a:xfrm>
            <a:prstGeom prst="rect">
              <a:avLst/>
            </a:prstGeom>
          </p:spPr>
          <p:txBody>
            <a:bodyPr anchor="ctr" rtlCol="false" tIns="0" lIns="0" bIns="0" rIns="0"/>
            <a:lstStyle/>
            <a:p>
              <a:pPr algn="l">
                <a:lnSpc>
                  <a:spcPts val="1574"/>
                </a:lnSpc>
              </a:pPr>
              <a:r>
                <a:rPr lang="en-US" sz="1320">
                  <a:solidFill>
                    <a:srgbClr val="5A6B7C"/>
                  </a:solidFill>
                  <a:latin typeface="Calibri (MS)"/>
                  <a:ea typeface="Calibri (MS)"/>
                  <a:cs typeface="Calibri (MS)"/>
                  <a:sym typeface="Calibri (MS)"/>
                </a:rPr>
                <a:t>HDFC Bank Limited. (2026). Q4 FY26 earnings presentation.</a:t>
              </a:r>
            </a:p>
          </p:txBody>
        </p:sp>
      </p:grpSp>
      <p:grpSp>
        <p:nvGrpSpPr>
          <p:cNvPr name="Group 49" id="49"/>
          <p:cNvGrpSpPr/>
          <p:nvPr/>
        </p:nvGrpSpPr>
        <p:grpSpPr>
          <a:xfrm rot="0">
            <a:off x="9532620" y="3785616"/>
            <a:ext cx="7955280" cy="480060"/>
            <a:chOff x="0" y="0"/>
            <a:chExt cx="10607040" cy="640080"/>
          </a:xfrm>
        </p:grpSpPr>
        <p:sp>
          <p:nvSpPr>
            <p:cNvPr name="Freeform 50" id="50"/>
            <p:cNvSpPr/>
            <p:nvPr/>
          </p:nvSpPr>
          <p:spPr>
            <a:xfrm flipH="false" flipV="false" rot="0">
              <a:off x="0" y="0"/>
              <a:ext cx="10607040" cy="640080"/>
            </a:xfrm>
            <a:custGeom>
              <a:avLst/>
              <a:gdLst/>
              <a:ahLst/>
              <a:cxnLst/>
              <a:rect r="r" b="b" t="t" l="l"/>
              <a:pathLst>
                <a:path h="640080" w="10607040">
                  <a:moveTo>
                    <a:pt x="0" y="0"/>
                  </a:moveTo>
                  <a:lnTo>
                    <a:pt x="10607040" y="0"/>
                  </a:lnTo>
                  <a:lnTo>
                    <a:pt x="10607040" y="640080"/>
                  </a:lnTo>
                  <a:lnTo>
                    <a:pt x="0" y="640080"/>
                  </a:lnTo>
                  <a:close/>
                </a:path>
              </a:pathLst>
            </a:custGeom>
            <a:blipFill>
              <a:blip r:embed="rId2">
                <a:alphaModFix amt="0"/>
              </a:blip>
              <a:stretch>
                <a:fillRect l="0" t="-272894" r="0" b="-272894"/>
              </a:stretch>
            </a:blipFill>
          </p:spPr>
        </p:sp>
        <p:sp>
          <p:nvSpPr>
            <p:cNvPr name="TextBox 51" id="51"/>
            <p:cNvSpPr txBox="true"/>
            <p:nvPr/>
          </p:nvSpPr>
          <p:spPr>
            <a:xfrm>
              <a:off x="0" y="-28575"/>
              <a:ext cx="10607040" cy="668655"/>
            </a:xfrm>
            <a:prstGeom prst="rect">
              <a:avLst/>
            </a:prstGeom>
          </p:spPr>
          <p:txBody>
            <a:bodyPr anchor="ctr" rtlCol="false" tIns="0" lIns="0" bIns="0" rIns="0"/>
            <a:lstStyle/>
            <a:p>
              <a:pPr algn="l">
                <a:lnSpc>
                  <a:spcPts val="1574"/>
                </a:lnSpc>
              </a:pPr>
              <a:r>
                <a:rPr lang="en-US" sz="1320">
                  <a:solidFill>
                    <a:srgbClr val="5A6B7C"/>
                  </a:solidFill>
                  <a:latin typeface="Calibri (MS)"/>
                  <a:ea typeface="Calibri (MS)"/>
                  <a:cs typeface="Calibri (MS)"/>
                  <a:sym typeface="Calibri (MS)"/>
                </a:rPr>
                <a:t>Reserve Bank of India. (2025). Annual report 2024-25.</a:t>
              </a:r>
            </a:p>
          </p:txBody>
        </p:sp>
      </p:grpSp>
      <p:grpSp>
        <p:nvGrpSpPr>
          <p:cNvPr name="Group 52" id="52"/>
          <p:cNvGrpSpPr/>
          <p:nvPr/>
        </p:nvGrpSpPr>
        <p:grpSpPr>
          <a:xfrm rot="0">
            <a:off x="9532620" y="4293108"/>
            <a:ext cx="7955280" cy="480060"/>
            <a:chOff x="0" y="0"/>
            <a:chExt cx="10607040" cy="640080"/>
          </a:xfrm>
        </p:grpSpPr>
        <p:sp>
          <p:nvSpPr>
            <p:cNvPr name="Freeform 53" id="53"/>
            <p:cNvSpPr/>
            <p:nvPr/>
          </p:nvSpPr>
          <p:spPr>
            <a:xfrm flipH="false" flipV="false" rot="0">
              <a:off x="0" y="0"/>
              <a:ext cx="10607040" cy="640080"/>
            </a:xfrm>
            <a:custGeom>
              <a:avLst/>
              <a:gdLst/>
              <a:ahLst/>
              <a:cxnLst/>
              <a:rect r="r" b="b" t="t" l="l"/>
              <a:pathLst>
                <a:path h="640080" w="10607040">
                  <a:moveTo>
                    <a:pt x="0" y="0"/>
                  </a:moveTo>
                  <a:lnTo>
                    <a:pt x="10607040" y="0"/>
                  </a:lnTo>
                  <a:lnTo>
                    <a:pt x="10607040" y="640080"/>
                  </a:lnTo>
                  <a:lnTo>
                    <a:pt x="0" y="640080"/>
                  </a:lnTo>
                  <a:close/>
                </a:path>
              </a:pathLst>
            </a:custGeom>
            <a:blipFill>
              <a:blip r:embed="rId2">
                <a:alphaModFix amt="0"/>
              </a:blip>
              <a:stretch>
                <a:fillRect l="0" t="-272894" r="0" b="-272894"/>
              </a:stretch>
            </a:blipFill>
          </p:spPr>
        </p:sp>
        <p:sp>
          <p:nvSpPr>
            <p:cNvPr name="TextBox 54" id="54"/>
            <p:cNvSpPr txBox="true"/>
            <p:nvPr/>
          </p:nvSpPr>
          <p:spPr>
            <a:xfrm>
              <a:off x="0" y="-28575"/>
              <a:ext cx="10607040" cy="668655"/>
            </a:xfrm>
            <a:prstGeom prst="rect">
              <a:avLst/>
            </a:prstGeom>
          </p:spPr>
          <p:txBody>
            <a:bodyPr anchor="ctr" rtlCol="false" tIns="0" lIns="0" bIns="0" rIns="0"/>
            <a:lstStyle/>
            <a:p>
              <a:pPr algn="l">
                <a:lnSpc>
                  <a:spcPts val="1574"/>
                </a:lnSpc>
              </a:pPr>
              <a:r>
                <a:rPr lang="en-US" sz="1320">
                  <a:solidFill>
                    <a:srgbClr val="5A6B7C"/>
                  </a:solidFill>
                  <a:latin typeface="Calibri (MS)"/>
                  <a:ea typeface="Calibri (MS)"/>
                  <a:cs typeface="Calibri (MS)"/>
                  <a:sym typeface="Calibri (MS)"/>
                </a:rPr>
                <a:t>Reserve Bank of India. (2026). Annual report 2025-26.</a:t>
              </a:r>
            </a:p>
          </p:txBody>
        </p:sp>
      </p:grpSp>
      <p:grpSp>
        <p:nvGrpSpPr>
          <p:cNvPr name="Group 55" id="55"/>
          <p:cNvGrpSpPr/>
          <p:nvPr/>
        </p:nvGrpSpPr>
        <p:grpSpPr>
          <a:xfrm rot="0">
            <a:off x="9532620" y="4800600"/>
            <a:ext cx="7955280" cy="480060"/>
            <a:chOff x="0" y="0"/>
            <a:chExt cx="10607040" cy="640080"/>
          </a:xfrm>
        </p:grpSpPr>
        <p:sp>
          <p:nvSpPr>
            <p:cNvPr name="Freeform 56" id="56"/>
            <p:cNvSpPr/>
            <p:nvPr/>
          </p:nvSpPr>
          <p:spPr>
            <a:xfrm flipH="false" flipV="false" rot="0">
              <a:off x="0" y="0"/>
              <a:ext cx="10607040" cy="640080"/>
            </a:xfrm>
            <a:custGeom>
              <a:avLst/>
              <a:gdLst/>
              <a:ahLst/>
              <a:cxnLst/>
              <a:rect r="r" b="b" t="t" l="l"/>
              <a:pathLst>
                <a:path h="640080" w="10607040">
                  <a:moveTo>
                    <a:pt x="0" y="0"/>
                  </a:moveTo>
                  <a:lnTo>
                    <a:pt x="10607040" y="0"/>
                  </a:lnTo>
                  <a:lnTo>
                    <a:pt x="10607040" y="640080"/>
                  </a:lnTo>
                  <a:lnTo>
                    <a:pt x="0" y="640080"/>
                  </a:lnTo>
                  <a:close/>
                </a:path>
              </a:pathLst>
            </a:custGeom>
            <a:blipFill>
              <a:blip r:embed="rId2">
                <a:alphaModFix amt="0"/>
              </a:blip>
              <a:stretch>
                <a:fillRect l="0" t="-272894" r="0" b="-272894"/>
              </a:stretch>
            </a:blipFill>
          </p:spPr>
        </p:sp>
        <p:sp>
          <p:nvSpPr>
            <p:cNvPr name="TextBox 57" id="57"/>
            <p:cNvSpPr txBox="true"/>
            <p:nvPr/>
          </p:nvSpPr>
          <p:spPr>
            <a:xfrm>
              <a:off x="0" y="-28575"/>
              <a:ext cx="10607040" cy="668655"/>
            </a:xfrm>
            <a:prstGeom prst="rect">
              <a:avLst/>
            </a:prstGeom>
          </p:spPr>
          <p:txBody>
            <a:bodyPr anchor="ctr" rtlCol="false" tIns="0" lIns="0" bIns="0" rIns="0"/>
            <a:lstStyle/>
            <a:p>
              <a:pPr algn="l">
                <a:lnSpc>
                  <a:spcPts val="1574"/>
                </a:lnSpc>
              </a:pPr>
              <a:r>
                <a:rPr lang="en-US" sz="1320">
                  <a:solidFill>
                    <a:srgbClr val="5A6B7C"/>
                  </a:solidFill>
                  <a:latin typeface="Calibri (MS)"/>
                  <a:ea typeface="Calibri (MS)"/>
                  <a:cs typeface="Calibri (MS)"/>
                  <a:sym typeface="Calibri (MS)"/>
                </a:rPr>
                <a:t>Business Standard. (2025, May 30). Bank fraud cases fell in FY25, amount rose threefold to ₹36,014 cr: RBI.</a:t>
              </a:r>
            </a:p>
          </p:txBody>
        </p:sp>
      </p:grpSp>
      <p:grpSp>
        <p:nvGrpSpPr>
          <p:cNvPr name="Group 58" id="58"/>
          <p:cNvGrpSpPr/>
          <p:nvPr/>
        </p:nvGrpSpPr>
        <p:grpSpPr>
          <a:xfrm rot="0">
            <a:off x="9532620" y="5308092"/>
            <a:ext cx="7955280" cy="480060"/>
            <a:chOff x="0" y="0"/>
            <a:chExt cx="10607040" cy="640080"/>
          </a:xfrm>
        </p:grpSpPr>
        <p:sp>
          <p:nvSpPr>
            <p:cNvPr name="Freeform 59" id="59"/>
            <p:cNvSpPr/>
            <p:nvPr/>
          </p:nvSpPr>
          <p:spPr>
            <a:xfrm flipH="false" flipV="false" rot="0">
              <a:off x="0" y="0"/>
              <a:ext cx="10607040" cy="640080"/>
            </a:xfrm>
            <a:custGeom>
              <a:avLst/>
              <a:gdLst/>
              <a:ahLst/>
              <a:cxnLst/>
              <a:rect r="r" b="b" t="t" l="l"/>
              <a:pathLst>
                <a:path h="640080" w="10607040">
                  <a:moveTo>
                    <a:pt x="0" y="0"/>
                  </a:moveTo>
                  <a:lnTo>
                    <a:pt x="10607040" y="0"/>
                  </a:lnTo>
                  <a:lnTo>
                    <a:pt x="10607040" y="640080"/>
                  </a:lnTo>
                  <a:lnTo>
                    <a:pt x="0" y="640080"/>
                  </a:lnTo>
                  <a:close/>
                </a:path>
              </a:pathLst>
            </a:custGeom>
            <a:blipFill>
              <a:blip r:embed="rId2">
                <a:alphaModFix amt="0"/>
              </a:blip>
              <a:stretch>
                <a:fillRect l="0" t="-272894" r="0" b="-272894"/>
              </a:stretch>
            </a:blipFill>
          </p:spPr>
        </p:sp>
        <p:sp>
          <p:nvSpPr>
            <p:cNvPr name="TextBox 60" id="60"/>
            <p:cNvSpPr txBox="true"/>
            <p:nvPr/>
          </p:nvSpPr>
          <p:spPr>
            <a:xfrm>
              <a:off x="0" y="-28575"/>
              <a:ext cx="10607040" cy="668655"/>
            </a:xfrm>
            <a:prstGeom prst="rect">
              <a:avLst/>
            </a:prstGeom>
          </p:spPr>
          <p:txBody>
            <a:bodyPr anchor="ctr" rtlCol="false" tIns="0" lIns="0" bIns="0" rIns="0"/>
            <a:lstStyle/>
            <a:p>
              <a:pPr algn="l">
                <a:lnSpc>
                  <a:spcPts val="1574"/>
                </a:lnSpc>
              </a:pPr>
              <a:r>
                <a:rPr lang="en-US" sz="1320">
                  <a:solidFill>
                    <a:srgbClr val="5A6B7C"/>
                  </a:solidFill>
                  <a:latin typeface="Calibri (MS)"/>
                  <a:ea typeface="Calibri (MS)"/>
                  <a:cs typeface="Calibri (MS)"/>
                  <a:sym typeface="Calibri (MS)"/>
                </a:rPr>
                <a:t>George, M. Z. H., Alam, M. K., &amp; Hasan, M. T. (2023). Machine learning for fraud detection in digital banking: A systematic literature review. WCSDI, 3(1), 37–61.</a:t>
              </a:r>
            </a:p>
          </p:txBody>
        </p:sp>
      </p:grpSp>
      <p:grpSp>
        <p:nvGrpSpPr>
          <p:cNvPr name="Group 61" id="61"/>
          <p:cNvGrpSpPr/>
          <p:nvPr/>
        </p:nvGrpSpPr>
        <p:grpSpPr>
          <a:xfrm rot="0">
            <a:off x="895731" y="6580251"/>
            <a:ext cx="7946898" cy="2535555"/>
            <a:chOff x="0" y="0"/>
            <a:chExt cx="10595864" cy="3380740"/>
          </a:xfrm>
        </p:grpSpPr>
        <p:sp>
          <p:nvSpPr>
            <p:cNvPr name="Freeform 62" id="62"/>
            <p:cNvSpPr/>
            <p:nvPr/>
          </p:nvSpPr>
          <p:spPr>
            <a:xfrm flipH="false" flipV="false" rot="0">
              <a:off x="0" y="0"/>
              <a:ext cx="10595864" cy="3380740"/>
            </a:xfrm>
            <a:custGeom>
              <a:avLst/>
              <a:gdLst/>
              <a:ahLst/>
              <a:cxnLst/>
              <a:rect r="r" b="b" t="t" l="l"/>
              <a:pathLst>
                <a:path h="3380740" w="10595864">
                  <a:moveTo>
                    <a:pt x="0" y="174441"/>
                  </a:moveTo>
                  <a:cubicBezTo>
                    <a:pt x="0" y="78063"/>
                    <a:pt x="66040" y="0"/>
                    <a:pt x="147574" y="0"/>
                  </a:cubicBezTo>
                  <a:lnTo>
                    <a:pt x="10448290" y="0"/>
                  </a:lnTo>
                  <a:cubicBezTo>
                    <a:pt x="10529824" y="0"/>
                    <a:pt x="10595864" y="78063"/>
                    <a:pt x="10595864" y="174441"/>
                  </a:cubicBezTo>
                  <a:lnTo>
                    <a:pt x="10595864" y="3206299"/>
                  </a:lnTo>
                  <a:cubicBezTo>
                    <a:pt x="10595864" y="3302677"/>
                    <a:pt x="10529824" y="3380740"/>
                    <a:pt x="10448290" y="3380740"/>
                  </a:cubicBezTo>
                  <a:lnTo>
                    <a:pt x="147574" y="3380740"/>
                  </a:lnTo>
                  <a:cubicBezTo>
                    <a:pt x="66040" y="3380740"/>
                    <a:pt x="0" y="3302677"/>
                    <a:pt x="0" y="3206299"/>
                  </a:cubicBezTo>
                  <a:close/>
                </a:path>
              </a:pathLst>
            </a:custGeom>
            <a:solidFill>
              <a:srgbClr val="0A2540"/>
            </a:solidFill>
            <a:ln w="19050" cap="sq">
              <a:solidFill>
                <a:srgbClr val="0A2540"/>
              </a:solidFill>
              <a:prstDash val="solid"/>
              <a:miter/>
            </a:ln>
          </p:spPr>
        </p:sp>
      </p:grpSp>
      <p:grpSp>
        <p:nvGrpSpPr>
          <p:cNvPr name="Group 63" id="63"/>
          <p:cNvGrpSpPr/>
          <p:nvPr/>
        </p:nvGrpSpPr>
        <p:grpSpPr>
          <a:xfrm rot="0">
            <a:off x="1234440" y="6844284"/>
            <a:ext cx="7132320" cy="417853"/>
            <a:chOff x="0" y="0"/>
            <a:chExt cx="9509760" cy="557138"/>
          </a:xfrm>
        </p:grpSpPr>
        <p:sp>
          <p:nvSpPr>
            <p:cNvPr name="Freeform 64" id="64"/>
            <p:cNvSpPr/>
            <p:nvPr/>
          </p:nvSpPr>
          <p:spPr>
            <a:xfrm flipH="false" flipV="false" rot="0">
              <a:off x="0" y="0"/>
              <a:ext cx="9509760" cy="557138"/>
            </a:xfrm>
            <a:custGeom>
              <a:avLst/>
              <a:gdLst/>
              <a:ahLst/>
              <a:cxnLst/>
              <a:rect r="r" b="b" t="t" l="l"/>
              <a:pathLst>
                <a:path h="557138" w="9509760">
                  <a:moveTo>
                    <a:pt x="0" y="0"/>
                  </a:moveTo>
                  <a:lnTo>
                    <a:pt x="9509760" y="0"/>
                  </a:lnTo>
                  <a:lnTo>
                    <a:pt x="9509760" y="557138"/>
                  </a:lnTo>
                  <a:lnTo>
                    <a:pt x="0" y="557138"/>
                  </a:lnTo>
                  <a:close/>
                </a:path>
              </a:pathLst>
            </a:custGeom>
            <a:blipFill>
              <a:blip r:embed="rId2">
                <a:alphaModFix amt="0"/>
              </a:blip>
              <a:stretch>
                <a:fillRect l="0" t="-283351" r="0" b="-281826"/>
              </a:stretch>
            </a:blipFill>
          </p:spPr>
        </p:sp>
        <p:sp>
          <p:nvSpPr>
            <p:cNvPr name="TextBox 65" id="65"/>
            <p:cNvSpPr txBox="true"/>
            <p:nvPr/>
          </p:nvSpPr>
          <p:spPr>
            <a:xfrm>
              <a:off x="0" y="-47625"/>
              <a:ext cx="9509760" cy="604763"/>
            </a:xfrm>
            <a:prstGeom prst="rect">
              <a:avLst/>
            </a:prstGeom>
          </p:spPr>
          <p:txBody>
            <a:bodyPr anchor="ctr" rtlCol="false" tIns="0" lIns="0" bIns="0" rIns="0"/>
            <a:lstStyle/>
            <a:p>
              <a:pPr algn="l">
                <a:lnSpc>
                  <a:spcPts val="2519"/>
                </a:lnSpc>
              </a:pPr>
              <a:r>
                <a:rPr lang="en-US" sz="2099" b="true">
                  <a:solidFill>
                    <a:srgbClr val="8FB3D9"/>
                  </a:solidFill>
                  <a:latin typeface="Calibri (MS) Bold"/>
                  <a:ea typeface="Calibri (MS) Bold"/>
                  <a:cs typeface="Calibri (MS) Bold"/>
                  <a:sym typeface="Calibri (MS) Bold"/>
                </a:rPr>
                <a:t>Academic integrity note</a:t>
              </a:r>
            </a:p>
          </p:txBody>
        </p:sp>
      </p:grpSp>
      <p:grpSp>
        <p:nvGrpSpPr>
          <p:cNvPr name="Group 66" id="66"/>
          <p:cNvGrpSpPr/>
          <p:nvPr/>
        </p:nvGrpSpPr>
        <p:grpSpPr>
          <a:xfrm rot="0">
            <a:off x="1303020" y="7446216"/>
            <a:ext cx="7132320" cy="1303020"/>
            <a:chOff x="0" y="0"/>
            <a:chExt cx="9509760" cy="1737360"/>
          </a:xfrm>
        </p:grpSpPr>
        <p:sp>
          <p:nvSpPr>
            <p:cNvPr name="Freeform 67" id="67"/>
            <p:cNvSpPr/>
            <p:nvPr/>
          </p:nvSpPr>
          <p:spPr>
            <a:xfrm flipH="false" flipV="false" rot="0">
              <a:off x="0" y="0"/>
              <a:ext cx="9509760" cy="1737360"/>
            </a:xfrm>
            <a:custGeom>
              <a:avLst/>
              <a:gdLst/>
              <a:ahLst/>
              <a:cxnLst/>
              <a:rect r="r" b="b" t="t" l="l"/>
              <a:pathLst>
                <a:path h="1737360" w="9509760">
                  <a:moveTo>
                    <a:pt x="0" y="0"/>
                  </a:moveTo>
                  <a:lnTo>
                    <a:pt x="9509760" y="0"/>
                  </a:lnTo>
                  <a:lnTo>
                    <a:pt x="9509760" y="1737360"/>
                  </a:lnTo>
                  <a:lnTo>
                    <a:pt x="0" y="1737360"/>
                  </a:lnTo>
                  <a:close/>
                </a:path>
              </a:pathLst>
            </a:custGeom>
            <a:blipFill>
              <a:blip r:embed="rId2">
                <a:alphaModFix amt="0"/>
              </a:blip>
              <a:stretch>
                <a:fillRect l="0" t="-56654" r="0" b="-56654"/>
              </a:stretch>
            </a:blipFill>
          </p:spPr>
        </p:sp>
        <p:sp>
          <p:nvSpPr>
            <p:cNvPr name="TextBox 68" id="68"/>
            <p:cNvSpPr txBox="true"/>
            <p:nvPr/>
          </p:nvSpPr>
          <p:spPr>
            <a:xfrm>
              <a:off x="0" y="-57150"/>
              <a:ext cx="9509760" cy="1794510"/>
            </a:xfrm>
            <a:prstGeom prst="rect">
              <a:avLst/>
            </a:prstGeom>
          </p:spPr>
          <p:txBody>
            <a:bodyPr anchor="ctr" rtlCol="false" tIns="0" lIns="0" bIns="0" rIns="0"/>
            <a:lstStyle/>
            <a:p>
              <a:pPr algn="l">
                <a:lnSpc>
                  <a:spcPts val="2249"/>
                </a:lnSpc>
              </a:pPr>
              <a:r>
                <a:rPr lang="en-US" sz="1575">
                  <a:solidFill>
                    <a:srgbClr val="FFFFFF"/>
                  </a:solidFill>
                  <a:latin typeface="Calibri (MS)"/>
                  <a:ea typeface="Calibri (MS)"/>
                  <a:cs typeface="Calibri (MS)"/>
                  <a:sym typeface="Calibri (MS)"/>
                </a:rPr>
                <a:t>All figures verified against primary sources — HDFC's SEC filing and RBI annual reports — rather than secondary summaries. AI tools assisted research; analysis and conclusions reflect the student's own understanding.</a:t>
              </a:r>
            </a:p>
          </p:txBody>
        </p:sp>
      </p:gr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77538" y="1660811"/>
            <a:ext cx="17132924" cy="7597489"/>
            <a:chOff x="0" y="0"/>
            <a:chExt cx="4512375" cy="2000985"/>
          </a:xfrm>
        </p:grpSpPr>
        <p:sp>
          <p:nvSpPr>
            <p:cNvPr name="Freeform 3" id="3"/>
            <p:cNvSpPr/>
            <p:nvPr/>
          </p:nvSpPr>
          <p:spPr>
            <a:xfrm flipH="false" flipV="false" rot="0">
              <a:off x="0" y="0"/>
              <a:ext cx="4512375" cy="2000985"/>
            </a:xfrm>
            <a:custGeom>
              <a:avLst/>
              <a:gdLst/>
              <a:ahLst/>
              <a:cxnLst/>
              <a:rect r="r" b="b" t="t" l="l"/>
              <a:pathLst>
                <a:path h="2000985" w="4512375">
                  <a:moveTo>
                    <a:pt x="23046" y="0"/>
                  </a:moveTo>
                  <a:lnTo>
                    <a:pt x="4489329" y="0"/>
                  </a:lnTo>
                  <a:cubicBezTo>
                    <a:pt x="4495441" y="0"/>
                    <a:pt x="4501303" y="2428"/>
                    <a:pt x="4505625" y="6750"/>
                  </a:cubicBezTo>
                  <a:cubicBezTo>
                    <a:pt x="4509947" y="11072"/>
                    <a:pt x="4512375" y="16934"/>
                    <a:pt x="4512375" y="23046"/>
                  </a:cubicBezTo>
                  <a:lnTo>
                    <a:pt x="4512375" y="1977939"/>
                  </a:lnTo>
                  <a:cubicBezTo>
                    <a:pt x="4512375" y="1990667"/>
                    <a:pt x="4502057" y="2000985"/>
                    <a:pt x="4489329" y="2000985"/>
                  </a:cubicBezTo>
                  <a:lnTo>
                    <a:pt x="23046" y="2000985"/>
                  </a:lnTo>
                  <a:cubicBezTo>
                    <a:pt x="10318" y="2000985"/>
                    <a:pt x="0" y="1990667"/>
                    <a:pt x="0" y="1977939"/>
                  </a:cubicBezTo>
                  <a:lnTo>
                    <a:pt x="0" y="23046"/>
                  </a:lnTo>
                  <a:cubicBezTo>
                    <a:pt x="0" y="10318"/>
                    <a:pt x="10318" y="0"/>
                    <a:pt x="23046" y="0"/>
                  </a:cubicBezTo>
                  <a:close/>
                </a:path>
              </a:pathLst>
            </a:custGeom>
            <a:solidFill>
              <a:srgbClr val="C8D1D9"/>
            </a:solidFill>
          </p:spPr>
        </p:sp>
        <p:sp>
          <p:nvSpPr>
            <p:cNvPr name="TextBox 4" id="4"/>
            <p:cNvSpPr txBox="true"/>
            <p:nvPr/>
          </p:nvSpPr>
          <p:spPr>
            <a:xfrm>
              <a:off x="0" y="-47625"/>
              <a:ext cx="4512375" cy="2048610"/>
            </a:xfrm>
            <a:prstGeom prst="rect">
              <a:avLst/>
            </a:prstGeom>
          </p:spPr>
          <p:txBody>
            <a:bodyPr anchor="ctr" rtlCol="false" tIns="50800" lIns="50800" bIns="50800" rIns="50800"/>
            <a:lstStyle/>
            <a:p>
              <a:pPr algn="ctr">
                <a:lnSpc>
                  <a:spcPts val="2340"/>
                </a:lnSpc>
              </a:pPr>
            </a:p>
          </p:txBody>
        </p:sp>
      </p:grpSp>
      <p:sp>
        <p:nvSpPr>
          <p:cNvPr name="TextBox 5" id="5"/>
          <p:cNvSpPr txBox="true"/>
          <p:nvPr/>
        </p:nvSpPr>
        <p:spPr>
          <a:xfrm rot="0">
            <a:off x="853281" y="490133"/>
            <a:ext cx="5904409" cy="762000"/>
          </a:xfrm>
          <a:prstGeom prst="rect">
            <a:avLst/>
          </a:prstGeom>
        </p:spPr>
        <p:txBody>
          <a:bodyPr anchor="t" rtlCol="false" tIns="0" lIns="0" bIns="0" rIns="0">
            <a:spAutoFit/>
          </a:bodyPr>
          <a:lstStyle/>
          <a:p>
            <a:pPr algn="ctr">
              <a:lnSpc>
                <a:spcPts val="6059"/>
              </a:lnSpc>
              <a:spcBef>
                <a:spcPct val="0"/>
              </a:spcBef>
            </a:pPr>
            <a:r>
              <a:rPr lang="en-US" b="true" sz="5049">
                <a:solidFill>
                  <a:srgbClr val="0A2540"/>
                </a:solidFill>
                <a:latin typeface="Fira Sans Bold"/>
                <a:ea typeface="Fira Sans Bold"/>
                <a:cs typeface="Fira Sans Bold"/>
                <a:sym typeface="Fira Sans Bold"/>
              </a:rPr>
              <a:t>GITHUB REPOSITARY</a:t>
            </a:r>
          </a:p>
        </p:txBody>
      </p:sp>
      <p:sp>
        <p:nvSpPr>
          <p:cNvPr name="TextBox 6" id="6"/>
          <p:cNvSpPr txBox="true"/>
          <p:nvPr/>
        </p:nvSpPr>
        <p:spPr>
          <a:xfrm rot="0">
            <a:off x="1415034" y="3219450"/>
            <a:ext cx="14609334" cy="2790825"/>
          </a:xfrm>
          <a:prstGeom prst="rect">
            <a:avLst/>
          </a:prstGeom>
        </p:spPr>
        <p:txBody>
          <a:bodyPr anchor="t" rtlCol="false" tIns="0" lIns="0" bIns="0" rIns="0">
            <a:spAutoFit/>
          </a:bodyPr>
          <a:lstStyle/>
          <a:p>
            <a:pPr algn="l" marL="558492" indent="-279246" lvl="1">
              <a:lnSpc>
                <a:spcPts val="3104"/>
              </a:lnSpc>
              <a:buFont typeface="Arial"/>
              <a:buChar char="•"/>
            </a:pPr>
            <a:r>
              <a:rPr lang="en-US" b="true" sz="2586">
                <a:solidFill>
                  <a:srgbClr val="0A2540"/>
                </a:solidFill>
                <a:latin typeface="Calibri (MS) Bold"/>
                <a:ea typeface="Calibri (MS) Bold"/>
                <a:cs typeface="Calibri (MS) Bold"/>
                <a:sym typeface="Calibri (MS) Bold"/>
              </a:rPr>
              <a:t>Kakul-</a:t>
            </a:r>
          </a:p>
          <a:p>
            <a:pPr algn="l" marL="558492" indent="-279246" lvl="1">
              <a:lnSpc>
                <a:spcPts val="3104"/>
              </a:lnSpc>
              <a:buFont typeface="Arial"/>
              <a:buChar char="•"/>
            </a:pPr>
            <a:r>
              <a:rPr lang="en-US" b="true" sz="2586">
                <a:solidFill>
                  <a:srgbClr val="0A2540"/>
                </a:solidFill>
                <a:latin typeface="Calibri (MS) Bold"/>
                <a:ea typeface="Calibri (MS) Bold"/>
                <a:cs typeface="Calibri (MS) Bold"/>
                <a:sym typeface="Calibri (MS) Bold"/>
              </a:rPr>
              <a:t>Dikshan-</a:t>
            </a:r>
          </a:p>
          <a:p>
            <a:pPr algn="l" marL="558492" indent="-279246" lvl="1">
              <a:lnSpc>
                <a:spcPts val="3104"/>
              </a:lnSpc>
              <a:buFont typeface="Arial"/>
              <a:buChar char="•"/>
            </a:pPr>
            <a:r>
              <a:rPr lang="en-US" b="true" sz="2586">
                <a:solidFill>
                  <a:srgbClr val="0A2540"/>
                </a:solidFill>
                <a:latin typeface="Calibri (MS) Bold"/>
                <a:ea typeface="Calibri (MS) Bold"/>
                <a:cs typeface="Calibri (MS) Bold"/>
                <a:sym typeface="Calibri (MS) Bold"/>
              </a:rPr>
              <a:t>Akhilesh-</a:t>
            </a:r>
          </a:p>
          <a:p>
            <a:pPr algn="l" marL="558492" indent="-279246" lvl="1">
              <a:lnSpc>
                <a:spcPts val="3104"/>
              </a:lnSpc>
              <a:buFont typeface="Arial"/>
              <a:buChar char="•"/>
            </a:pPr>
            <a:r>
              <a:rPr lang="en-US" b="true" sz="2586">
                <a:solidFill>
                  <a:srgbClr val="0A2540"/>
                </a:solidFill>
                <a:latin typeface="Calibri (MS) Bold"/>
                <a:ea typeface="Calibri (MS) Bold"/>
                <a:cs typeface="Calibri (MS) Bold"/>
                <a:sym typeface="Calibri (MS) Bold"/>
              </a:rPr>
              <a:t>Kartik-</a:t>
            </a:r>
          </a:p>
          <a:p>
            <a:pPr algn="l" marL="558492" indent="-279246" lvl="1">
              <a:lnSpc>
                <a:spcPts val="3104"/>
              </a:lnSpc>
              <a:buFont typeface="Arial"/>
              <a:buChar char="•"/>
            </a:pPr>
            <a:r>
              <a:rPr lang="en-US" b="true" sz="2586">
                <a:solidFill>
                  <a:srgbClr val="0A2540"/>
                </a:solidFill>
                <a:latin typeface="Calibri (MS) Bold"/>
                <a:ea typeface="Calibri (MS) Bold"/>
                <a:cs typeface="Calibri (MS) Bold"/>
                <a:sym typeface="Calibri (MS) Bold"/>
              </a:rPr>
              <a:t>Chesta-</a:t>
            </a:r>
          </a:p>
          <a:p>
            <a:pPr algn="l" marL="558492" indent="-279246" lvl="1">
              <a:lnSpc>
                <a:spcPts val="3104"/>
              </a:lnSpc>
              <a:buFont typeface="Arial"/>
              <a:buChar char="•"/>
            </a:pPr>
            <a:r>
              <a:rPr lang="en-US" b="true" sz="2586">
                <a:solidFill>
                  <a:srgbClr val="0A2540"/>
                </a:solidFill>
                <a:latin typeface="Calibri (MS) Bold"/>
                <a:ea typeface="Calibri (MS) Bold"/>
                <a:cs typeface="Calibri (MS) Bold"/>
                <a:sym typeface="Calibri (MS) Bold"/>
              </a:rPr>
              <a:t>Dev-</a:t>
            </a:r>
          </a:p>
          <a:p>
            <a:pPr algn="l" marL="558492" indent="-279246" lvl="1">
              <a:lnSpc>
                <a:spcPts val="3104"/>
              </a:lnSpc>
              <a:buFont typeface="Arial"/>
              <a:buChar char="•"/>
            </a:pPr>
            <a:r>
              <a:rPr lang="en-US" b="true" sz="2586">
                <a:solidFill>
                  <a:srgbClr val="0A2540"/>
                </a:solidFill>
                <a:latin typeface="Calibri (MS) Bold"/>
                <a:ea typeface="Calibri (MS) Bold"/>
                <a:cs typeface="Calibri (MS) Bold"/>
                <a:sym typeface="Calibri (MS) Bold"/>
              </a:rPr>
              <a:t>Divyansh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DAHVdUxUn3Y</dc:identifier>
  <dcterms:modified xsi:type="dcterms:W3CDTF">2011-08-01T06:04:30Z</dcterms:modified>
  <cp:revision>1</cp:revision>
  <dc:title>GITHUB REPOSITARY</dc:title>
</cp:coreProperties>
</file>